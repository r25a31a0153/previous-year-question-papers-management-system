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4" Type="http://schemas.openxmlformats.org/officeDocument/2006/relationships/slide" Target="slides/slide100.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slide" Target="slides/slide95.xml"/><Relationship Id="rId10" Type="http://schemas.openxmlformats.org/officeDocument/2006/relationships/slide" Target="slides/slide6.xml"/><Relationship Id="rId98" Type="http://schemas.openxmlformats.org/officeDocument/2006/relationships/slide" Target="slides/slide94.xml"/><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1E46E3-08D2-455B-ACC3-71C56A63534B}" type="datetimeFigureOut">
              <a:rPr lang="en-IN" smtClean="0"/>
              <a:t>13-12-2025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47DD6A-907E-4A2F-950E-2A418BFE9311}" type="slidenum">
              <a:rPr lang="en-IN" smtClean="0"/>
              <a:t>‹#›</a:t>
            </a:fld>
            <a:endParaRPr lang="en-IN"/>
          </a:p>
        </p:txBody>
      </p:sp>
    </p:spTree>
    <p:extLst>
      <p:ext uri="{BB962C8B-B14F-4D97-AF65-F5344CB8AC3E}">
        <p14:creationId xmlns:p14="http://schemas.microsoft.com/office/powerpoint/2010/main" val="1389211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47DD6A-907E-4A2F-950E-2A418BFE9311}" type="slidenum">
              <a:rPr lang="en-IN" smtClean="0"/>
              <a:t>33</a:t>
            </a:fld>
            <a:endParaRPr lang="en-IN"/>
          </a:p>
        </p:txBody>
      </p:sp>
    </p:spTree>
    <p:extLst>
      <p:ext uri="{BB962C8B-B14F-4D97-AF65-F5344CB8AC3E}">
        <p14:creationId xmlns:p14="http://schemas.microsoft.com/office/powerpoint/2010/main" val="2100487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5586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a:p>
        </p:txBody>
      </p:sp>
    </p:spTree>
    <p:extLst>
      <p:ext uri="{BB962C8B-B14F-4D97-AF65-F5344CB8AC3E}">
        <p14:creationId xmlns:p14="http://schemas.microsoft.com/office/powerpoint/2010/main" val="214763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64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982235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251527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582568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12/13/2025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970217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smtClean="0"/>
              <a:t>12/13/2025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3254616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1808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79852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44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smtClean="0"/>
              <a:t>12/13/2025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2742887"/>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ctrTitle"/>
          </p:nvPr>
        </p:nvSpPr>
        <p:spPr>
          <a:xfrm>
            <a:off x="1318041" y="843679"/>
            <a:ext cx="4670661" cy="3222571"/>
          </a:xfrm>
        </p:spPr>
        <p:txBody>
          <a:bodyPr>
            <a:normAutofit/>
          </a:bodyPr>
          <a:lstStyle/>
          <a:p>
            <a:pPr>
              <a:lnSpc>
                <a:spcPct val="90000"/>
              </a:lnSpc>
            </a:pPr>
            <a:r>
              <a:rPr lang="en-US" sz="5000" dirty="0"/>
              <a:t>Previous year question papers management system</a:t>
            </a:r>
          </a:p>
        </p:txBody>
      </p:sp>
      <p:sp>
        <p:nvSpPr>
          <p:cNvPr id="5" name="TextBox 4">
            <a:extLst>
              <a:ext uri="{FF2B5EF4-FFF2-40B4-BE49-F238E27FC236}">
                <a16:creationId xmlns:a16="http://schemas.microsoft.com/office/drawing/2014/main" id="{0854B649-5719-F1EC-9C4C-B1CF00CAE83D}"/>
              </a:ext>
            </a:extLst>
          </p:cNvPr>
          <p:cNvSpPr txBox="1"/>
          <p:nvPr/>
        </p:nvSpPr>
        <p:spPr>
          <a:xfrm>
            <a:off x="6386128" y="2505134"/>
            <a:ext cx="1828800" cy="1828800"/>
          </a:xfrm>
          <a:prstGeom prst="rect">
            <a:avLst/>
          </a:prstGeom>
          <a:noFill/>
        </p:spPr>
        <p:txBody>
          <a:bodyPr wrap="square" rtlCol="0">
            <a:spAutoFit/>
          </a:bodyPr>
          <a:lstStyle/>
          <a:p>
            <a:pPr algn="l"/>
            <a:endParaRPr lang="en-US" dirty="0"/>
          </a:p>
        </p:txBody>
      </p:sp>
    </p:spTree>
    <p:extLst>
      <p:ext uri="{BB962C8B-B14F-4D97-AF65-F5344CB8AC3E}">
        <p14:creationId xmlns:p14="http://schemas.microsoft.com/office/powerpoint/2010/main" val="3342102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031F6-E007-71B4-7783-C171FB464A8D}"/>
              </a:ext>
            </a:extLst>
          </p:cNvPr>
          <p:cNvSpPr>
            <a:spLocks noGrp="1"/>
          </p:cNvSpPr>
          <p:nvPr>
            <p:ph type="title"/>
          </p:nvPr>
        </p:nvSpPr>
        <p:spPr>
          <a:xfrm>
            <a:off x="1523996" y="344129"/>
            <a:ext cx="9724978" cy="1288026"/>
          </a:xfrm>
        </p:spPr>
        <p:txBody>
          <a:bodyPr/>
          <a:lstStyle/>
          <a:p>
            <a:r>
              <a:rPr lang="en-IN">
                <a:latin typeface="Algerian" panose="04020705040A02060702" pitchFamily="82" charset="0"/>
              </a:rPr>
              <a:t>REQUIRMENTS:</a:t>
            </a:r>
          </a:p>
        </p:txBody>
      </p:sp>
      <p:sp>
        <p:nvSpPr>
          <p:cNvPr id="3" name="Content Placeholder 2">
            <a:extLst>
              <a:ext uri="{FF2B5EF4-FFF2-40B4-BE49-F238E27FC236}">
                <a16:creationId xmlns:a16="http://schemas.microsoft.com/office/drawing/2014/main" id="{366A722C-190A-BF5E-59FD-CA57A2BB835B}"/>
              </a:ext>
            </a:extLst>
          </p:cNvPr>
          <p:cNvSpPr>
            <a:spLocks noGrp="1"/>
          </p:cNvSpPr>
          <p:nvPr>
            <p:ph idx="1"/>
          </p:nvPr>
        </p:nvSpPr>
        <p:spPr>
          <a:xfrm>
            <a:off x="1449823" y="2042651"/>
            <a:ext cx="9292354" cy="3777622"/>
          </a:xfrm>
        </p:spPr>
        <p:txBody>
          <a:bodyPr/>
          <a:lstStyle/>
          <a:p>
            <a:pPr marL="0" indent="0">
              <a:buNone/>
            </a:pPr>
            <a:r>
              <a:rPr lang="en-IN">
                <a:latin typeface="Arial Black" panose="020B0A04020102020204" pitchFamily="34" charset="0"/>
              </a:rPr>
              <a:t>SOFTWARE REQUIREMENTS</a:t>
            </a:r>
            <a:r>
              <a:rPr lang="en-IN"/>
              <a:t>:</a:t>
            </a:r>
          </a:p>
          <a:p>
            <a:pPr marL="0" indent="0">
              <a:buNone/>
            </a:pPr>
            <a:r>
              <a:rPr lang="en-IN"/>
              <a:t>     operating system : power point</a:t>
            </a:r>
          </a:p>
          <a:p>
            <a:pPr marL="0" indent="0">
              <a:buNone/>
            </a:pPr>
            <a:r>
              <a:rPr lang="en-IN"/>
              <a:t>     programming language : c programming </a:t>
            </a:r>
          </a:p>
          <a:p>
            <a:pPr marL="0" indent="0">
              <a:buNone/>
            </a:pPr>
            <a:r>
              <a:rPr lang="en-IN"/>
              <a:t>     compiler : c                                                                                                                                           </a:t>
            </a:r>
          </a:p>
        </p:txBody>
      </p:sp>
      <p:sp>
        <p:nvSpPr>
          <p:cNvPr id="4" name="Flowchart: Connector 3">
            <a:extLst>
              <a:ext uri="{FF2B5EF4-FFF2-40B4-BE49-F238E27FC236}">
                <a16:creationId xmlns:a16="http://schemas.microsoft.com/office/drawing/2014/main" id="{E0B6D333-4AB8-5C6A-F94D-5D2718C333F0}"/>
              </a:ext>
            </a:extLst>
          </p:cNvPr>
          <p:cNvSpPr/>
          <p:nvPr/>
        </p:nvSpPr>
        <p:spPr>
          <a:xfrm>
            <a:off x="1523996" y="2620747"/>
            <a:ext cx="98323" cy="1081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lowchart: Connector 4">
            <a:extLst>
              <a:ext uri="{FF2B5EF4-FFF2-40B4-BE49-F238E27FC236}">
                <a16:creationId xmlns:a16="http://schemas.microsoft.com/office/drawing/2014/main" id="{0C906F11-86D9-9548-B67D-C2ED768FFBC0}"/>
              </a:ext>
            </a:extLst>
          </p:cNvPr>
          <p:cNvSpPr/>
          <p:nvPr/>
        </p:nvSpPr>
        <p:spPr>
          <a:xfrm>
            <a:off x="1514218" y="3085321"/>
            <a:ext cx="98322" cy="1081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lowchart: Connector 5">
            <a:extLst>
              <a:ext uri="{FF2B5EF4-FFF2-40B4-BE49-F238E27FC236}">
                <a16:creationId xmlns:a16="http://schemas.microsoft.com/office/drawing/2014/main" id="{8C49D9DC-FF2E-FB04-F260-F63C2A2FD238}"/>
              </a:ext>
            </a:extLst>
          </p:cNvPr>
          <p:cNvSpPr/>
          <p:nvPr/>
        </p:nvSpPr>
        <p:spPr>
          <a:xfrm>
            <a:off x="1523997" y="3523053"/>
            <a:ext cx="98322" cy="10815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D44D0C6-5DC9-7F95-40D1-836E894A46B3}"/>
              </a:ext>
            </a:extLst>
          </p:cNvPr>
          <p:cNvSpPr txBox="1"/>
          <p:nvPr/>
        </p:nvSpPr>
        <p:spPr>
          <a:xfrm>
            <a:off x="1377599" y="3869906"/>
            <a:ext cx="8849360" cy="1200329"/>
          </a:xfrm>
          <a:prstGeom prst="rect">
            <a:avLst/>
          </a:prstGeom>
          <a:noFill/>
        </p:spPr>
        <p:txBody>
          <a:bodyPr wrap="square" rtlCol="0">
            <a:spAutoFit/>
          </a:bodyPr>
          <a:lstStyle/>
          <a:p>
            <a:r>
              <a:rPr lang="en-US" dirty="0">
                <a:latin typeface="Arial Black" panose="020B0A04020102020204" pitchFamily="34" charset="0"/>
              </a:rPr>
              <a:t>HARDWARE REQUIREMENTS </a:t>
            </a:r>
            <a:r>
              <a:rPr lang="en-US" dirty="0"/>
              <a:t>:</a:t>
            </a:r>
          </a:p>
          <a:p>
            <a:r>
              <a:rPr lang="en-US" dirty="0"/>
              <a:t>      2GB RAM</a:t>
            </a:r>
          </a:p>
          <a:p>
            <a:r>
              <a:rPr lang="en-US" dirty="0"/>
              <a:t>      512 MB Storage</a:t>
            </a:r>
          </a:p>
          <a:p>
            <a:r>
              <a:rPr lang="en-US" dirty="0"/>
              <a:t>      dual-core processor</a:t>
            </a:r>
            <a:endParaRPr lang="en-IN" dirty="0"/>
          </a:p>
        </p:txBody>
      </p:sp>
      <p:sp>
        <p:nvSpPr>
          <p:cNvPr id="8" name="Flowchart: Connector 7">
            <a:extLst>
              <a:ext uri="{FF2B5EF4-FFF2-40B4-BE49-F238E27FC236}">
                <a16:creationId xmlns:a16="http://schemas.microsoft.com/office/drawing/2014/main" id="{D6C03959-58A9-DC6D-AB5D-A0681C255E01}"/>
              </a:ext>
            </a:extLst>
          </p:cNvPr>
          <p:cNvSpPr/>
          <p:nvPr/>
        </p:nvSpPr>
        <p:spPr>
          <a:xfrm>
            <a:off x="1527439" y="4237767"/>
            <a:ext cx="91436" cy="11176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Connector 8">
            <a:extLst>
              <a:ext uri="{FF2B5EF4-FFF2-40B4-BE49-F238E27FC236}">
                <a16:creationId xmlns:a16="http://schemas.microsoft.com/office/drawing/2014/main" id="{8E14F55A-8052-D375-7CED-2D66336312AE}"/>
              </a:ext>
            </a:extLst>
          </p:cNvPr>
          <p:cNvSpPr/>
          <p:nvPr/>
        </p:nvSpPr>
        <p:spPr>
          <a:xfrm>
            <a:off x="1526770" y="4844874"/>
            <a:ext cx="101600" cy="11176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Connector 9">
            <a:extLst>
              <a:ext uri="{FF2B5EF4-FFF2-40B4-BE49-F238E27FC236}">
                <a16:creationId xmlns:a16="http://schemas.microsoft.com/office/drawing/2014/main" id="{A3A7FC81-CB2F-2059-1DB8-471163E5A569}"/>
              </a:ext>
            </a:extLst>
          </p:cNvPr>
          <p:cNvSpPr/>
          <p:nvPr/>
        </p:nvSpPr>
        <p:spPr>
          <a:xfrm>
            <a:off x="1526932" y="4524756"/>
            <a:ext cx="101600" cy="11176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11762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0BD7-AF16-3797-A011-58E1F482F6DC}"/>
              </a:ext>
            </a:extLst>
          </p:cNvPr>
          <p:cNvSpPr>
            <a:spLocks noGrp="1"/>
          </p:cNvSpPr>
          <p:nvPr>
            <p:ph type="title"/>
          </p:nvPr>
        </p:nvSpPr>
        <p:spPr>
          <a:xfrm>
            <a:off x="1066800" y="257106"/>
            <a:ext cx="10058400" cy="1450757"/>
          </a:xfrm>
        </p:spPr>
        <p:txBody>
          <a:bodyPr/>
          <a:lstStyle/>
          <a:p>
            <a:r>
              <a:rPr lang="en-IN">
                <a:latin typeface="Algerian" panose="04020705040A02060702" pitchFamily="82" charset="0"/>
              </a:rPr>
              <a:t>INTRODUCTION</a:t>
            </a:r>
            <a:r>
              <a:rPr lang="en-IN"/>
              <a:t>:</a:t>
            </a:r>
          </a:p>
        </p:txBody>
      </p:sp>
      <p:sp>
        <p:nvSpPr>
          <p:cNvPr id="3" name="Content Placeholder 2">
            <a:extLst>
              <a:ext uri="{FF2B5EF4-FFF2-40B4-BE49-F238E27FC236}">
                <a16:creationId xmlns:a16="http://schemas.microsoft.com/office/drawing/2014/main" id="{518F2607-03A0-F6FA-1569-8EB9113B0DE2}"/>
              </a:ext>
            </a:extLst>
          </p:cNvPr>
          <p:cNvSpPr>
            <a:spLocks noGrp="1"/>
          </p:cNvSpPr>
          <p:nvPr>
            <p:ph idx="1"/>
          </p:nvPr>
        </p:nvSpPr>
        <p:spPr>
          <a:xfrm>
            <a:off x="1231900" y="1879191"/>
            <a:ext cx="10058400" cy="3777622"/>
          </a:xfrm>
        </p:spPr>
        <p:txBody>
          <a:bodyPr vert="horz" lIns="0" tIns="45720" rIns="0" bIns="45720" rtlCol="0" anchor="t">
            <a:normAutofit/>
          </a:bodyPr>
          <a:lstStyle/>
          <a:p>
            <a:pPr algn="just"/>
            <a:r>
              <a:rPr lang="en-US"/>
              <a:t>The </a:t>
            </a:r>
            <a:r>
              <a:rPr lang="en-US" b="1"/>
              <a:t>Previous Year Question Paper Management System</a:t>
            </a:r>
            <a:r>
              <a:rPr lang="en-US"/>
              <a:t> is a smart digital platform designed to organize, store, and access question papers from past examinations in a fast and efficient way. In many educational institutions, students often struggle to find previous year papers due to improper storage, missing files, or unorganized records. This system solves that problem by providing a </a:t>
            </a:r>
            <a:r>
              <a:rPr lang="en-US" b="1"/>
              <a:t>centralized digital repository</a:t>
            </a:r>
            <a:r>
              <a:rPr lang="en-US"/>
              <a:t> where all question papers can be uploaded, categorized, and retrieved instantly.</a:t>
            </a:r>
          </a:p>
          <a:p>
            <a:pPr algn="just"/>
            <a:r>
              <a:rPr lang="en-US"/>
              <a:t>Our system allows users to easily search for question papers based on </a:t>
            </a:r>
            <a:r>
              <a:rPr lang="en-US" b="1"/>
              <a:t>date, subject, and semester</a:t>
            </a:r>
            <a:r>
              <a:rPr lang="en-US"/>
              <a:t>, making the entire process smooth and user-friendly. Instead of wasting time searching manually through physical files or folders, students and faculty can access the needed papers with just a few clicks.</a:t>
            </a:r>
            <a:endParaRPr lang="en-IN">
              <a:ea typeface="Calibri" panose="020F0502020204030204"/>
              <a:cs typeface="Calibri" panose="020F0502020204030204"/>
            </a:endParaRPr>
          </a:p>
        </p:txBody>
      </p:sp>
    </p:spTree>
    <p:extLst>
      <p:ext uri="{BB962C8B-B14F-4D97-AF65-F5344CB8AC3E}">
        <p14:creationId xmlns:p14="http://schemas.microsoft.com/office/powerpoint/2010/main" val="4266667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650535" y="349047"/>
            <a:ext cx="10890929" cy="1258529"/>
          </a:xfrm>
        </p:spPr>
        <p:txBody>
          <a:bodyPr anchor="b">
            <a:normAutofit/>
          </a:bodyPr>
          <a:lstStyle/>
          <a:p>
            <a:r>
              <a:rPr lang="en-IN">
                <a:latin typeface="Algerian" panose="04020705040A02060702" pitchFamily="82" charset="0"/>
              </a:rPr>
              <a:t>ALGORITHM</a:t>
            </a:r>
            <a:r>
              <a:rPr lang="en-IN"/>
              <a:t>:</a:t>
            </a:r>
            <a:endParaRPr/>
          </a:p>
        </p:txBody>
      </p:sp>
      <p:sp>
        <p:nvSpPr>
          <p:cNvPr id="3" name="Content Placeholder"/>
          <p:cNvSpPr>
            <a:spLocks noGrp="1"/>
          </p:cNvSpPr>
          <p:nvPr>
            <p:ph idx="1"/>
          </p:nvPr>
        </p:nvSpPr>
        <p:spPr>
          <a:xfrm>
            <a:off x="848787" y="1851489"/>
            <a:ext cx="10890929" cy="4399546"/>
          </a:xfrm>
        </p:spPr>
        <p:txBody>
          <a:bodyPr vert="horz" lIns="0" tIns="45720" rIns="0" bIns="45720" rtlCol="0" anchor="t">
            <a:normAutofit fontScale="85000" lnSpcReduction="20000"/>
          </a:bodyPr>
          <a:lstStyle/>
          <a:p>
            <a:r>
              <a:rPr lang="en-US" dirty="0">
                <a:latin typeface="Arial Black" panose="020B0A04020102020204" pitchFamily="34" charset="0"/>
              </a:rPr>
              <a:t>STEP 1</a:t>
            </a:r>
            <a:r>
              <a:rPr lang="en-US" dirty="0"/>
              <a:t>: start</a:t>
            </a:r>
          </a:p>
          <a:p>
            <a:r>
              <a:rPr lang="en-US" sz="2100" dirty="0">
                <a:latin typeface="Arial Black" panose="020B0A04020102020204" pitchFamily="34" charset="0"/>
                <a:ea typeface="Calibri" panose="020F0502020204030204"/>
                <a:cs typeface="Calibri" panose="020F0502020204030204"/>
              </a:rPr>
              <a:t>STEP 2 </a:t>
            </a:r>
            <a:r>
              <a:rPr lang="en-US" sz="2100" dirty="0">
                <a:ea typeface="Calibri" panose="020F0502020204030204"/>
                <a:cs typeface="Calibri" panose="020F0502020204030204"/>
              </a:rPr>
              <a:t>: Display main menu</a:t>
            </a:r>
          </a:p>
          <a:p>
            <a:r>
              <a:rPr lang="en-US" dirty="0">
                <a:ea typeface="Calibri" panose="020F0502020204030204"/>
                <a:cs typeface="Calibri" panose="020F0502020204030204"/>
              </a:rPr>
              <a:t>       Admin login</a:t>
            </a:r>
          </a:p>
          <a:p>
            <a:r>
              <a:rPr lang="en-US" dirty="0">
                <a:ea typeface="Calibri" panose="020F0502020204030204"/>
                <a:cs typeface="Calibri" panose="020F0502020204030204"/>
              </a:rPr>
              <a:t>       Student login</a:t>
            </a:r>
          </a:p>
          <a:p>
            <a:r>
              <a:rPr lang="en-US" dirty="0">
                <a:ea typeface="Calibri" panose="020F0502020204030204"/>
                <a:cs typeface="Calibri" panose="020F0502020204030204"/>
              </a:rPr>
              <a:t>       Register new student</a:t>
            </a:r>
          </a:p>
          <a:p>
            <a:r>
              <a:rPr lang="en-US" dirty="0">
                <a:ea typeface="Calibri" panose="020F0502020204030204"/>
                <a:cs typeface="Calibri" panose="020F0502020204030204"/>
              </a:rPr>
              <a:t>       Exit</a:t>
            </a:r>
          </a:p>
          <a:p>
            <a:r>
              <a:rPr lang="en-US" dirty="0">
                <a:latin typeface="Arial Black" panose="020B0A04020102020204" pitchFamily="34" charset="0"/>
                <a:ea typeface="Calibri" panose="020F0502020204030204"/>
                <a:cs typeface="Calibri" panose="020F0502020204030204"/>
              </a:rPr>
              <a:t>STEP 3</a:t>
            </a:r>
            <a:r>
              <a:rPr lang="en-US" dirty="0">
                <a:ea typeface="Calibri" panose="020F0502020204030204"/>
                <a:cs typeface="Calibri" panose="020F0502020204030204"/>
              </a:rPr>
              <a:t> : INPUT user choice</a:t>
            </a:r>
          </a:p>
          <a:p>
            <a:r>
              <a:rPr lang="en-US" dirty="0">
                <a:latin typeface="Arial Black" panose="020B0A04020102020204" pitchFamily="34" charset="0"/>
                <a:ea typeface="Calibri" panose="020F0502020204030204"/>
                <a:cs typeface="Calibri" panose="020F0502020204030204"/>
              </a:rPr>
              <a:t>STEP 4</a:t>
            </a:r>
            <a:r>
              <a:rPr lang="en-US" dirty="0">
                <a:ea typeface="Calibri" panose="020F0502020204030204"/>
                <a:cs typeface="Calibri" panose="020F0502020204030204"/>
              </a:rPr>
              <a:t> : IF CHOICE = 1(Admin login)</a:t>
            </a:r>
          </a:p>
          <a:p>
            <a:r>
              <a:rPr lang="en-US" dirty="0">
                <a:ea typeface="Calibri" panose="020F0502020204030204"/>
                <a:cs typeface="Calibri" panose="020F0502020204030204"/>
              </a:rPr>
              <a:t>     Input admin username and password</a:t>
            </a:r>
          </a:p>
          <a:p>
            <a:r>
              <a:rPr lang="en-US" dirty="0">
                <a:ea typeface="Calibri" panose="020F0502020204030204"/>
                <a:cs typeface="Calibri" panose="020F0502020204030204"/>
              </a:rPr>
              <a:t>     VALIDATE credentials</a:t>
            </a:r>
            <a:endParaRPr lang="en-US" dirty="0"/>
          </a:p>
          <a:p>
            <a:r>
              <a:rPr lang="en-US" dirty="0">
                <a:ea typeface="Calibri" panose="020F0502020204030204"/>
                <a:cs typeface="Calibri" panose="020F0502020204030204"/>
              </a:rPr>
              <a:t>     IF valid THEN</a:t>
            </a:r>
          </a:p>
          <a:p>
            <a:r>
              <a:rPr lang="en-US" dirty="0">
                <a:ea typeface="Calibri" panose="020F0502020204030204"/>
                <a:cs typeface="Calibri" panose="020F0502020204030204"/>
              </a:rPr>
              <a:t>    </a:t>
            </a:r>
          </a:p>
          <a:p>
            <a:pPr marL="0" indent="0">
              <a:buNone/>
            </a:pPr>
            <a:endParaRPr lang="en-US" dirty="0">
              <a:ea typeface="Calibri" panose="020F0502020204030204"/>
              <a:cs typeface="Calibri" panose="020F0502020204030204"/>
            </a:endParaRPr>
          </a:p>
        </p:txBody>
      </p:sp>
      <p:sp>
        <p:nvSpPr>
          <p:cNvPr id="5" name="Flowchart: Connector 4">
            <a:extLst>
              <a:ext uri="{FF2B5EF4-FFF2-40B4-BE49-F238E27FC236}">
                <a16:creationId xmlns:a16="http://schemas.microsoft.com/office/drawing/2014/main" id="{6AF3020D-3686-C018-C7D9-E51C82F70CEC}"/>
              </a:ext>
            </a:extLst>
          </p:cNvPr>
          <p:cNvSpPr/>
          <p:nvPr/>
        </p:nvSpPr>
        <p:spPr>
          <a:xfrm>
            <a:off x="1036228" y="2617778"/>
            <a:ext cx="138602" cy="15989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lowchart: Connector 6">
            <a:extLst>
              <a:ext uri="{FF2B5EF4-FFF2-40B4-BE49-F238E27FC236}">
                <a16:creationId xmlns:a16="http://schemas.microsoft.com/office/drawing/2014/main" id="{AC0B0453-350C-A977-6516-1B361D94D936}"/>
              </a:ext>
            </a:extLst>
          </p:cNvPr>
          <p:cNvSpPr/>
          <p:nvPr/>
        </p:nvSpPr>
        <p:spPr>
          <a:xfrm>
            <a:off x="1036228" y="2944517"/>
            <a:ext cx="138602" cy="16565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Connector 3">
            <a:extLst>
              <a:ext uri="{FF2B5EF4-FFF2-40B4-BE49-F238E27FC236}">
                <a16:creationId xmlns:a16="http://schemas.microsoft.com/office/drawing/2014/main" id="{C1AA5008-03F7-3198-9A40-684381339D85}"/>
              </a:ext>
            </a:extLst>
          </p:cNvPr>
          <p:cNvSpPr/>
          <p:nvPr/>
        </p:nvSpPr>
        <p:spPr>
          <a:xfrm>
            <a:off x="1050696" y="3277017"/>
            <a:ext cx="138602" cy="15198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Connector 8">
            <a:extLst>
              <a:ext uri="{FF2B5EF4-FFF2-40B4-BE49-F238E27FC236}">
                <a16:creationId xmlns:a16="http://schemas.microsoft.com/office/drawing/2014/main" id="{60A58608-D9FF-5885-74A2-29AA60B06EBF}"/>
              </a:ext>
            </a:extLst>
          </p:cNvPr>
          <p:cNvSpPr/>
          <p:nvPr/>
        </p:nvSpPr>
        <p:spPr>
          <a:xfrm>
            <a:off x="1050696" y="3618777"/>
            <a:ext cx="118346" cy="15774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Connector 9">
            <a:extLst>
              <a:ext uri="{FF2B5EF4-FFF2-40B4-BE49-F238E27FC236}">
                <a16:creationId xmlns:a16="http://schemas.microsoft.com/office/drawing/2014/main" id="{9FBA3D51-1406-53A8-BBA8-D79B84640B73}"/>
              </a:ext>
            </a:extLst>
          </p:cNvPr>
          <p:cNvSpPr/>
          <p:nvPr/>
        </p:nvSpPr>
        <p:spPr>
          <a:xfrm>
            <a:off x="981395" y="4715931"/>
            <a:ext cx="118346" cy="15774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lowchart: Connector 10">
            <a:extLst>
              <a:ext uri="{FF2B5EF4-FFF2-40B4-BE49-F238E27FC236}">
                <a16:creationId xmlns:a16="http://schemas.microsoft.com/office/drawing/2014/main" id="{BBB4AA77-7D0C-3F22-A415-D36E01D812E7}"/>
              </a:ext>
            </a:extLst>
          </p:cNvPr>
          <p:cNvSpPr/>
          <p:nvPr/>
        </p:nvSpPr>
        <p:spPr>
          <a:xfrm>
            <a:off x="991523" y="5080179"/>
            <a:ext cx="118346" cy="15774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lowchart: Connector 11">
            <a:extLst>
              <a:ext uri="{FF2B5EF4-FFF2-40B4-BE49-F238E27FC236}">
                <a16:creationId xmlns:a16="http://schemas.microsoft.com/office/drawing/2014/main" id="{378FC562-05D4-0246-5322-01ED54ED0505}"/>
              </a:ext>
            </a:extLst>
          </p:cNvPr>
          <p:cNvSpPr/>
          <p:nvPr/>
        </p:nvSpPr>
        <p:spPr>
          <a:xfrm>
            <a:off x="981395" y="5510372"/>
            <a:ext cx="138602" cy="15989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55215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C2D6852F-A344-240C-FA6D-2CEE2636C143}"/>
              </a:ext>
            </a:extLst>
          </p:cNvPr>
          <p:cNvSpPr txBox="1"/>
          <p:nvPr/>
        </p:nvSpPr>
        <p:spPr>
          <a:xfrm>
            <a:off x="231707" y="-86167"/>
            <a:ext cx="11548533" cy="74174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Calibri"/>
                <a:cs typeface="Calibri"/>
              </a:rPr>
              <a:t>     Display admin menu</a:t>
            </a:r>
          </a:p>
          <a:p>
            <a:r>
              <a:rPr lang="en-US" sz="2000" dirty="0">
                <a:ea typeface="Calibri"/>
                <a:cs typeface="Calibri"/>
              </a:rPr>
              <a:t>ELSE </a:t>
            </a:r>
          </a:p>
          <a:p>
            <a:r>
              <a:rPr lang="en-US" sz="2000" dirty="0">
                <a:ea typeface="Calibri"/>
                <a:cs typeface="Calibri"/>
              </a:rPr>
              <a:t>     Display "Invalid credentials"</a:t>
            </a:r>
          </a:p>
          <a:p>
            <a:r>
              <a:rPr lang="en-US" sz="2000" dirty="0">
                <a:ea typeface="Calibri"/>
                <a:cs typeface="Calibri"/>
              </a:rPr>
              <a:t>      GOTO step 2</a:t>
            </a:r>
          </a:p>
          <a:p>
            <a:r>
              <a:rPr lang="en-US" sz="2000" dirty="0">
                <a:latin typeface="Arial Black" panose="020B0A04020102020204" pitchFamily="34" charset="0"/>
                <a:ea typeface="Calibri"/>
                <a:cs typeface="Calibri"/>
              </a:rPr>
              <a:t>STEP 5</a:t>
            </a:r>
            <a:r>
              <a:rPr lang="en-US" sz="2000" dirty="0">
                <a:ea typeface="Calibri"/>
                <a:cs typeface="Calibri"/>
              </a:rPr>
              <a:t> : Admin menu</a:t>
            </a:r>
          </a:p>
          <a:p>
            <a:r>
              <a:rPr lang="en-US" sz="2000" dirty="0">
                <a:ea typeface="Calibri"/>
                <a:cs typeface="Calibri"/>
              </a:rPr>
              <a:t>    1.   Upload question paper</a:t>
            </a:r>
          </a:p>
          <a:p>
            <a:r>
              <a:rPr lang="en-US" sz="2000" dirty="0">
                <a:ea typeface="Calibri"/>
                <a:cs typeface="Calibri"/>
              </a:rPr>
              <a:t>    2.  Delete question paper</a:t>
            </a:r>
          </a:p>
          <a:p>
            <a:r>
              <a:rPr lang="en-US" sz="2000" dirty="0">
                <a:ea typeface="Calibri"/>
                <a:cs typeface="Calibri"/>
              </a:rPr>
              <a:t>    3.  Update question paper</a:t>
            </a:r>
          </a:p>
          <a:p>
            <a:r>
              <a:rPr lang="en-US" sz="2000" dirty="0">
                <a:ea typeface="Calibri"/>
                <a:cs typeface="Calibri"/>
              </a:rPr>
              <a:t>    4. View all question paper</a:t>
            </a:r>
          </a:p>
          <a:p>
            <a:r>
              <a:rPr lang="en-US" sz="2000" dirty="0">
                <a:ea typeface="Calibri"/>
                <a:cs typeface="Calibri"/>
              </a:rPr>
              <a:t>    5. Manage categories/ subjects</a:t>
            </a:r>
          </a:p>
          <a:p>
            <a:r>
              <a:rPr lang="en-US" sz="2000" dirty="0">
                <a:ea typeface="Calibri"/>
                <a:cs typeface="Calibri"/>
              </a:rPr>
              <a:t>    6.  View download statistics</a:t>
            </a:r>
          </a:p>
          <a:p>
            <a:r>
              <a:rPr lang="en-US" sz="2000" dirty="0">
                <a:ea typeface="Calibri"/>
                <a:cs typeface="Calibri"/>
              </a:rPr>
              <a:t>    7.  Logout </a:t>
            </a:r>
          </a:p>
          <a:p>
            <a:r>
              <a:rPr lang="en-US" sz="2000" dirty="0">
                <a:ea typeface="Calibri"/>
                <a:cs typeface="Calibri"/>
              </a:rPr>
              <a:t>    INPUT admin choice</a:t>
            </a:r>
          </a:p>
          <a:p>
            <a:r>
              <a:rPr lang="en-US" sz="2000" dirty="0">
                <a:latin typeface="Arial Black" panose="020B0A04020102020204" pitchFamily="34" charset="0"/>
                <a:ea typeface="Calibri"/>
                <a:cs typeface="Calibri"/>
              </a:rPr>
              <a:t>STEP 6 </a:t>
            </a:r>
            <a:r>
              <a:rPr lang="en-US" sz="2000" dirty="0">
                <a:ea typeface="Calibri"/>
                <a:cs typeface="Calibri"/>
              </a:rPr>
              <a:t>: IF admin choice = (Upload Question Paper)</a:t>
            </a:r>
          </a:p>
          <a:p>
            <a:r>
              <a:rPr lang="en-US" sz="2000" dirty="0">
                <a:ea typeface="Calibri"/>
                <a:cs typeface="Calibri"/>
              </a:rPr>
              <a:t>               . INPUT paper details</a:t>
            </a:r>
          </a:p>
          <a:p>
            <a:r>
              <a:rPr lang="en-US" sz="2000" dirty="0">
                <a:ea typeface="Calibri"/>
                <a:cs typeface="Calibri"/>
              </a:rPr>
              <a:t>                 1. Subject name</a:t>
            </a:r>
          </a:p>
          <a:p>
            <a:r>
              <a:rPr lang="en-US" sz="2000" dirty="0">
                <a:ea typeface="Calibri"/>
                <a:cs typeface="Calibri"/>
              </a:rPr>
              <a:t>                 2. Year</a:t>
            </a:r>
          </a:p>
          <a:p>
            <a:r>
              <a:rPr lang="en-US" sz="2000" dirty="0">
                <a:ea typeface="Calibri"/>
                <a:cs typeface="Calibri"/>
              </a:rPr>
              <a:t>                 3. Semester</a:t>
            </a:r>
          </a:p>
          <a:p>
            <a:r>
              <a:rPr lang="en-US" sz="2000" dirty="0">
                <a:ea typeface="Calibri"/>
                <a:cs typeface="Calibri"/>
              </a:rPr>
              <a:t>                 4. Exam type (mid/Final/Model)</a:t>
            </a:r>
          </a:p>
          <a:p>
            <a:r>
              <a:rPr lang="en-US" sz="2000" dirty="0">
                <a:ea typeface="Calibri"/>
                <a:cs typeface="Calibri"/>
              </a:rPr>
              <a:t>                 5. Department</a:t>
            </a:r>
          </a:p>
          <a:p>
            <a:r>
              <a:rPr lang="en-US" sz="2000" dirty="0">
                <a:ea typeface="Calibri"/>
                <a:cs typeface="Calibri"/>
              </a:rPr>
              <a:t>                 6. Regulation</a:t>
            </a:r>
          </a:p>
          <a:p>
            <a:r>
              <a:rPr lang="en-US" sz="2000" dirty="0">
                <a:ea typeface="Calibri"/>
                <a:cs typeface="Calibri"/>
              </a:rPr>
              <a:t>                </a:t>
            </a: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772577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05A7E-9BE6-329E-1459-A2FE25C183E7}"/>
              </a:ext>
            </a:extLst>
          </p:cNvPr>
          <p:cNvSpPr txBox="1"/>
          <p:nvPr/>
        </p:nvSpPr>
        <p:spPr>
          <a:xfrm>
            <a:off x="237067" y="-117933"/>
            <a:ext cx="11717866"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Calibri"/>
                <a:cs typeface="Calibri"/>
              </a:rPr>
              <a:t>            INPUT file to upload (pdf)</a:t>
            </a:r>
          </a:p>
          <a:p>
            <a:r>
              <a:rPr lang="en-US" sz="2000" dirty="0">
                <a:ea typeface="Calibri"/>
                <a:cs typeface="Calibri"/>
              </a:rPr>
              <a:t>            VALIDATE file format</a:t>
            </a:r>
          </a:p>
          <a:p>
            <a:r>
              <a:rPr lang="en-US" sz="2000" dirty="0">
                <a:ea typeface="Calibri"/>
                <a:cs typeface="Calibri"/>
              </a:rPr>
              <a:t>            GENERATE unique paper ID</a:t>
            </a:r>
          </a:p>
          <a:p>
            <a:r>
              <a:rPr lang="en-US" sz="2000" dirty="0">
                <a:ea typeface="Calibri"/>
                <a:cs typeface="Calibri"/>
              </a:rPr>
              <a:t>            STORE paper details in database</a:t>
            </a:r>
          </a:p>
          <a:p>
            <a:r>
              <a:rPr lang="en-US" sz="2000" dirty="0">
                <a:ea typeface="Calibri"/>
                <a:cs typeface="Calibri"/>
              </a:rPr>
              <a:t>            SAVE file to server</a:t>
            </a:r>
          </a:p>
          <a:p>
            <a:r>
              <a:rPr lang="en-US" sz="2000" dirty="0">
                <a:ea typeface="Calibri"/>
                <a:cs typeface="Calibri"/>
              </a:rPr>
              <a:t>            Display "Upload Successful"</a:t>
            </a:r>
          </a:p>
          <a:p>
            <a:r>
              <a:rPr lang="en-US" sz="2000" dirty="0">
                <a:ea typeface="Calibri"/>
                <a:cs typeface="Calibri"/>
              </a:rPr>
              <a:t>            GOTO Step 5</a:t>
            </a:r>
          </a:p>
          <a:p>
            <a:r>
              <a:rPr lang="en-US" sz="2000" dirty="0">
                <a:ea typeface="Calibri"/>
                <a:cs typeface="Calibri"/>
              </a:rPr>
              <a:t>Step 7: ELSE IF admin choice = 2(Delete Quester Paper)</a:t>
            </a:r>
          </a:p>
          <a:p>
            <a:r>
              <a:rPr lang="en-US" sz="2000" dirty="0">
                <a:ea typeface="Calibri"/>
                <a:cs typeface="Calibri"/>
              </a:rPr>
              <a:t>              Display list of all question papers</a:t>
            </a:r>
          </a:p>
          <a:p>
            <a:r>
              <a:rPr lang="en-US" sz="2000" dirty="0">
                <a:ea typeface="Calibri"/>
                <a:cs typeface="Calibri"/>
              </a:rPr>
              <a:t>              INPUT paper ID to delete</a:t>
            </a:r>
          </a:p>
          <a:p>
            <a:r>
              <a:rPr lang="en-US" sz="2000" dirty="0">
                <a:ea typeface="Calibri"/>
                <a:cs typeface="Calibri"/>
              </a:rPr>
              <a:t>              CONFORM deletion</a:t>
            </a:r>
          </a:p>
          <a:p>
            <a:r>
              <a:rPr lang="en-US" sz="2000" dirty="0">
                <a:ea typeface="Calibri"/>
                <a:cs typeface="Calibri"/>
              </a:rPr>
              <a:t>              Display "Deletion successful"</a:t>
            </a:r>
          </a:p>
          <a:p>
            <a:r>
              <a:rPr lang="en-US" sz="2000" dirty="0">
                <a:ea typeface="Calibri"/>
                <a:cs typeface="Calibri"/>
              </a:rPr>
              <a:t>              GOTO Step 5</a:t>
            </a:r>
          </a:p>
          <a:p>
            <a:r>
              <a:rPr lang="en-US" sz="2000" dirty="0">
                <a:ea typeface="Calibri"/>
                <a:cs typeface="Calibri"/>
              </a:rPr>
              <a:t>Step 8: ELSE IF admin choice = 3(Update Question Paper)</a:t>
            </a:r>
          </a:p>
          <a:p>
            <a:r>
              <a:rPr lang="en-US" sz="2000" dirty="0">
                <a:ea typeface="Calibri"/>
                <a:cs typeface="Calibri"/>
              </a:rPr>
              <a:t>              Display list of all question paper</a:t>
            </a:r>
          </a:p>
          <a:p>
            <a:r>
              <a:rPr lang="en-US" sz="2000" dirty="0">
                <a:ea typeface="Calibri"/>
                <a:cs typeface="Calibri"/>
              </a:rPr>
              <a:t>              INPUT paper ID to update</a:t>
            </a:r>
          </a:p>
          <a:p>
            <a:r>
              <a:rPr lang="en-US" sz="2000" dirty="0">
                <a:ea typeface="Calibri"/>
                <a:cs typeface="Calibri"/>
              </a:rPr>
              <a:t>              Display current details</a:t>
            </a:r>
          </a:p>
          <a:p>
            <a:r>
              <a:rPr lang="en-US" sz="2000" dirty="0">
                <a:ea typeface="Calibri"/>
                <a:cs typeface="Calibri"/>
              </a:rPr>
              <a:t>              INPUT new details to update</a:t>
            </a:r>
          </a:p>
          <a:p>
            <a:r>
              <a:rPr lang="en-US" sz="2000" dirty="0">
                <a:ea typeface="Calibri"/>
                <a:cs typeface="Calibri"/>
              </a:rPr>
              <a:t>              UPDATE database record</a:t>
            </a:r>
          </a:p>
          <a:p>
            <a:r>
              <a:rPr lang="en-US" sz="2000" dirty="0">
                <a:ea typeface="Calibri"/>
                <a:cs typeface="Calibri"/>
              </a:rPr>
              <a:t>              Display "Update Successful"</a:t>
            </a:r>
          </a:p>
          <a:p>
            <a:r>
              <a:rPr lang="en-US" sz="2000" dirty="0">
                <a:ea typeface="Calibri"/>
                <a:cs typeface="Calibri"/>
              </a:rPr>
              <a:t>              GOTO Step 5</a:t>
            </a:r>
          </a:p>
        </p:txBody>
      </p:sp>
      <p:sp>
        <p:nvSpPr>
          <p:cNvPr id="2" name="Flowchart: Connector 1">
            <a:extLst>
              <a:ext uri="{FF2B5EF4-FFF2-40B4-BE49-F238E27FC236}">
                <a16:creationId xmlns:a16="http://schemas.microsoft.com/office/drawing/2014/main" id="{146B1576-2B65-916E-43A5-BD74AA909D25}"/>
              </a:ext>
            </a:extLst>
          </p:cNvPr>
          <p:cNvSpPr/>
          <p:nvPr/>
        </p:nvSpPr>
        <p:spPr>
          <a:xfrm>
            <a:off x="927901" y="2801071"/>
            <a:ext cx="104172" cy="925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lowchart: Connector 2">
            <a:extLst>
              <a:ext uri="{FF2B5EF4-FFF2-40B4-BE49-F238E27FC236}">
                <a16:creationId xmlns:a16="http://schemas.microsoft.com/office/drawing/2014/main" id="{C9F77764-6941-C857-E535-D734D45FDF26}"/>
              </a:ext>
            </a:extLst>
          </p:cNvPr>
          <p:cNvSpPr/>
          <p:nvPr/>
        </p:nvSpPr>
        <p:spPr>
          <a:xfrm>
            <a:off x="920183" y="2488552"/>
            <a:ext cx="84881" cy="925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lowchart: Connector 3">
            <a:extLst>
              <a:ext uri="{FF2B5EF4-FFF2-40B4-BE49-F238E27FC236}">
                <a16:creationId xmlns:a16="http://schemas.microsoft.com/office/drawing/2014/main" id="{E51060D3-9561-A3BC-12B0-B835036AFA99}"/>
              </a:ext>
            </a:extLst>
          </p:cNvPr>
          <p:cNvSpPr/>
          <p:nvPr/>
        </p:nvSpPr>
        <p:spPr>
          <a:xfrm>
            <a:off x="927902" y="3784922"/>
            <a:ext cx="104172" cy="925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lowchart: Connector 4">
            <a:extLst>
              <a:ext uri="{FF2B5EF4-FFF2-40B4-BE49-F238E27FC236}">
                <a16:creationId xmlns:a16="http://schemas.microsoft.com/office/drawing/2014/main" id="{151A3C80-BCF6-8F27-8827-B4F6CBDE18A7}"/>
              </a:ext>
            </a:extLst>
          </p:cNvPr>
          <p:cNvSpPr/>
          <p:nvPr/>
        </p:nvSpPr>
        <p:spPr>
          <a:xfrm>
            <a:off x="937547" y="3159888"/>
            <a:ext cx="84881" cy="925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lowchart: Connector 6">
            <a:extLst>
              <a:ext uri="{FF2B5EF4-FFF2-40B4-BE49-F238E27FC236}">
                <a16:creationId xmlns:a16="http://schemas.microsoft.com/office/drawing/2014/main" id="{CCDB3296-89EE-21BE-67AC-9B0DF411D041}"/>
              </a:ext>
            </a:extLst>
          </p:cNvPr>
          <p:cNvSpPr/>
          <p:nvPr/>
        </p:nvSpPr>
        <p:spPr>
          <a:xfrm>
            <a:off x="927902" y="3455042"/>
            <a:ext cx="104172" cy="925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lowchart: Connector 7">
            <a:extLst>
              <a:ext uri="{FF2B5EF4-FFF2-40B4-BE49-F238E27FC236}">
                <a16:creationId xmlns:a16="http://schemas.microsoft.com/office/drawing/2014/main" id="{0149E8C7-F216-9965-6D5F-8CEC04FAB276}"/>
              </a:ext>
            </a:extLst>
          </p:cNvPr>
          <p:cNvSpPr/>
          <p:nvPr/>
        </p:nvSpPr>
        <p:spPr>
          <a:xfrm>
            <a:off x="804430" y="1559520"/>
            <a:ext cx="121534"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Connector 8">
            <a:extLst>
              <a:ext uri="{FF2B5EF4-FFF2-40B4-BE49-F238E27FC236}">
                <a16:creationId xmlns:a16="http://schemas.microsoft.com/office/drawing/2014/main" id="{D6BF1947-E785-0D35-8652-28982ED271BC}"/>
              </a:ext>
            </a:extLst>
          </p:cNvPr>
          <p:cNvSpPr/>
          <p:nvPr/>
        </p:nvSpPr>
        <p:spPr>
          <a:xfrm>
            <a:off x="815154" y="889593"/>
            <a:ext cx="10417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Connector 9">
            <a:extLst>
              <a:ext uri="{FF2B5EF4-FFF2-40B4-BE49-F238E27FC236}">
                <a16:creationId xmlns:a16="http://schemas.microsoft.com/office/drawing/2014/main" id="{0EFCA37E-072C-2F5E-C2E9-2393CD6D5D5D}"/>
              </a:ext>
            </a:extLst>
          </p:cNvPr>
          <p:cNvSpPr/>
          <p:nvPr/>
        </p:nvSpPr>
        <p:spPr>
          <a:xfrm>
            <a:off x="803994" y="332076"/>
            <a:ext cx="104172" cy="10417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lowchart: Connector 10">
            <a:extLst>
              <a:ext uri="{FF2B5EF4-FFF2-40B4-BE49-F238E27FC236}">
                <a16:creationId xmlns:a16="http://schemas.microsoft.com/office/drawing/2014/main" id="{F7871801-C4BC-908E-23A0-F03795A0AAF1}"/>
              </a:ext>
            </a:extLst>
          </p:cNvPr>
          <p:cNvSpPr/>
          <p:nvPr/>
        </p:nvSpPr>
        <p:spPr>
          <a:xfrm>
            <a:off x="815154" y="55965"/>
            <a:ext cx="104172" cy="925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lowchart: Connector 11">
            <a:extLst>
              <a:ext uri="{FF2B5EF4-FFF2-40B4-BE49-F238E27FC236}">
                <a16:creationId xmlns:a16="http://schemas.microsoft.com/office/drawing/2014/main" id="{8FF414EB-97E1-AED0-42AB-1F3BBD73CB16}"/>
              </a:ext>
            </a:extLst>
          </p:cNvPr>
          <p:cNvSpPr/>
          <p:nvPr/>
        </p:nvSpPr>
        <p:spPr>
          <a:xfrm>
            <a:off x="810752" y="1221543"/>
            <a:ext cx="115212" cy="13116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lowchart: Connector 12">
            <a:extLst>
              <a:ext uri="{FF2B5EF4-FFF2-40B4-BE49-F238E27FC236}">
                <a16:creationId xmlns:a16="http://schemas.microsoft.com/office/drawing/2014/main" id="{93809089-0FB5-F0A7-8685-8625BDFA5B3A}"/>
              </a:ext>
            </a:extLst>
          </p:cNvPr>
          <p:cNvSpPr/>
          <p:nvPr/>
        </p:nvSpPr>
        <p:spPr>
          <a:xfrm>
            <a:off x="815154" y="1877002"/>
            <a:ext cx="10417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lowchart: Connector 13">
            <a:extLst>
              <a:ext uri="{FF2B5EF4-FFF2-40B4-BE49-F238E27FC236}">
                <a16:creationId xmlns:a16="http://schemas.microsoft.com/office/drawing/2014/main" id="{09EC5DF2-7DD9-0FB7-21F1-5EEA4D859ABB}"/>
              </a:ext>
            </a:extLst>
          </p:cNvPr>
          <p:cNvSpPr/>
          <p:nvPr/>
        </p:nvSpPr>
        <p:spPr>
          <a:xfrm>
            <a:off x="814082" y="589201"/>
            <a:ext cx="104172" cy="12732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lowchart: Connector 14">
            <a:extLst>
              <a:ext uri="{FF2B5EF4-FFF2-40B4-BE49-F238E27FC236}">
                <a16:creationId xmlns:a16="http://schemas.microsoft.com/office/drawing/2014/main" id="{2EB6E2DA-F19B-330F-25E9-D3C6ECACA665}"/>
              </a:ext>
            </a:extLst>
          </p:cNvPr>
          <p:cNvSpPr/>
          <p:nvPr/>
        </p:nvSpPr>
        <p:spPr>
          <a:xfrm>
            <a:off x="856522" y="5220795"/>
            <a:ext cx="123464" cy="12744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lowchart: Connector 15">
            <a:extLst>
              <a:ext uri="{FF2B5EF4-FFF2-40B4-BE49-F238E27FC236}">
                <a16:creationId xmlns:a16="http://schemas.microsoft.com/office/drawing/2014/main" id="{C597EF40-39D5-2497-0F20-8B81C6F69F5F}"/>
              </a:ext>
            </a:extLst>
          </p:cNvPr>
          <p:cNvSpPr/>
          <p:nvPr/>
        </p:nvSpPr>
        <p:spPr>
          <a:xfrm>
            <a:off x="868097" y="4701419"/>
            <a:ext cx="123464" cy="11485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Connector 16">
            <a:extLst>
              <a:ext uri="{FF2B5EF4-FFF2-40B4-BE49-F238E27FC236}">
                <a16:creationId xmlns:a16="http://schemas.microsoft.com/office/drawing/2014/main" id="{829B1F29-9DE0-7B3D-D38C-54788AD93E46}"/>
              </a:ext>
            </a:extLst>
          </p:cNvPr>
          <p:cNvSpPr/>
          <p:nvPr/>
        </p:nvSpPr>
        <p:spPr>
          <a:xfrm>
            <a:off x="867134" y="4364391"/>
            <a:ext cx="137928" cy="13864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Connector 17">
            <a:extLst>
              <a:ext uri="{FF2B5EF4-FFF2-40B4-BE49-F238E27FC236}">
                <a16:creationId xmlns:a16="http://schemas.microsoft.com/office/drawing/2014/main" id="{6A53436B-8B96-0CC5-900F-EA3E60A3C9C2}"/>
              </a:ext>
            </a:extLst>
          </p:cNvPr>
          <p:cNvSpPr/>
          <p:nvPr/>
        </p:nvSpPr>
        <p:spPr>
          <a:xfrm>
            <a:off x="881599" y="5475327"/>
            <a:ext cx="123463" cy="13864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lowchart: Connector 18">
            <a:extLst>
              <a:ext uri="{FF2B5EF4-FFF2-40B4-BE49-F238E27FC236}">
                <a16:creationId xmlns:a16="http://schemas.microsoft.com/office/drawing/2014/main" id="{54A55584-E6E4-0F30-CE72-642FBBB0A0B9}"/>
              </a:ext>
            </a:extLst>
          </p:cNvPr>
          <p:cNvSpPr/>
          <p:nvPr/>
        </p:nvSpPr>
        <p:spPr>
          <a:xfrm>
            <a:off x="856521" y="4943364"/>
            <a:ext cx="148541" cy="13127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Connector 19">
            <a:extLst>
              <a:ext uri="{FF2B5EF4-FFF2-40B4-BE49-F238E27FC236}">
                <a16:creationId xmlns:a16="http://schemas.microsoft.com/office/drawing/2014/main" id="{9571BDAA-5204-AB75-23F0-2BA0ECD8E72E}"/>
              </a:ext>
            </a:extLst>
          </p:cNvPr>
          <p:cNvSpPr/>
          <p:nvPr/>
        </p:nvSpPr>
        <p:spPr>
          <a:xfrm>
            <a:off x="869059" y="5760130"/>
            <a:ext cx="136003" cy="158368"/>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Connector 20">
            <a:extLst>
              <a:ext uri="{FF2B5EF4-FFF2-40B4-BE49-F238E27FC236}">
                <a16:creationId xmlns:a16="http://schemas.microsoft.com/office/drawing/2014/main" id="{B8EC7F57-5D90-F65F-CF65-42E18EC754F7}"/>
              </a:ext>
            </a:extLst>
          </p:cNvPr>
          <p:cNvSpPr/>
          <p:nvPr/>
        </p:nvSpPr>
        <p:spPr>
          <a:xfrm>
            <a:off x="856522" y="6054300"/>
            <a:ext cx="136004" cy="13864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20767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47F847-DA90-D6A8-ADED-93B2CEB73F5E}"/>
              </a:ext>
            </a:extLst>
          </p:cNvPr>
          <p:cNvSpPr txBox="1"/>
          <p:nvPr/>
        </p:nvSpPr>
        <p:spPr>
          <a:xfrm>
            <a:off x="219919" y="138896"/>
            <a:ext cx="14902258" cy="7576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275"/>
              </a:lnSpc>
            </a:pPr>
            <a:r>
              <a:rPr lang="en-US" sz="2000" baseline="0" dirty="0">
                <a:latin typeface="Arial Black" panose="020B0A04020102020204" pitchFamily="34" charset="0"/>
                <a:ea typeface="Segoe UI"/>
                <a:cs typeface="Segoe UI"/>
              </a:rPr>
              <a:t>Step 9</a:t>
            </a:r>
            <a:r>
              <a:rPr lang="en-US" sz="2000" baseline="0" dirty="0">
                <a:latin typeface="Calibri"/>
                <a:ea typeface="Segoe UI"/>
                <a:cs typeface="Segoe UI"/>
              </a:rPr>
              <a:t>: ELSE IF admin choice = 4(View All Question Paper)</a:t>
            </a:r>
            <a:r>
              <a:rPr lang="en-US" sz="2000" dirty="0">
                <a:latin typeface="Calibri"/>
                <a:ea typeface="Segoe UI"/>
                <a:cs typeface="Segoe UI"/>
              </a:rPr>
              <a:t>​</a:t>
            </a:r>
          </a:p>
          <a:p>
            <a:pPr>
              <a:lnSpc>
                <a:spcPts val="1275"/>
              </a:lnSpc>
            </a:pPr>
            <a:r>
              <a:rPr lang="en-US" sz="2000" baseline="0" dirty="0">
                <a:latin typeface="Calibri"/>
                <a:ea typeface="Segoe UI"/>
                <a:cs typeface="Segoe UI"/>
              </a:rPr>
              <a:t> </a:t>
            </a:r>
            <a:endParaRPr lang="en-US" sz="2000" dirty="0">
              <a:ea typeface="Segoe UI"/>
              <a:cs typeface="Segoe UI"/>
            </a:endParaRPr>
          </a:p>
          <a:p>
            <a:pPr rtl="0">
              <a:lnSpc>
                <a:spcPts val="1275"/>
              </a:lnSpc>
            </a:pPr>
            <a:r>
              <a:rPr lang="en-US" sz="2000" baseline="0" dirty="0">
                <a:latin typeface="Calibri"/>
                <a:ea typeface="Segoe UI"/>
                <a:cs typeface="Segoe UI"/>
              </a:rPr>
              <a:t>       RETRIEVE all paper from database</a:t>
            </a:r>
            <a:r>
              <a:rPr lang="en-US" sz="2000" dirty="0">
                <a:latin typeface="Calibri"/>
                <a:ea typeface="Segoe UI"/>
                <a:cs typeface="Segoe UI"/>
              </a:rPr>
              <a:t>​</a:t>
            </a:r>
          </a:p>
          <a:p>
            <a:pPr>
              <a:lnSpc>
                <a:spcPts val="1275"/>
              </a:lnSpc>
            </a:pPr>
            <a:endParaRPr lang="en-US" sz="2000" dirty="0">
              <a:latin typeface="Calibri"/>
              <a:ea typeface="Segoe UI"/>
              <a:cs typeface="Segoe UI"/>
            </a:endParaRPr>
          </a:p>
          <a:p>
            <a:pPr>
              <a:lnSpc>
                <a:spcPts val="1275"/>
              </a:lnSpc>
            </a:pPr>
            <a:r>
              <a:rPr lang="en-US" sz="2000" baseline="0" dirty="0">
                <a:latin typeface="Calibri"/>
                <a:ea typeface="Segoe UI"/>
                <a:cs typeface="Segoe UI"/>
              </a:rPr>
              <a:t>       Display in tabular format with </a:t>
            </a:r>
            <a:r>
              <a:rPr lang="en-US" sz="2000" dirty="0">
                <a:latin typeface="Calibri"/>
                <a:ea typeface="Segoe UI"/>
                <a:cs typeface="Segoe UI"/>
              </a:rPr>
              <a:t>file</a:t>
            </a:r>
          </a:p>
          <a:p>
            <a:pPr>
              <a:lnSpc>
                <a:spcPts val="1275"/>
              </a:lnSpc>
            </a:pPr>
            <a:r>
              <a:rPr lang="en-US" sz="2000" dirty="0">
                <a:latin typeface="Calibri"/>
                <a:ea typeface="Segoe UI"/>
                <a:cs typeface="Segoe UI"/>
              </a:rPr>
              <a:t>​</a:t>
            </a:r>
            <a:endParaRPr lang="en-US" sz="2000" dirty="0"/>
          </a:p>
          <a:p>
            <a:endParaRPr lang="en-US" sz="2000" dirty="0">
              <a:latin typeface="Calibri"/>
              <a:ea typeface="Calibri"/>
              <a:cs typeface="Calibri"/>
            </a:endParaRPr>
          </a:p>
          <a:p>
            <a:r>
              <a:rPr lang="en-US" sz="2000" dirty="0">
                <a:latin typeface="Arial Black" panose="020B0A04020102020204" pitchFamily="34" charset="0"/>
                <a:ea typeface="+mn-lt"/>
                <a:cs typeface="+mn-lt"/>
              </a:rPr>
              <a:t>Step 10</a:t>
            </a:r>
            <a:r>
              <a:rPr lang="en-US" sz="2000" dirty="0">
                <a:ea typeface="+mn-lt"/>
                <a:cs typeface="+mn-lt"/>
              </a:rPr>
              <a:t>: ELSE IF admin choice = 5 (Manage Categories)</a:t>
            </a:r>
            <a:endParaRPr lang="en-US" sz="2000" dirty="0">
              <a:ea typeface="Calibri"/>
              <a:cs typeface="Calibri"/>
            </a:endParaRPr>
          </a:p>
          <a:p>
            <a:r>
              <a:rPr lang="en-US" sz="2000" dirty="0">
                <a:ea typeface="+mn-lt"/>
                <a:cs typeface="+mn-lt"/>
              </a:rPr>
              <a:t>    Display sub-menu:</a:t>
            </a:r>
            <a:endParaRPr lang="en-US" sz="2000" dirty="0"/>
          </a:p>
          <a:p>
            <a:r>
              <a:rPr lang="en-US" sz="2000" dirty="0">
                <a:ea typeface="+mn-lt"/>
                <a:cs typeface="+mn-lt"/>
              </a:rPr>
              <a:t>     1.   Add Subject</a:t>
            </a:r>
            <a:endParaRPr lang="en-US" sz="2000" dirty="0"/>
          </a:p>
          <a:p>
            <a:r>
              <a:rPr lang="en-US" sz="2000" dirty="0">
                <a:ea typeface="+mn-lt"/>
                <a:cs typeface="+mn-lt"/>
              </a:rPr>
              <a:t>     2.  Delete Subject</a:t>
            </a:r>
            <a:endParaRPr lang="en-US" sz="2000" dirty="0"/>
          </a:p>
          <a:p>
            <a:r>
              <a:rPr lang="en-US" sz="2000" dirty="0">
                <a:ea typeface="+mn-lt"/>
                <a:cs typeface="+mn-lt"/>
              </a:rPr>
              <a:t>     3.  Add Department</a:t>
            </a:r>
            <a:endParaRPr lang="en-US" sz="2000" dirty="0"/>
          </a:p>
          <a:p>
            <a:r>
              <a:rPr lang="en-US" sz="2000" dirty="0">
                <a:ea typeface="+mn-lt"/>
                <a:cs typeface="+mn-lt"/>
              </a:rPr>
              <a:t>     4.  Delete Department</a:t>
            </a:r>
            <a:endParaRPr lang="en-US" sz="2000" dirty="0"/>
          </a:p>
          <a:p>
            <a:r>
              <a:rPr lang="en-US" sz="2000" dirty="0">
                <a:ea typeface="+mn-lt"/>
                <a:cs typeface="+mn-lt"/>
              </a:rPr>
              <a:t>     5.  Perform selected operation</a:t>
            </a:r>
            <a:endParaRPr lang="en-US" sz="2000" dirty="0"/>
          </a:p>
          <a:p>
            <a:r>
              <a:rPr lang="en-US" sz="2000" dirty="0">
                <a:ea typeface="+mn-lt"/>
                <a:cs typeface="+mn-lt"/>
              </a:rPr>
              <a:t>     6.  GOTO Step 5</a:t>
            </a:r>
            <a:endParaRPr lang="en-US" sz="2000" dirty="0"/>
          </a:p>
          <a:p>
            <a:endParaRPr lang="en-US" sz="2000" dirty="0">
              <a:ea typeface="+mn-lt"/>
              <a:cs typeface="+mn-lt"/>
            </a:endParaRPr>
          </a:p>
          <a:p>
            <a:r>
              <a:rPr lang="en-US" sz="2000" dirty="0">
                <a:latin typeface="Arial Black" panose="020B0A04020102020204" pitchFamily="34" charset="0"/>
                <a:ea typeface="+mn-lt"/>
                <a:cs typeface="+mn-lt"/>
              </a:rPr>
              <a:t>Step 11</a:t>
            </a:r>
            <a:r>
              <a:rPr lang="en-US" sz="2000" dirty="0">
                <a:ea typeface="+mn-lt"/>
                <a:cs typeface="+mn-lt"/>
              </a:rPr>
              <a:t>: ELSE IF admin choice = 6 (View Statistics)</a:t>
            </a:r>
            <a:endParaRPr lang="en-US" sz="2000" dirty="0"/>
          </a:p>
          <a:p>
            <a:r>
              <a:rPr lang="en-US" sz="2000" dirty="0">
                <a:ea typeface="+mn-lt"/>
                <a:cs typeface="+mn-lt"/>
              </a:rPr>
              <a:t>       Display download count for each paper</a:t>
            </a:r>
            <a:endParaRPr lang="en-US" sz="2000" dirty="0"/>
          </a:p>
          <a:p>
            <a:r>
              <a:rPr lang="en-US" sz="2000" dirty="0">
                <a:ea typeface="+mn-lt"/>
                <a:cs typeface="+mn-lt"/>
              </a:rPr>
              <a:t>       Display most downloaded papers</a:t>
            </a:r>
            <a:endParaRPr lang="en-US" sz="2000" dirty="0"/>
          </a:p>
          <a:p>
            <a:r>
              <a:rPr lang="en-US" sz="2000" dirty="0">
                <a:ea typeface="+mn-lt"/>
                <a:cs typeface="+mn-lt"/>
              </a:rPr>
              <a:t>       Display subject-wise statistics</a:t>
            </a:r>
            <a:endParaRPr lang="en-US" sz="2000" dirty="0"/>
          </a:p>
          <a:p>
            <a:r>
              <a:rPr lang="en-US" sz="2000" dirty="0">
                <a:ea typeface="+mn-lt"/>
                <a:cs typeface="+mn-lt"/>
              </a:rPr>
              <a:t>       GOTO Step 5</a:t>
            </a:r>
            <a:endParaRPr lang="en-US" sz="2000" dirty="0"/>
          </a:p>
          <a:p>
            <a:r>
              <a:rPr lang="en-US" sz="2000" dirty="0">
                <a:latin typeface="Arial Black" panose="020B0A04020102020204" pitchFamily="34" charset="0"/>
                <a:ea typeface="+mn-lt"/>
                <a:cs typeface="+mn-lt"/>
              </a:rPr>
              <a:t>Step 12</a:t>
            </a:r>
            <a:r>
              <a:rPr lang="en-US" sz="2000" dirty="0">
                <a:ea typeface="+mn-lt"/>
                <a:cs typeface="+mn-lt"/>
              </a:rPr>
              <a:t>: ELSE IF admin choice = 7</a:t>
            </a:r>
            <a:endParaRPr lang="en-US" sz="2000" dirty="0"/>
          </a:p>
          <a:p>
            <a:r>
              <a:rPr lang="en-US" sz="2000" dirty="0">
                <a:ea typeface="+mn-lt"/>
                <a:cs typeface="+mn-lt"/>
              </a:rPr>
              <a:t>       Logout</a:t>
            </a:r>
            <a:endParaRPr lang="en-US" sz="2000" dirty="0"/>
          </a:p>
          <a:p>
            <a:endParaRPr lang="en-US" sz="2000" dirty="0">
              <a:latin typeface="Calibri"/>
              <a:ea typeface="Calibri"/>
              <a:cs typeface="Calibri"/>
            </a:endParaRPr>
          </a:p>
          <a:p>
            <a:pPr rtl="0">
              <a:lnSpc>
                <a:spcPts val="1275"/>
              </a:lnSpc>
            </a:pPr>
            <a:endParaRPr lang="en-US" sz="2000" dirty="0">
              <a:latin typeface="Calibri"/>
              <a:ea typeface="Segoe UI"/>
              <a:cs typeface="Segoe UI"/>
            </a:endParaRPr>
          </a:p>
          <a:p>
            <a:pPr>
              <a:lnSpc>
                <a:spcPts val="1275"/>
              </a:lnSpc>
            </a:pPr>
            <a:endParaRPr lang="en-US" sz="2000" dirty="0">
              <a:cs typeface="Segoe UI"/>
            </a:endParaRPr>
          </a:p>
          <a:p>
            <a:pPr>
              <a:lnSpc>
                <a:spcPts val="1275"/>
              </a:lnSpc>
            </a:pPr>
            <a:r>
              <a:rPr lang="en-US" sz="2000" dirty="0">
                <a:cs typeface="Segoe UI"/>
              </a:rPr>
              <a:t>   </a:t>
            </a:r>
          </a:p>
          <a:p>
            <a:pPr algn="ctr"/>
            <a:r>
              <a:rPr lang="en-US" dirty="0"/>
              <a:t> </a:t>
            </a:r>
          </a:p>
        </p:txBody>
      </p:sp>
      <p:sp>
        <p:nvSpPr>
          <p:cNvPr id="2" name="Flowchart: Connector 1">
            <a:extLst>
              <a:ext uri="{FF2B5EF4-FFF2-40B4-BE49-F238E27FC236}">
                <a16:creationId xmlns:a16="http://schemas.microsoft.com/office/drawing/2014/main" id="{50D4D949-54D6-8F5D-3955-FB1E9274D643}"/>
              </a:ext>
            </a:extLst>
          </p:cNvPr>
          <p:cNvSpPr/>
          <p:nvPr/>
        </p:nvSpPr>
        <p:spPr>
          <a:xfrm>
            <a:off x="520861" y="4606724"/>
            <a:ext cx="127321" cy="12732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lowchart: Connector 3">
            <a:extLst>
              <a:ext uri="{FF2B5EF4-FFF2-40B4-BE49-F238E27FC236}">
                <a16:creationId xmlns:a16="http://schemas.microsoft.com/office/drawing/2014/main" id="{2447E053-DA95-2531-7CFD-B59AEE12EF5F}"/>
              </a:ext>
            </a:extLst>
          </p:cNvPr>
          <p:cNvSpPr/>
          <p:nvPr/>
        </p:nvSpPr>
        <p:spPr>
          <a:xfrm>
            <a:off x="360744" y="1886673"/>
            <a:ext cx="127321" cy="12732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lowchart: Connector 4">
            <a:extLst>
              <a:ext uri="{FF2B5EF4-FFF2-40B4-BE49-F238E27FC236}">
                <a16:creationId xmlns:a16="http://schemas.microsoft.com/office/drawing/2014/main" id="{2118ADB3-4076-863D-5216-80C316DB1E05}"/>
              </a:ext>
            </a:extLst>
          </p:cNvPr>
          <p:cNvSpPr/>
          <p:nvPr/>
        </p:nvSpPr>
        <p:spPr>
          <a:xfrm>
            <a:off x="505428" y="787076"/>
            <a:ext cx="127321"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lowchart: Connector 5">
            <a:extLst>
              <a:ext uri="{FF2B5EF4-FFF2-40B4-BE49-F238E27FC236}">
                <a16:creationId xmlns:a16="http://schemas.microsoft.com/office/drawing/2014/main" id="{D3102EC5-4E9E-6CA8-1391-63C65F32FC55}"/>
              </a:ext>
            </a:extLst>
          </p:cNvPr>
          <p:cNvSpPr/>
          <p:nvPr/>
        </p:nvSpPr>
        <p:spPr>
          <a:xfrm>
            <a:off x="505428" y="439837"/>
            <a:ext cx="142754"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lowchart: Connector 6">
            <a:extLst>
              <a:ext uri="{FF2B5EF4-FFF2-40B4-BE49-F238E27FC236}">
                <a16:creationId xmlns:a16="http://schemas.microsoft.com/office/drawing/2014/main" id="{F70547F3-33E7-AB2E-197B-6D317908AF48}"/>
              </a:ext>
            </a:extLst>
          </p:cNvPr>
          <p:cNvSpPr/>
          <p:nvPr/>
        </p:nvSpPr>
        <p:spPr>
          <a:xfrm>
            <a:off x="505428" y="4907664"/>
            <a:ext cx="127321"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lowchart: Connector 7">
            <a:extLst>
              <a:ext uri="{FF2B5EF4-FFF2-40B4-BE49-F238E27FC236}">
                <a16:creationId xmlns:a16="http://schemas.microsoft.com/office/drawing/2014/main" id="{5E52E7C2-54D0-C9AC-FA4C-CC3F5D9EEB63}"/>
              </a:ext>
            </a:extLst>
          </p:cNvPr>
          <p:cNvSpPr/>
          <p:nvPr/>
        </p:nvSpPr>
        <p:spPr>
          <a:xfrm>
            <a:off x="511214" y="5497973"/>
            <a:ext cx="127321" cy="12732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Connector 8">
            <a:extLst>
              <a:ext uri="{FF2B5EF4-FFF2-40B4-BE49-F238E27FC236}">
                <a16:creationId xmlns:a16="http://schemas.microsoft.com/office/drawing/2014/main" id="{1B34341E-3ED3-E611-4268-5CEEFCBD2A27}"/>
              </a:ext>
            </a:extLst>
          </p:cNvPr>
          <p:cNvSpPr/>
          <p:nvPr/>
        </p:nvSpPr>
        <p:spPr>
          <a:xfrm>
            <a:off x="513143" y="5185457"/>
            <a:ext cx="142754"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Connector 9">
            <a:extLst>
              <a:ext uri="{FF2B5EF4-FFF2-40B4-BE49-F238E27FC236}">
                <a16:creationId xmlns:a16="http://schemas.microsoft.com/office/drawing/2014/main" id="{E630D44E-CB08-36A8-014B-DEBC4110D5DB}"/>
              </a:ext>
            </a:extLst>
          </p:cNvPr>
          <p:cNvSpPr/>
          <p:nvPr/>
        </p:nvSpPr>
        <p:spPr>
          <a:xfrm>
            <a:off x="470704" y="6114727"/>
            <a:ext cx="162045" cy="12732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2324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1E294A-3FD2-9EED-6F1D-8EF20ABDAB77}"/>
              </a:ext>
            </a:extLst>
          </p:cNvPr>
          <p:cNvSpPr txBox="1"/>
          <p:nvPr/>
        </p:nvSpPr>
        <p:spPr>
          <a:xfrm>
            <a:off x="130097" y="297365"/>
            <a:ext cx="6969512" cy="41073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0">
            <a:extLst>
              <a:ext uri="{FF2B5EF4-FFF2-40B4-BE49-F238E27FC236}">
                <a16:creationId xmlns:a16="http://schemas.microsoft.com/office/drawing/2014/main" id="{43BF0391-C797-927C-EC6F-A095993AF520}"/>
              </a:ext>
            </a:extLst>
          </p:cNvPr>
          <p:cNvSpPr txBox="1"/>
          <p:nvPr/>
        </p:nvSpPr>
        <p:spPr>
          <a:xfrm>
            <a:off x="372668" y="204438"/>
            <a:ext cx="1213624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Black" panose="020B0A04020102020204" pitchFamily="34" charset="0"/>
                <a:ea typeface="+mn-lt"/>
                <a:cs typeface="+mn-lt"/>
              </a:rPr>
              <a:t>Step 14 </a:t>
            </a:r>
            <a:endParaRPr lang="en-US" dirty="0">
              <a:latin typeface="Arial Black" panose="020B0A04020102020204" pitchFamily="34" charset="0"/>
            </a:endParaRPr>
          </a:p>
          <a:p>
            <a:r>
              <a:rPr lang="en-US" dirty="0">
                <a:ea typeface="+mn-lt"/>
                <a:cs typeface="+mn-lt"/>
              </a:rPr>
              <a:t>1. Search Question Papers</a:t>
            </a:r>
            <a:endParaRPr lang="en-US" dirty="0"/>
          </a:p>
          <a:p>
            <a:r>
              <a:rPr lang="en-US" dirty="0">
                <a:ea typeface="+mn-lt"/>
                <a:cs typeface="+mn-lt"/>
              </a:rPr>
              <a:t>2. Browse by Subject</a:t>
            </a:r>
            <a:endParaRPr lang="en-US" dirty="0"/>
          </a:p>
          <a:p>
            <a:r>
              <a:rPr lang="en-US" dirty="0">
                <a:ea typeface="+mn-lt"/>
                <a:cs typeface="+mn-lt"/>
              </a:rPr>
              <a:t>3. Browse by Year</a:t>
            </a:r>
            <a:endParaRPr lang="en-US" dirty="0"/>
          </a:p>
          <a:p>
            <a:r>
              <a:rPr lang="en-US" dirty="0">
                <a:ea typeface="+mn-lt"/>
                <a:cs typeface="+mn-lt"/>
              </a:rPr>
              <a:t>4. Browse by Department</a:t>
            </a:r>
            <a:endParaRPr lang="en-US" dirty="0"/>
          </a:p>
          <a:p>
            <a:r>
              <a:rPr lang="en-US" dirty="0">
                <a:ea typeface="+mn-lt"/>
                <a:cs typeface="+mn-lt"/>
              </a:rPr>
              <a:t>5. View My Downloads</a:t>
            </a:r>
            <a:endParaRPr lang="en-US" dirty="0"/>
          </a:p>
          <a:p>
            <a:r>
              <a:rPr lang="en-US" dirty="0">
                <a:ea typeface="+mn-lt"/>
                <a:cs typeface="+mn-lt"/>
              </a:rPr>
              <a:t>6. Download Question Paper</a:t>
            </a:r>
            <a:endParaRPr lang="en-US" dirty="0"/>
          </a:p>
          <a:p>
            <a:r>
              <a:rPr lang="en-US" dirty="0">
                <a:ea typeface="+mn-lt"/>
                <a:cs typeface="+mn-lt"/>
              </a:rPr>
              <a:t>7. Logout</a:t>
            </a:r>
            <a:endParaRPr lang="en-US" dirty="0"/>
          </a:p>
          <a:p>
            <a:r>
              <a:rPr lang="en-US" dirty="0">
                <a:ea typeface="+mn-lt"/>
                <a:cs typeface="+mn-lt"/>
              </a:rPr>
              <a:t>INPUT student choice</a:t>
            </a:r>
          </a:p>
          <a:p>
            <a:r>
              <a:rPr lang="en-US" dirty="0">
                <a:ea typeface="+mn-lt"/>
                <a:cs typeface="+mn-lt"/>
              </a:rPr>
              <a:t>step 15: IF student choice = 1 (Search)</a:t>
            </a:r>
            <a:endParaRPr lang="en-US" dirty="0"/>
          </a:p>
          <a:p>
            <a:r>
              <a:rPr lang="en-US" dirty="0">
                <a:ea typeface="+mn-lt"/>
                <a:cs typeface="+mn-lt"/>
              </a:rPr>
              <a:t>INPUT search </a:t>
            </a:r>
            <a:r>
              <a:rPr lang="en-US" dirty="0" err="1">
                <a:ea typeface="+mn-lt"/>
                <a:cs typeface="+mn-lt"/>
              </a:rPr>
              <a:t>creterai</a:t>
            </a:r>
            <a:r>
              <a:rPr lang="en-US" dirty="0">
                <a:ea typeface="+mn-lt"/>
                <a:cs typeface="+mn-lt"/>
              </a:rPr>
              <a:t>+</a:t>
            </a:r>
            <a:endParaRPr lang="en-US" dirty="0">
              <a:ea typeface="Calibri"/>
              <a:cs typeface="Calibri"/>
            </a:endParaRPr>
          </a:p>
        </p:txBody>
      </p:sp>
      <p:sp>
        <p:nvSpPr>
          <p:cNvPr id="2" name="TextBox 1">
            <a:extLst>
              <a:ext uri="{FF2B5EF4-FFF2-40B4-BE49-F238E27FC236}">
                <a16:creationId xmlns:a16="http://schemas.microsoft.com/office/drawing/2014/main" id="{02C4B00C-5447-B587-ACAE-7552A4762945}"/>
              </a:ext>
            </a:extLst>
          </p:cNvPr>
          <p:cNvSpPr txBox="1"/>
          <p:nvPr/>
        </p:nvSpPr>
        <p:spPr>
          <a:xfrm>
            <a:off x="344789" y="3343759"/>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Black" panose="020B0A04020102020204" pitchFamily="34" charset="0"/>
              </a:rPr>
              <a:t>Step 15</a:t>
            </a:r>
            <a:r>
              <a:rPr lang="en-US" dirty="0"/>
              <a:t>: IF student choice = 1 (Search) INPUT search criteria:</a:t>
            </a:r>
          </a:p>
          <a:p>
            <a:r>
              <a:rPr lang="en-US" dirty="0"/>
              <a:t>    Keyword </a:t>
            </a:r>
          </a:p>
          <a:p>
            <a:r>
              <a:rPr lang="en-US" dirty="0"/>
              <a:t>    Subject</a:t>
            </a:r>
          </a:p>
          <a:p>
            <a:r>
              <a:rPr lang="en-US" dirty="0"/>
              <a:t>    year</a:t>
            </a:r>
          </a:p>
          <a:p>
            <a:r>
              <a:rPr lang="en-US" dirty="0"/>
              <a:t>    Semester</a:t>
            </a:r>
          </a:p>
          <a:p>
            <a:r>
              <a:rPr lang="en-US" dirty="0"/>
              <a:t>    Department</a:t>
            </a:r>
          </a:p>
          <a:p>
            <a:r>
              <a:rPr lang="en-US" dirty="0"/>
              <a:t>    SEARCH database with filters</a:t>
            </a:r>
          </a:p>
          <a:p>
            <a:r>
              <a:rPr lang="en-US" dirty="0"/>
              <a:t>    Display matching results</a:t>
            </a:r>
          </a:p>
          <a:p>
            <a:r>
              <a:rPr lang="en-US" dirty="0"/>
              <a:t>    GOTO Step 14 </a:t>
            </a:r>
          </a:p>
          <a:p>
            <a:r>
              <a:rPr lang="en-US" dirty="0"/>
              <a:t>Step 16: ELSE IF student choice = 2 (Browse by Subject)  </a:t>
            </a:r>
          </a:p>
          <a:p>
            <a:pPr algn="ctr"/>
            <a:endParaRPr lang="en-US" dirty="0"/>
          </a:p>
        </p:txBody>
      </p:sp>
      <p:sp>
        <p:nvSpPr>
          <p:cNvPr id="3" name="Flowchart: Connector 2">
            <a:extLst>
              <a:ext uri="{FF2B5EF4-FFF2-40B4-BE49-F238E27FC236}">
                <a16:creationId xmlns:a16="http://schemas.microsoft.com/office/drawing/2014/main" id="{D8F0E844-5C93-0F34-E5E2-9E5FE5556700}"/>
              </a:ext>
            </a:extLst>
          </p:cNvPr>
          <p:cNvSpPr/>
          <p:nvPr/>
        </p:nvSpPr>
        <p:spPr>
          <a:xfrm>
            <a:off x="372668" y="3758497"/>
            <a:ext cx="12732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lowchart: Connector 3">
            <a:extLst>
              <a:ext uri="{FF2B5EF4-FFF2-40B4-BE49-F238E27FC236}">
                <a16:creationId xmlns:a16="http://schemas.microsoft.com/office/drawing/2014/main" id="{F89AFB6A-5B79-3B54-F847-67453CBA7CCB}"/>
              </a:ext>
            </a:extLst>
          </p:cNvPr>
          <p:cNvSpPr/>
          <p:nvPr/>
        </p:nvSpPr>
        <p:spPr>
          <a:xfrm>
            <a:off x="366881" y="4008575"/>
            <a:ext cx="12732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lowchart: Connector 4">
            <a:extLst>
              <a:ext uri="{FF2B5EF4-FFF2-40B4-BE49-F238E27FC236}">
                <a16:creationId xmlns:a16="http://schemas.microsoft.com/office/drawing/2014/main" id="{801A097B-D345-F447-6A6A-1332A8E93779}"/>
              </a:ext>
            </a:extLst>
          </p:cNvPr>
          <p:cNvSpPr/>
          <p:nvPr/>
        </p:nvSpPr>
        <p:spPr>
          <a:xfrm>
            <a:off x="366881" y="4305782"/>
            <a:ext cx="12732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lowchart: Connector 5">
            <a:extLst>
              <a:ext uri="{FF2B5EF4-FFF2-40B4-BE49-F238E27FC236}">
                <a16:creationId xmlns:a16="http://schemas.microsoft.com/office/drawing/2014/main" id="{68C11E96-C6EF-6B15-2E4C-6B3A2E5D5FF8}"/>
              </a:ext>
            </a:extLst>
          </p:cNvPr>
          <p:cNvSpPr/>
          <p:nvPr/>
        </p:nvSpPr>
        <p:spPr>
          <a:xfrm flipH="1">
            <a:off x="366880" y="4571958"/>
            <a:ext cx="133109"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lowchart: Connector 6">
            <a:extLst>
              <a:ext uri="{FF2B5EF4-FFF2-40B4-BE49-F238E27FC236}">
                <a16:creationId xmlns:a16="http://schemas.microsoft.com/office/drawing/2014/main" id="{821CCFD0-C3E6-5D00-026C-839D77A15131}"/>
              </a:ext>
            </a:extLst>
          </p:cNvPr>
          <p:cNvSpPr/>
          <p:nvPr/>
        </p:nvSpPr>
        <p:spPr>
          <a:xfrm>
            <a:off x="365652" y="4827518"/>
            <a:ext cx="12732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lowchart: Connector 7">
            <a:extLst>
              <a:ext uri="{FF2B5EF4-FFF2-40B4-BE49-F238E27FC236}">
                <a16:creationId xmlns:a16="http://schemas.microsoft.com/office/drawing/2014/main" id="{122E9B5B-465F-1C1D-1037-9B631A269159}"/>
              </a:ext>
            </a:extLst>
          </p:cNvPr>
          <p:cNvSpPr/>
          <p:nvPr/>
        </p:nvSpPr>
        <p:spPr>
          <a:xfrm flipH="1">
            <a:off x="372668" y="5116764"/>
            <a:ext cx="12732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Connector 8">
            <a:extLst>
              <a:ext uri="{FF2B5EF4-FFF2-40B4-BE49-F238E27FC236}">
                <a16:creationId xmlns:a16="http://schemas.microsoft.com/office/drawing/2014/main" id="{685D81EA-604A-80A8-65DC-578455C47277}"/>
              </a:ext>
            </a:extLst>
          </p:cNvPr>
          <p:cNvSpPr/>
          <p:nvPr/>
        </p:nvSpPr>
        <p:spPr>
          <a:xfrm>
            <a:off x="370218" y="5386031"/>
            <a:ext cx="127322"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lowchart: Connector 11">
            <a:extLst>
              <a:ext uri="{FF2B5EF4-FFF2-40B4-BE49-F238E27FC236}">
                <a16:creationId xmlns:a16="http://schemas.microsoft.com/office/drawing/2014/main" id="{1EB24640-C93C-73E8-0787-7D35939A1BEC}"/>
              </a:ext>
            </a:extLst>
          </p:cNvPr>
          <p:cNvSpPr/>
          <p:nvPr/>
        </p:nvSpPr>
        <p:spPr>
          <a:xfrm>
            <a:off x="372668" y="5655298"/>
            <a:ext cx="127321" cy="10417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3515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3D3BA4-F39E-1C6E-D4B2-846D298C81F5}"/>
              </a:ext>
            </a:extLst>
          </p:cNvPr>
          <p:cNvSpPr txBox="1"/>
          <p:nvPr/>
        </p:nvSpPr>
        <p:spPr>
          <a:xfrm>
            <a:off x="428511" y="311147"/>
            <a:ext cx="12015020" cy="5632311"/>
          </a:xfrm>
          <a:prstGeom prst="rect">
            <a:avLst/>
          </a:prstGeom>
          <a:noFill/>
        </p:spPr>
        <p:txBody>
          <a:bodyPr wrap="square" rtlCol="0">
            <a:spAutoFit/>
          </a:bodyPr>
          <a:lstStyle/>
          <a:p>
            <a:r>
              <a:rPr lang="en-US" sz="2000" dirty="0"/>
              <a:t>        Display list of all subjects</a:t>
            </a:r>
          </a:p>
          <a:p>
            <a:r>
              <a:rPr lang="en-US" sz="2000" dirty="0"/>
              <a:t>        SELECT subject</a:t>
            </a:r>
          </a:p>
          <a:p>
            <a:r>
              <a:rPr lang="en-US" sz="2000" dirty="0"/>
              <a:t>        Display all papers for that subject</a:t>
            </a:r>
          </a:p>
          <a:p>
            <a:r>
              <a:rPr lang="en-US" sz="2000" dirty="0"/>
              <a:t>        GOTO Step 14</a:t>
            </a:r>
          </a:p>
          <a:p>
            <a:r>
              <a:rPr lang="en-US" sz="2000" dirty="0">
                <a:latin typeface="Arial Black" panose="020B0A04020102020204" pitchFamily="34" charset="0"/>
              </a:rPr>
              <a:t>Step 17</a:t>
            </a:r>
            <a:r>
              <a:rPr lang="en-US" sz="2000" dirty="0"/>
              <a:t>: ELSE IF student choice = 3 (Browse by Year)</a:t>
            </a:r>
          </a:p>
          <a:p>
            <a:r>
              <a:rPr lang="en-US" sz="2000" dirty="0"/>
              <a:t>        Display list of available years</a:t>
            </a:r>
          </a:p>
          <a:p>
            <a:r>
              <a:rPr lang="en-US" sz="2000" dirty="0"/>
              <a:t>        SELECT year</a:t>
            </a:r>
          </a:p>
          <a:p>
            <a:r>
              <a:rPr lang="en-US" sz="2000" dirty="0"/>
              <a:t>        Display all papers for that year</a:t>
            </a:r>
          </a:p>
          <a:p>
            <a:r>
              <a:rPr lang="en-US" sz="2000" dirty="0"/>
              <a:t>        GOTO Step 14</a:t>
            </a:r>
          </a:p>
          <a:p>
            <a:r>
              <a:rPr lang="en-US" sz="2000" dirty="0">
                <a:latin typeface="Arial Black" panose="020B0A04020102020204" pitchFamily="34" charset="0"/>
              </a:rPr>
              <a:t>Step 18</a:t>
            </a:r>
            <a:r>
              <a:rPr lang="en-US" sz="2000" dirty="0"/>
              <a:t>: ELSE IF student choice = 4 (Browse by Department)</a:t>
            </a:r>
          </a:p>
          <a:p>
            <a:r>
              <a:rPr lang="en-US" sz="2000" dirty="0"/>
              <a:t>        Display list of departments</a:t>
            </a:r>
          </a:p>
          <a:p>
            <a:r>
              <a:rPr lang="en-US" sz="2000" dirty="0"/>
              <a:t>        SELECT department</a:t>
            </a:r>
          </a:p>
          <a:p>
            <a:r>
              <a:rPr lang="en-US" sz="2000" dirty="0"/>
              <a:t>        Display all papers for that department</a:t>
            </a:r>
          </a:p>
          <a:p>
            <a:r>
              <a:rPr lang="en-US" sz="2000" dirty="0"/>
              <a:t>       GOTO Step 14</a:t>
            </a:r>
          </a:p>
          <a:p>
            <a:r>
              <a:rPr lang="en-US" sz="2000" dirty="0">
                <a:latin typeface="Arial Black" panose="020B0A04020102020204" pitchFamily="34" charset="0"/>
              </a:rPr>
              <a:t>Step 19</a:t>
            </a:r>
            <a:r>
              <a:rPr lang="en-US" sz="2000" dirty="0"/>
              <a:t>: ELSE IF student choice = 5 (View My Downloads)</a:t>
            </a:r>
          </a:p>
          <a:p>
            <a:r>
              <a:rPr lang="en-US" sz="2000" dirty="0"/>
              <a:t>       RETRIEVE download history for logged-in student</a:t>
            </a:r>
          </a:p>
          <a:p>
            <a:r>
              <a:rPr lang="en-US" sz="2000" dirty="0"/>
              <a:t>       Display list with download dates</a:t>
            </a:r>
          </a:p>
          <a:p>
            <a:r>
              <a:rPr lang="en-US" sz="2000" dirty="0"/>
              <a:t>       GOTO Step 14.    </a:t>
            </a:r>
            <a:endParaRPr lang="en-IN" sz="2000" dirty="0"/>
          </a:p>
        </p:txBody>
      </p:sp>
      <p:sp>
        <p:nvSpPr>
          <p:cNvPr id="8" name="Flowchart: Connector 7">
            <a:extLst>
              <a:ext uri="{FF2B5EF4-FFF2-40B4-BE49-F238E27FC236}">
                <a16:creationId xmlns:a16="http://schemas.microsoft.com/office/drawing/2014/main" id="{5A5C30AE-2D42-723B-3BDB-4E47212EEA9E}"/>
              </a:ext>
            </a:extLst>
          </p:cNvPr>
          <p:cNvSpPr/>
          <p:nvPr/>
        </p:nvSpPr>
        <p:spPr>
          <a:xfrm>
            <a:off x="706057" y="1331513"/>
            <a:ext cx="138897" cy="1388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Connector 8">
            <a:extLst>
              <a:ext uri="{FF2B5EF4-FFF2-40B4-BE49-F238E27FC236}">
                <a16:creationId xmlns:a16="http://schemas.microsoft.com/office/drawing/2014/main" id="{88875CD2-FEE8-4755-3BBA-2054C828E5B1}"/>
              </a:ext>
            </a:extLst>
          </p:cNvPr>
          <p:cNvSpPr/>
          <p:nvPr/>
        </p:nvSpPr>
        <p:spPr>
          <a:xfrm>
            <a:off x="694482" y="1968404"/>
            <a:ext cx="138897" cy="1388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Connector 9">
            <a:extLst>
              <a:ext uri="{FF2B5EF4-FFF2-40B4-BE49-F238E27FC236}">
                <a16:creationId xmlns:a16="http://schemas.microsoft.com/office/drawing/2014/main" id="{B8FBF9DA-D0E8-7799-8DF6-E220FE5BE25D}"/>
              </a:ext>
            </a:extLst>
          </p:cNvPr>
          <p:cNvSpPr/>
          <p:nvPr/>
        </p:nvSpPr>
        <p:spPr>
          <a:xfrm>
            <a:off x="706057" y="775645"/>
            <a:ext cx="127322"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Flowchart: Connector 10">
            <a:extLst>
              <a:ext uri="{FF2B5EF4-FFF2-40B4-BE49-F238E27FC236}">
                <a16:creationId xmlns:a16="http://schemas.microsoft.com/office/drawing/2014/main" id="{5975315E-8466-76A1-CB4E-F04F9F6906CF}"/>
              </a:ext>
            </a:extLst>
          </p:cNvPr>
          <p:cNvSpPr/>
          <p:nvPr/>
        </p:nvSpPr>
        <p:spPr>
          <a:xfrm>
            <a:off x="706057" y="1053579"/>
            <a:ext cx="127322"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lowchart: Connector 11">
            <a:extLst>
              <a:ext uri="{FF2B5EF4-FFF2-40B4-BE49-F238E27FC236}">
                <a16:creationId xmlns:a16="http://schemas.microsoft.com/office/drawing/2014/main" id="{BC06C84E-4050-21F8-023E-A7D9E3CFCE01}"/>
              </a:ext>
            </a:extLst>
          </p:cNvPr>
          <p:cNvSpPr/>
          <p:nvPr/>
        </p:nvSpPr>
        <p:spPr>
          <a:xfrm>
            <a:off x="711843" y="2245678"/>
            <a:ext cx="133110" cy="148878"/>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lowchart: Connector 12">
            <a:extLst>
              <a:ext uri="{FF2B5EF4-FFF2-40B4-BE49-F238E27FC236}">
                <a16:creationId xmlns:a16="http://schemas.microsoft.com/office/drawing/2014/main" id="{FFE4037F-3B70-3998-E604-1973D5E5208C}"/>
              </a:ext>
            </a:extLst>
          </p:cNvPr>
          <p:cNvSpPr/>
          <p:nvPr/>
        </p:nvSpPr>
        <p:spPr>
          <a:xfrm>
            <a:off x="711844" y="2902830"/>
            <a:ext cx="138897" cy="1388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lowchart: Connector 13">
            <a:extLst>
              <a:ext uri="{FF2B5EF4-FFF2-40B4-BE49-F238E27FC236}">
                <a16:creationId xmlns:a16="http://schemas.microsoft.com/office/drawing/2014/main" id="{B945B54F-D51C-6EBF-01C5-84CB1DDE73D0}"/>
              </a:ext>
            </a:extLst>
          </p:cNvPr>
          <p:cNvSpPr/>
          <p:nvPr/>
        </p:nvSpPr>
        <p:spPr>
          <a:xfrm>
            <a:off x="706057" y="428262"/>
            <a:ext cx="127322"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lowchart: Connector 14">
            <a:extLst>
              <a:ext uri="{FF2B5EF4-FFF2-40B4-BE49-F238E27FC236}">
                <a16:creationId xmlns:a16="http://schemas.microsoft.com/office/drawing/2014/main" id="{6F053D7B-65AD-6CE4-360C-6662CF1BE409}"/>
              </a:ext>
            </a:extLst>
          </p:cNvPr>
          <p:cNvSpPr/>
          <p:nvPr/>
        </p:nvSpPr>
        <p:spPr>
          <a:xfrm>
            <a:off x="694482" y="2528853"/>
            <a:ext cx="138896" cy="13790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lowchart: Connector 15">
            <a:extLst>
              <a:ext uri="{FF2B5EF4-FFF2-40B4-BE49-F238E27FC236}">
                <a16:creationId xmlns:a16="http://schemas.microsoft.com/office/drawing/2014/main" id="{8D155A6E-8FC7-9546-DA6A-E7A26A44D283}"/>
              </a:ext>
            </a:extLst>
          </p:cNvPr>
          <p:cNvSpPr/>
          <p:nvPr/>
        </p:nvSpPr>
        <p:spPr>
          <a:xfrm>
            <a:off x="694482" y="3419268"/>
            <a:ext cx="150471"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Connector 16">
            <a:extLst>
              <a:ext uri="{FF2B5EF4-FFF2-40B4-BE49-F238E27FC236}">
                <a16:creationId xmlns:a16="http://schemas.microsoft.com/office/drawing/2014/main" id="{DBCB6E27-A681-1935-8C7B-39F3D3CAD055}"/>
              </a:ext>
            </a:extLst>
          </p:cNvPr>
          <p:cNvSpPr/>
          <p:nvPr/>
        </p:nvSpPr>
        <p:spPr>
          <a:xfrm>
            <a:off x="711844" y="3678490"/>
            <a:ext cx="138897" cy="1388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lowchart: Connector 17">
            <a:extLst>
              <a:ext uri="{FF2B5EF4-FFF2-40B4-BE49-F238E27FC236}">
                <a16:creationId xmlns:a16="http://schemas.microsoft.com/office/drawing/2014/main" id="{B79C7DF6-6C4C-4EEA-0D49-745B2537523B}"/>
              </a:ext>
            </a:extLst>
          </p:cNvPr>
          <p:cNvSpPr/>
          <p:nvPr/>
        </p:nvSpPr>
        <p:spPr>
          <a:xfrm>
            <a:off x="717631" y="4392937"/>
            <a:ext cx="138897" cy="1388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Flowchart: Connector 18">
            <a:extLst>
              <a:ext uri="{FF2B5EF4-FFF2-40B4-BE49-F238E27FC236}">
                <a16:creationId xmlns:a16="http://schemas.microsoft.com/office/drawing/2014/main" id="{E5BF8061-F75C-F3E8-921D-045B035E7451}"/>
              </a:ext>
            </a:extLst>
          </p:cNvPr>
          <p:cNvSpPr/>
          <p:nvPr/>
        </p:nvSpPr>
        <p:spPr>
          <a:xfrm>
            <a:off x="682907" y="5019466"/>
            <a:ext cx="150471"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Connector 19">
            <a:extLst>
              <a:ext uri="{FF2B5EF4-FFF2-40B4-BE49-F238E27FC236}">
                <a16:creationId xmlns:a16="http://schemas.microsoft.com/office/drawing/2014/main" id="{68A11E20-3722-E61D-8627-629ED64FC471}"/>
              </a:ext>
            </a:extLst>
          </p:cNvPr>
          <p:cNvSpPr/>
          <p:nvPr/>
        </p:nvSpPr>
        <p:spPr>
          <a:xfrm>
            <a:off x="717631" y="4060129"/>
            <a:ext cx="127322" cy="1388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Connector 20">
            <a:extLst>
              <a:ext uri="{FF2B5EF4-FFF2-40B4-BE49-F238E27FC236}">
                <a16:creationId xmlns:a16="http://schemas.microsoft.com/office/drawing/2014/main" id="{4D419715-5AEC-3E13-7E74-3BAC29233567}"/>
              </a:ext>
            </a:extLst>
          </p:cNvPr>
          <p:cNvSpPr/>
          <p:nvPr/>
        </p:nvSpPr>
        <p:spPr>
          <a:xfrm>
            <a:off x="706057" y="5635774"/>
            <a:ext cx="133110" cy="1342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lowchart: Connector 21">
            <a:extLst>
              <a:ext uri="{FF2B5EF4-FFF2-40B4-BE49-F238E27FC236}">
                <a16:creationId xmlns:a16="http://schemas.microsoft.com/office/drawing/2014/main" id="{4737B549-0940-91E2-D480-3BD1F0DE692F}"/>
              </a:ext>
            </a:extLst>
          </p:cNvPr>
          <p:cNvSpPr/>
          <p:nvPr/>
        </p:nvSpPr>
        <p:spPr>
          <a:xfrm>
            <a:off x="706057" y="5317084"/>
            <a:ext cx="133110" cy="13429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0898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3EA7B-8646-2E01-BF1B-C95E49AE997A}"/>
              </a:ext>
            </a:extLst>
          </p:cNvPr>
          <p:cNvSpPr txBox="1"/>
          <p:nvPr/>
        </p:nvSpPr>
        <p:spPr>
          <a:xfrm>
            <a:off x="393290" y="154113"/>
            <a:ext cx="11798710" cy="6247864"/>
          </a:xfrm>
          <a:prstGeom prst="rect">
            <a:avLst/>
          </a:prstGeom>
          <a:noFill/>
        </p:spPr>
        <p:txBody>
          <a:bodyPr wrap="square" rtlCol="0">
            <a:spAutoFit/>
          </a:bodyPr>
          <a:lstStyle/>
          <a:p>
            <a:r>
              <a:rPr lang="en-IN" sz="2000" dirty="0">
                <a:latin typeface="Arial Black" panose="020B0A04020102020204" pitchFamily="34" charset="0"/>
              </a:rPr>
              <a:t>Step 20: </a:t>
            </a:r>
            <a:r>
              <a:rPr lang="en-IN" sz="2000" dirty="0"/>
              <a:t>ELSE IF student choice = 6 (Download)</a:t>
            </a:r>
          </a:p>
          <a:p>
            <a:r>
              <a:rPr lang="en-IN" sz="2000" dirty="0"/>
              <a:t>       Display available question papers</a:t>
            </a:r>
          </a:p>
          <a:p>
            <a:r>
              <a:rPr lang="en-IN" sz="2000" dirty="0"/>
              <a:t>       INPUT paper ID to download</a:t>
            </a:r>
          </a:p>
          <a:p>
            <a:r>
              <a:rPr lang="en-IN" sz="2000" dirty="0"/>
              <a:t>       RETRIEVE file from server</a:t>
            </a:r>
          </a:p>
          <a:p>
            <a:r>
              <a:rPr lang="en-IN" sz="2000" dirty="0"/>
              <a:t>       INCREMENT download counter</a:t>
            </a:r>
          </a:p>
          <a:p>
            <a:r>
              <a:rPr lang="en-IN" sz="2000" dirty="0"/>
              <a:t>       RECORD download in student history</a:t>
            </a:r>
          </a:p>
          <a:p>
            <a:r>
              <a:rPr lang="en-IN" sz="2000" dirty="0"/>
              <a:t>      DOWNLOAD file</a:t>
            </a:r>
          </a:p>
          <a:p>
            <a:r>
              <a:rPr lang="en-IN" sz="2000" dirty="0"/>
              <a:t>      Display "Download Successful“</a:t>
            </a:r>
          </a:p>
          <a:p>
            <a:r>
              <a:rPr lang="en-IN" sz="2000" dirty="0"/>
              <a:t>      GOTO Step 14</a:t>
            </a:r>
          </a:p>
          <a:p>
            <a:r>
              <a:rPr lang="en-IN" sz="2000" dirty="0">
                <a:latin typeface="Arial Black" panose="020B0A04020102020204" pitchFamily="34" charset="0"/>
              </a:rPr>
              <a:t>Step 21: </a:t>
            </a:r>
            <a:r>
              <a:rPr lang="en-IN" sz="2000" dirty="0"/>
              <a:t>ELSE IF student choice = 7</a:t>
            </a:r>
          </a:p>
          <a:p>
            <a:r>
              <a:rPr lang="en-IN" sz="2000" dirty="0"/>
              <a:t>       Logout</a:t>
            </a:r>
          </a:p>
          <a:p>
            <a:r>
              <a:rPr lang="en-IN" sz="2000" dirty="0"/>
              <a:t>      GOTO Step 2</a:t>
            </a:r>
          </a:p>
          <a:p>
            <a:r>
              <a:rPr lang="en-IN" sz="2000" dirty="0">
                <a:latin typeface="Arial Black" panose="020B0A04020102020204" pitchFamily="34" charset="0"/>
              </a:rPr>
              <a:t>Step 22: </a:t>
            </a:r>
            <a:r>
              <a:rPr lang="en-IN" sz="2000" dirty="0"/>
              <a:t>IF choice = 3 (Register New Student)</a:t>
            </a:r>
          </a:p>
          <a:p>
            <a:r>
              <a:rPr lang="en-IN" sz="2000" dirty="0"/>
              <a:t>      INPUT student details:</a:t>
            </a:r>
          </a:p>
          <a:p>
            <a:r>
              <a:rPr lang="en-IN" sz="2000" dirty="0"/>
              <a:t>     1.   Name</a:t>
            </a:r>
          </a:p>
          <a:p>
            <a:r>
              <a:rPr lang="en-IN" sz="2000" dirty="0"/>
              <a:t>     2.   Roll Number</a:t>
            </a:r>
          </a:p>
          <a:p>
            <a:r>
              <a:rPr lang="en-IN" sz="2000" dirty="0"/>
              <a:t>     3.   Department</a:t>
            </a:r>
          </a:p>
          <a:p>
            <a:r>
              <a:rPr lang="en-IN" sz="2000" dirty="0"/>
              <a:t>     4.   Semester</a:t>
            </a:r>
          </a:p>
          <a:p>
            <a:r>
              <a:rPr lang="en-IN" sz="2000" dirty="0"/>
              <a:t>     5.   Email </a:t>
            </a:r>
          </a:p>
          <a:p>
            <a:r>
              <a:rPr lang="en-IN" sz="2000" dirty="0"/>
              <a:t>     6.   VALIDATE all fields </a:t>
            </a:r>
          </a:p>
        </p:txBody>
      </p:sp>
      <p:sp>
        <p:nvSpPr>
          <p:cNvPr id="3" name="Flowchart: Connector 2">
            <a:extLst>
              <a:ext uri="{FF2B5EF4-FFF2-40B4-BE49-F238E27FC236}">
                <a16:creationId xmlns:a16="http://schemas.microsoft.com/office/drawing/2014/main" id="{6747C6A6-C38B-E3D0-E6C9-BB1EDB265169}"/>
              </a:ext>
            </a:extLst>
          </p:cNvPr>
          <p:cNvSpPr/>
          <p:nvPr/>
        </p:nvSpPr>
        <p:spPr>
          <a:xfrm>
            <a:off x="561371" y="2129742"/>
            <a:ext cx="127321" cy="11574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lowchart: Connector 4">
            <a:extLst>
              <a:ext uri="{FF2B5EF4-FFF2-40B4-BE49-F238E27FC236}">
                <a16:creationId xmlns:a16="http://schemas.microsoft.com/office/drawing/2014/main" id="{1910AE3A-5EEC-6930-85CF-83DD48650965}"/>
              </a:ext>
            </a:extLst>
          </p:cNvPr>
          <p:cNvSpPr/>
          <p:nvPr/>
        </p:nvSpPr>
        <p:spPr>
          <a:xfrm>
            <a:off x="567159" y="1823013"/>
            <a:ext cx="127321" cy="12732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lowchart: Connector 5">
            <a:extLst>
              <a:ext uri="{FF2B5EF4-FFF2-40B4-BE49-F238E27FC236}">
                <a16:creationId xmlns:a16="http://schemas.microsoft.com/office/drawing/2014/main" id="{D94F1C42-853B-F760-4D3D-4F4D43867874}"/>
              </a:ext>
            </a:extLst>
          </p:cNvPr>
          <p:cNvSpPr/>
          <p:nvPr/>
        </p:nvSpPr>
        <p:spPr>
          <a:xfrm>
            <a:off x="544008" y="2713404"/>
            <a:ext cx="150471" cy="15047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Flowchart: Connector 6">
            <a:extLst>
              <a:ext uri="{FF2B5EF4-FFF2-40B4-BE49-F238E27FC236}">
                <a16:creationId xmlns:a16="http://schemas.microsoft.com/office/drawing/2014/main" id="{FF737EAD-3E03-FD5C-0D55-F76AC76A4299}"/>
              </a:ext>
            </a:extLst>
          </p:cNvPr>
          <p:cNvSpPr/>
          <p:nvPr/>
        </p:nvSpPr>
        <p:spPr>
          <a:xfrm>
            <a:off x="528580" y="2424896"/>
            <a:ext cx="150470" cy="124428"/>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Flowchart: Connector 7">
            <a:extLst>
              <a:ext uri="{FF2B5EF4-FFF2-40B4-BE49-F238E27FC236}">
                <a16:creationId xmlns:a16="http://schemas.microsoft.com/office/drawing/2014/main" id="{0C169840-729E-DCF6-5873-B32F7715F5F9}"/>
              </a:ext>
            </a:extLst>
          </p:cNvPr>
          <p:cNvSpPr/>
          <p:nvPr/>
        </p:nvSpPr>
        <p:spPr>
          <a:xfrm>
            <a:off x="567159" y="1551008"/>
            <a:ext cx="138897" cy="12732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lowchart: Connector 8">
            <a:extLst>
              <a:ext uri="{FF2B5EF4-FFF2-40B4-BE49-F238E27FC236}">
                <a16:creationId xmlns:a16="http://schemas.microsoft.com/office/drawing/2014/main" id="{F38A44BC-7EB9-1848-4EEE-7275F2BA69B5}"/>
              </a:ext>
            </a:extLst>
          </p:cNvPr>
          <p:cNvSpPr/>
          <p:nvPr/>
        </p:nvSpPr>
        <p:spPr>
          <a:xfrm>
            <a:off x="551728" y="895966"/>
            <a:ext cx="127322" cy="12367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lowchart: Connector 9">
            <a:extLst>
              <a:ext uri="{FF2B5EF4-FFF2-40B4-BE49-F238E27FC236}">
                <a16:creationId xmlns:a16="http://schemas.microsoft.com/office/drawing/2014/main" id="{8D9B4C7F-5F73-001C-7804-643EE87480DA}"/>
              </a:ext>
            </a:extLst>
          </p:cNvPr>
          <p:cNvSpPr/>
          <p:nvPr/>
        </p:nvSpPr>
        <p:spPr>
          <a:xfrm>
            <a:off x="572946" y="1197980"/>
            <a:ext cx="127321" cy="127322"/>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lowchart: Connector 12">
            <a:extLst>
              <a:ext uri="{FF2B5EF4-FFF2-40B4-BE49-F238E27FC236}">
                <a16:creationId xmlns:a16="http://schemas.microsoft.com/office/drawing/2014/main" id="{9A277E45-45C8-B66B-5AE2-51FAE16B5EE8}"/>
              </a:ext>
            </a:extLst>
          </p:cNvPr>
          <p:cNvSpPr/>
          <p:nvPr/>
        </p:nvSpPr>
        <p:spPr>
          <a:xfrm>
            <a:off x="544009" y="3284317"/>
            <a:ext cx="135042" cy="144684"/>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lowchart: Connector 13">
            <a:extLst>
              <a:ext uri="{FF2B5EF4-FFF2-40B4-BE49-F238E27FC236}">
                <a16:creationId xmlns:a16="http://schemas.microsoft.com/office/drawing/2014/main" id="{97F16113-AE71-CCC8-5E79-BCAB9BEAB848}"/>
              </a:ext>
            </a:extLst>
          </p:cNvPr>
          <p:cNvSpPr/>
          <p:nvPr/>
        </p:nvSpPr>
        <p:spPr>
          <a:xfrm>
            <a:off x="578734" y="555585"/>
            <a:ext cx="138897" cy="13889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lowchart: Connector 14">
            <a:extLst>
              <a:ext uri="{FF2B5EF4-FFF2-40B4-BE49-F238E27FC236}">
                <a16:creationId xmlns:a16="http://schemas.microsoft.com/office/drawing/2014/main" id="{587B41BA-2B5B-2CFA-C064-9D771438B12D}"/>
              </a:ext>
            </a:extLst>
          </p:cNvPr>
          <p:cNvSpPr/>
          <p:nvPr/>
        </p:nvSpPr>
        <p:spPr>
          <a:xfrm>
            <a:off x="544009" y="3617088"/>
            <a:ext cx="135042" cy="14468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lowchart: Connector 15">
            <a:extLst>
              <a:ext uri="{FF2B5EF4-FFF2-40B4-BE49-F238E27FC236}">
                <a16:creationId xmlns:a16="http://schemas.microsoft.com/office/drawing/2014/main" id="{A1942A89-B12F-39B6-D44B-B3D392D87FF1}"/>
              </a:ext>
            </a:extLst>
          </p:cNvPr>
          <p:cNvSpPr/>
          <p:nvPr/>
        </p:nvSpPr>
        <p:spPr>
          <a:xfrm>
            <a:off x="534367" y="4204503"/>
            <a:ext cx="150471" cy="15047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4077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558CCF-C1AB-CBA8-6379-B414CF45EB3A}"/>
              </a:ext>
            </a:extLst>
          </p:cNvPr>
          <p:cNvSpPr txBox="1"/>
          <p:nvPr/>
        </p:nvSpPr>
        <p:spPr>
          <a:xfrm>
            <a:off x="176981" y="235974"/>
            <a:ext cx="12015019" cy="3447098"/>
          </a:xfrm>
          <a:prstGeom prst="rect">
            <a:avLst/>
          </a:prstGeom>
          <a:noFill/>
        </p:spPr>
        <p:txBody>
          <a:bodyPr wrap="square" rtlCol="0">
            <a:spAutoFit/>
          </a:bodyPr>
          <a:lstStyle/>
          <a:p>
            <a:r>
              <a:rPr lang="en-IN" sz="2000" dirty="0"/>
              <a:t>       7.   CHECK if roll number already exists</a:t>
            </a:r>
          </a:p>
          <a:p>
            <a:r>
              <a:rPr lang="en-IN" sz="2000" dirty="0"/>
              <a:t>       8.   IF exists THEN</a:t>
            </a:r>
          </a:p>
          <a:p>
            <a:r>
              <a:rPr lang="en-IN" sz="2000" dirty="0"/>
              <a:t>       9.   Display “Already registered”</a:t>
            </a:r>
          </a:p>
          <a:p>
            <a:r>
              <a:rPr lang="en-IN" sz="2000" dirty="0"/>
              <a:t>      10.  ELSE</a:t>
            </a:r>
          </a:p>
          <a:p>
            <a:r>
              <a:rPr lang="en-IN" sz="2000" dirty="0"/>
              <a:t>      11.  STORE student details in database</a:t>
            </a:r>
          </a:p>
          <a:p>
            <a:r>
              <a:rPr lang="en-IN" sz="2000" dirty="0"/>
              <a:t>      12.  Display “Registration successful”</a:t>
            </a:r>
          </a:p>
          <a:p>
            <a:r>
              <a:rPr lang="en-IN" sz="2000" dirty="0"/>
              <a:t>      13.  GOTO STEP 2</a:t>
            </a:r>
          </a:p>
          <a:p>
            <a:r>
              <a:rPr lang="en-US" sz="2000" dirty="0">
                <a:latin typeface="Arial Black" panose="020B0A04020102020204" pitchFamily="34" charset="0"/>
              </a:rPr>
              <a:t>Step 23: </a:t>
            </a:r>
            <a:r>
              <a:rPr lang="en-US" sz="2000" dirty="0"/>
              <a:t>IF choice = 4</a:t>
            </a:r>
          </a:p>
          <a:p>
            <a:r>
              <a:rPr lang="en-US" sz="2000" dirty="0"/>
              <a:t>      EXIT system</a:t>
            </a:r>
          </a:p>
          <a:p>
            <a:r>
              <a:rPr lang="en-US" sz="2000" dirty="0">
                <a:latin typeface="Arial Black" panose="020B0A04020102020204" pitchFamily="34" charset="0"/>
              </a:rPr>
              <a:t>Step 24: </a:t>
            </a:r>
            <a:r>
              <a:rPr lang="en-US" sz="2000" dirty="0"/>
              <a:t>STOP</a:t>
            </a:r>
            <a:endParaRPr lang="en-IN" sz="2000" dirty="0"/>
          </a:p>
          <a:p>
            <a:endParaRPr lang="en-IN" dirty="0"/>
          </a:p>
        </p:txBody>
      </p:sp>
    </p:spTree>
    <p:extLst>
      <p:ext uri="{BB962C8B-B14F-4D97-AF65-F5344CB8AC3E}">
        <p14:creationId xmlns:p14="http://schemas.microsoft.com/office/powerpoint/2010/main" val="3497432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DE5BBD8-29DD-02AD-8AA1-8C0ACD4AB667}"/>
              </a:ext>
            </a:extLst>
          </p:cNvPr>
          <p:cNvSpPr>
            <a:spLocks noGrp="1"/>
          </p:cNvSpPr>
          <p:nvPr>
            <p:ph type="title"/>
          </p:nvPr>
        </p:nvSpPr>
        <p:spPr/>
        <p:txBody>
          <a:bodyPr/>
          <a:lstStyle/>
          <a:p>
            <a:r>
              <a:rPr lang="en-US" dirty="0">
                <a:latin typeface="Algerian" panose="04020705040A02060702" pitchFamily="82" charset="0"/>
              </a:rPr>
              <a:t>FLOWCHART</a:t>
            </a:r>
            <a:r>
              <a:rPr lang="en-US" dirty="0"/>
              <a:t> :</a:t>
            </a:r>
            <a:endParaRPr lang="en-IN" dirty="0"/>
          </a:p>
        </p:txBody>
      </p:sp>
      <p:sp>
        <p:nvSpPr>
          <p:cNvPr id="10" name="Oval 9">
            <a:extLst>
              <a:ext uri="{FF2B5EF4-FFF2-40B4-BE49-F238E27FC236}">
                <a16:creationId xmlns:a16="http://schemas.microsoft.com/office/drawing/2014/main" id="{9C88A7BB-D8B3-457C-26D1-4329E0352729}"/>
              </a:ext>
            </a:extLst>
          </p:cNvPr>
          <p:cNvSpPr/>
          <p:nvPr/>
        </p:nvSpPr>
        <p:spPr>
          <a:xfrm>
            <a:off x="4791919" y="2141316"/>
            <a:ext cx="1678329" cy="5671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endParaRPr lang="en-IN" dirty="0"/>
          </a:p>
        </p:txBody>
      </p:sp>
      <p:cxnSp>
        <p:nvCxnSpPr>
          <p:cNvPr id="15" name="Straight Arrow Connector 14">
            <a:extLst>
              <a:ext uri="{FF2B5EF4-FFF2-40B4-BE49-F238E27FC236}">
                <a16:creationId xmlns:a16="http://schemas.microsoft.com/office/drawing/2014/main" id="{42E070D8-B5D8-9BAC-69BD-24AD9D56D361}"/>
              </a:ext>
            </a:extLst>
          </p:cNvPr>
          <p:cNvCxnSpPr>
            <a:stCxn id="10" idx="4"/>
          </p:cNvCxnSpPr>
          <p:nvPr/>
        </p:nvCxnSpPr>
        <p:spPr>
          <a:xfrm>
            <a:off x="5631084" y="2708476"/>
            <a:ext cx="5787" cy="416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Flowchart: Data 15">
            <a:extLst>
              <a:ext uri="{FF2B5EF4-FFF2-40B4-BE49-F238E27FC236}">
                <a16:creationId xmlns:a16="http://schemas.microsoft.com/office/drawing/2014/main" id="{B0B5A1FA-2E34-66E4-A00D-C96B88E4A3CD}"/>
              </a:ext>
            </a:extLst>
          </p:cNvPr>
          <p:cNvSpPr/>
          <p:nvPr/>
        </p:nvSpPr>
        <p:spPr>
          <a:xfrm>
            <a:off x="4178460" y="3125165"/>
            <a:ext cx="2673752" cy="853633"/>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Menu</a:t>
            </a:r>
            <a:endParaRPr lang="en-IN" dirty="0"/>
          </a:p>
        </p:txBody>
      </p:sp>
      <p:cxnSp>
        <p:nvCxnSpPr>
          <p:cNvPr id="22" name="Straight Connector 21">
            <a:extLst>
              <a:ext uri="{FF2B5EF4-FFF2-40B4-BE49-F238E27FC236}">
                <a16:creationId xmlns:a16="http://schemas.microsoft.com/office/drawing/2014/main" id="{8A89B96C-9247-7ADD-A117-F070F3C89F5A}"/>
              </a:ext>
            </a:extLst>
          </p:cNvPr>
          <p:cNvCxnSpPr/>
          <p:nvPr/>
        </p:nvCxnSpPr>
        <p:spPr>
          <a:xfrm>
            <a:off x="1574157" y="4699322"/>
            <a:ext cx="0" cy="1643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48D60C-79D4-65F5-ADCB-78D24A65EE83}"/>
              </a:ext>
            </a:extLst>
          </p:cNvPr>
          <p:cNvCxnSpPr/>
          <p:nvPr/>
        </p:nvCxnSpPr>
        <p:spPr>
          <a:xfrm>
            <a:off x="4363656" y="4699322"/>
            <a:ext cx="0" cy="1643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8CFD365-E309-2894-E89D-CF1801CB36D2}"/>
              </a:ext>
            </a:extLst>
          </p:cNvPr>
          <p:cNvCxnSpPr/>
          <p:nvPr/>
        </p:nvCxnSpPr>
        <p:spPr>
          <a:xfrm>
            <a:off x="7592992" y="4699322"/>
            <a:ext cx="0" cy="1643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11BADC6-EBC2-0C68-078A-72C6DE0D5D2E}"/>
              </a:ext>
            </a:extLst>
          </p:cNvPr>
          <p:cNvCxnSpPr/>
          <p:nvPr/>
        </p:nvCxnSpPr>
        <p:spPr>
          <a:xfrm>
            <a:off x="10428790" y="4699322"/>
            <a:ext cx="0" cy="1643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C332C59-0900-AED5-17A1-AC7FBB647C26}"/>
              </a:ext>
            </a:extLst>
          </p:cNvPr>
          <p:cNvCxnSpPr>
            <a:cxnSpLocks/>
          </p:cNvCxnSpPr>
          <p:nvPr/>
        </p:nvCxnSpPr>
        <p:spPr>
          <a:xfrm>
            <a:off x="1574157" y="4699322"/>
            <a:ext cx="885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D609FFF-D6E3-D4B6-6E6B-C9994C65BEEE}"/>
              </a:ext>
            </a:extLst>
          </p:cNvPr>
          <p:cNvCxnSpPr/>
          <p:nvPr/>
        </p:nvCxnSpPr>
        <p:spPr>
          <a:xfrm>
            <a:off x="5631083" y="3978798"/>
            <a:ext cx="0" cy="7205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491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60">
            <a:extLst>
              <a:ext uri="{FF2B5EF4-FFF2-40B4-BE49-F238E27FC236}">
                <a16:creationId xmlns:a16="http://schemas.microsoft.com/office/drawing/2014/main" id="{16563129-BC4B-E4E0-1E17-26568243484C}"/>
              </a:ext>
            </a:extLst>
          </p:cNvPr>
          <p:cNvSpPr txBox="1"/>
          <p:nvPr/>
        </p:nvSpPr>
        <p:spPr>
          <a:xfrm>
            <a:off x="6898658" y="2786670"/>
            <a:ext cx="2202179" cy="369332"/>
          </a:xfrm>
          <a:prstGeom prst="rect">
            <a:avLst/>
          </a:prstGeom>
          <a:noFill/>
        </p:spPr>
        <p:txBody>
          <a:bodyPr wrap="square" rtlCol="0">
            <a:spAutoFit/>
          </a:bodyPr>
          <a:lstStyle/>
          <a:p>
            <a:r>
              <a:rPr lang="en-US" dirty="0">
                <a:solidFill>
                  <a:schemeClr val="bg1"/>
                </a:solidFill>
              </a:rPr>
              <a:t>b) Display them in list</a:t>
            </a:r>
            <a:endParaRPr lang="en-IN" dirty="0">
              <a:solidFill>
                <a:schemeClr val="bg1"/>
              </a:solidFill>
            </a:endParaRPr>
          </a:p>
        </p:txBody>
      </p:sp>
      <p:sp>
        <p:nvSpPr>
          <p:cNvPr id="63" name="TextBox 62">
            <a:extLst>
              <a:ext uri="{FF2B5EF4-FFF2-40B4-BE49-F238E27FC236}">
                <a16:creationId xmlns:a16="http://schemas.microsoft.com/office/drawing/2014/main" id="{5D63C7A3-40F6-BB7E-CAEC-8D21EDA049F0}"/>
              </a:ext>
            </a:extLst>
          </p:cNvPr>
          <p:cNvSpPr txBox="1"/>
          <p:nvPr/>
        </p:nvSpPr>
        <p:spPr>
          <a:xfrm>
            <a:off x="7589132" y="3136739"/>
            <a:ext cx="2090419" cy="1200329"/>
          </a:xfrm>
          <a:prstGeom prst="rect">
            <a:avLst/>
          </a:prstGeom>
          <a:noFill/>
        </p:spPr>
        <p:txBody>
          <a:bodyPr wrap="square" rtlCol="0">
            <a:spAutoFit/>
          </a:bodyPr>
          <a:lstStyle/>
          <a:p>
            <a:r>
              <a:rPr lang="en-US" dirty="0">
                <a:solidFill>
                  <a:schemeClr val="bg1"/>
                </a:solidFill>
              </a:rPr>
              <a:t> Allow user to</a:t>
            </a:r>
          </a:p>
          <a:p>
            <a:r>
              <a:rPr lang="en-US" dirty="0">
                <a:solidFill>
                  <a:schemeClr val="bg1"/>
                </a:solidFill>
              </a:rPr>
              <a:t>   sort</a:t>
            </a:r>
          </a:p>
          <a:p>
            <a:r>
              <a:rPr lang="en-US" dirty="0">
                <a:solidFill>
                  <a:schemeClr val="bg1"/>
                </a:solidFill>
              </a:rPr>
              <a:t>   filter</a:t>
            </a:r>
          </a:p>
          <a:p>
            <a:r>
              <a:rPr lang="en-US" dirty="0">
                <a:solidFill>
                  <a:schemeClr val="bg1"/>
                </a:solidFill>
              </a:rPr>
              <a:t>   view/download</a:t>
            </a:r>
            <a:endParaRPr lang="en-IN" dirty="0">
              <a:solidFill>
                <a:schemeClr val="bg1"/>
              </a:solidFill>
            </a:endParaRPr>
          </a:p>
        </p:txBody>
      </p:sp>
      <p:sp>
        <p:nvSpPr>
          <p:cNvPr id="64" name="TextBox 63">
            <a:extLst>
              <a:ext uri="{FF2B5EF4-FFF2-40B4-BE49-F238E27FC236}">
                <a16:creationId xmlns:a16="http://schemas.microsoft.com/office/drawing/2014/main" id="{A34835B0-9C4C-11EA-275E-848BEC8D0273}"/>
              </a:ext>
            </a:extLst>
          </p:cNvPr>
          <p:cNvSpPr txBox="1"/>
          <p:nvPr/>
        </p:nvSpPr>
        <p:spPr>
          <a:xfrm>
            <a:off x="6442710" y="3244334"/>
            <a:ext cx="2209804" cy="369332"/>
          </a:xfrm>
          <a:prstGeom prst="rect">
            <a:avLst/>
          </a:prstGeom>
          <a:noFill/>
        </p:spPr>
        <p:txBody>
          <a:bodyPr wrap="square" rtlCol="0">
            <a:spAutoFit/>
          </a:bodyPr>
          <a:lstStyle/>
          <a:p>
            <a:r>
              <a:rPr lang="en-US">
                <a:solidFill>
                  <a:schemeClr val="bg1"/>
                </a:solidFill>
              </a:rPr>
              <a:t>C      c)</a:t>
            </a:r>
            <a:endParaRPr lang="en-IN">
              <a:solidFill>
                <a:schemeClr val="bg1"/>
              </a:solidFill>
            </a:endParaRPr>
          </a:p>
        </p:txBody>
      </p:sp>
      <p:sp>
        <p:nvSpPr>
          <p:cNvPr id="65" name="TextBox 64">
            <a:extLst>
              <a:ext uri="{FF2B5EF4-FFF2-40B4-BE49-F238E27FC236}">
                <a16:creationId xmlns:a16="http://schemas.microsoft.com/office/drawing/2014/main" id="{23A6F908-B429-58E2-5140-932C25FAC740}"/>
              </a:ext>
            </a:extLst>
          </p:cNvPr>
          <p:cNvSpPr txBox="1"/>
          <p:nvPr/>
        </p:nvSpPr>
        <p:spPr>
          <a:xfrm>
            <a:off x="9832340" y="1931496"/>
            <a:ext cx="1955800" cy="923330"/>
          </a:xfrm>
          <a:prstGeom prst="rect">
            <a:avLst/>
          </a:prstGeom>
          <a:noFill/>
        </p:spPr>
        <p:txBody>
          <a:bodyPr wrap="square" rtlCol="0">
            <a:spAutoFit/>
          </a:bodyPr>
          <a:lstStyle/>
          <a:p>
            <a:r>
              <a:rPr lang="en-US">
                <a:solidFill>
                  <a:schemeClr val="bg1"/>
                </a:solidFill>
              </a:rPr>
              <a:t>a)Close session</a:t>
            </a:r>
          </a:p>
          <a:p>
            <a:r>
              <a:rPr lang="en-US">
                <a:solidFill>
                  <a:schemeClr val="bg1"/>
                </a:solidFill>
              </a:rPr>
              <a:t>b) Return to exit application.</a:t>
            </a:r>
            <a:endParaRPr lang="en-IN">
              <a:solidFill>
                <a:schemeClr val="bg1"/>
              </a:solidFill>
            </a:endParaRPr>
          </a:p>
        </p:txBody>
      </p:sp>
      <p:sp>
        <p:nvSpPr>
          <p:cNvPr id="69" name="TextBox 68">
            <a:extLst>
              <a:ext uri="{FF2B5EF4-FFF2-40B4-BE49-F238E27FC236}">
                <a16:creationId xmlns:a16="http://schemas.microsoft.com/office/drawing/2014/main" id="{A6A9165B-A663-FF19-6BEF-C475D3EA8D2A}"/>
              </a:ext>
            </a:extLst>
          </p:cNvPr>
          <p:cNvSpPr txBox="1"/>
          <p:nvPr/>
        </p:nvSpPr>
        <p:spPr>
          <a:xfrm>
            <a:off x="435605" y="1819501"/>
            <a:ext cx="2359667" cy="3139321"/>
          </a:xfrm>
          <a:prstGeom prst="rect">
            <a:avLst/>
          </a:prstGeom>
          <a:noFill/>
        </p:spPr>
        <p:txBody>
          <a:bodyPr wrap="square" rtlCol="0">
            <a:spAutoFit/>
          </a:bodyPr>
          <a:lstStyle/>
          <a:p>
            <a:r>
              <a:rPr lang="en-US" dirty="0">
                <a:solidFill>
                  <a:schemeClr val="bg1"/>
                </a:solidFill>
              </a:rPr>
              <a:t>a) Input details:</a:t>
            </a:r>
          </a:p>
          <a:p>
            <a:r>
              <a:rPr lang="en-US" dirty="0">
                <a:solidFill>
                  <a:schemeClr val="bg1"/>
                </a:solidFill>
              </a:rPr>
              <a:t>       date</a:t>
            </a:r>
          </a:p>
          <a:p>
            <a:r>
              <a:rPr lang="en-US" dirty="0">
                <a:solidFill>
                  <a:schemeClr val="bg1"/>
                </a:solidFill>
              </a:rPr>
              <a:t>       subject</a:t>
            </a:r>
          </a:p>
          <a:p>
            <a:r>
              <a:rPr lang="en-US" dirty="0">
                <a:solidFill>
                  <a:schemeClr val="bg1"/>
                </a:solidFill>
              </a:rPr>
              <a:t>      semester</a:t>
            </a:r>
          </a:p>
          <a:p>
            <a:r>
              <a:rPr lang="en-US" dirty="0">
                <a:solidFill>
                  <a:schemeClr val="bg1"/>
                </a:solidFill>
              </a:rPr>
              <a:t>b) Validate inputs.</a:t>
            </a:r>
          </a:p>
          <a:p>
            <a:r>
              <a:rPr lang="en-US" dirty="0">
                <a:solidFill>
                  <a:schemeClr val="bg1"/>
                </a:solidFill>
              </a:rPr>
              <a:t>c) Store the file in the system</a:t>
            </a:r>
          </a:p>
          <a:p>
            <a:r>
              <a:rPr lang="en-US" dirty="0">
                <a:solidFill>
                  <a:schemeClr val="bg1"/>
                </a:solidFill>
              </a:rPr>
              <a:t>d) Insert record into database</a:t>
            </a:r>
          </a:p>
          <a:p>
            <a:r>
              <a:rPr lang="en-US" dirty="0">
                <a:solidFill>
                  <a:schemeClr val="bg1"/>
                </a:solidFill>
              </a:rPr>
              <a:t>e) Show success message</a:t>
            </a:r>
          </a:p>
        </p:txBody>
      </p:sp>
      <p:cxnSp>
        <p:nvCxnSpPr>
          <p:cNvPr id="4" name="Straight Connector 3">
            <a:extLst>
              <a:ext uri="{FF2B5EF4-FFF2-40B4-BE49-F238E27FC236}">
                <a16:creationId xmlns:a16="http://schemas.microsoft.com/office/drawing/2014/main" id="{7511994A-14A9-F912-D87D-3A873462748D}"/>
              </a:ext>
            </a:extLst>
          </p:cNvPr>
          <p:cNvCxnSpPr/>
          <p:nvPr/>
        </p:nvCxnSpPr>
        <p:spPr>
          <a:xfrm>
            <a:off x="1284790" y="0"/>
            <a:ext cx="0" cy="9838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D4ACE25-4031-55D6-30E7-4FBF72B4A684}"/>
              </a:ext>
            </a:extLst>
          </p:cNvPr>
          <p:cNvCxnSpPr>
            <a:cxnSpLocks/>
          </p:cNvCxnSpPr>
          <p:nvPr/>
        </p:nvCxnSpPr>
        <p:spPr>
          <a:xfrm>
            <a:off x="1284790" y="983848"/>
            <a:ext cx="49539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6AED0FB-E122-CCCE-7042-4BB73CD1DE1E}"/>
              </a:ext>
            </a:extLst>
          </p:cNvPr>
          <p:cNvCxnSpPr>
            <a:cxnSpLocks/>
          </p:cNvCxnSpPr>
          <p:nvPr/>
        </p:nvCxnSpPr>
        <p:spPr>
          <a:xfrm>
            <a:off x="3646025" y="0"/>
            <a:ext cx="0" cy="7986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E37AAD1-D982-44E9-C0E0-C0FE55445C3B}"/>
              </a:ext>
            </a:extLst>
          </p:cNvPr>
          <p:cNvCxnSpPr>
            <a:cxnSpLocks/>
          </p:cNvCxnSpPr>
          <p:nvPr/>
        </p:nvCxnSpPr>
        <p:spPr>
          <a:xfrm>
            <a:off x="3646025" y="798653"/>
            <a:ext cx="726118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7373775-57AB-40FD-AA37-C862E99C1ACF}"/>
              </a:ext>
            </a:extLst>
          </p:cNvPr>
          <p:cNvCxnSpPr>
            <a:cxnSpLocks/>
          </p:cNvCxnSpPr>
          <p:nvPr/>
        </p:nvCxnSpPr>
        <p:spPr>
          <a:xfrm>
            <a:off x="7627716" y="0"/>
            <a:ext cx="0" cy="590309"/>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41DCAED-4026-C64C-185F-28F50C9FA51C}"/>
              </a:ext>
            </a:extLst>
          </p:cNvPr>
          <p:cNvCxnSpPr/>
          <p:nvPr/>
        </p:nvCxnSpPr>
        <p:spPr>
          <a:xfrm>
            <a:off x="7627716" y="590309"/>
            <a:ext cx="35881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B7A566A-1D61-06EB-DF8B-CD530B4F90AE}"/>
              </a:ext>
            </a:extLst>
          </p:cNvPr>
          <p:cNvCxnSpPr>
            <a:cxnSpLocks/>
          </p:cNvCxnSpPr>
          <p:nvPr/>
        </p:nvCxnSpPr>
        <p:spPr>
          <a:xfrm>
            <a:off x="10139423" y="0"/>
            <a:ext cx="0" cy="3819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AC28201-C135-A8F1-2182-5913571BBF1D}"/>
              </a:ext>
            </a:extLst>
          </p:cNvPr>
          <p:cNvCxnSpPr/>
          <p:nvPr/>
        </p:nvCxnSpPr>
        <p:spPr>
          <a:xfrm>
            <a:off x="10139423" y="381965"/>
            <a:ext cx="185194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0333678-20CE-3AF0-82C6-798BF5655D74}"/>
              </a:ext>
            </a:extLst>
          </p:cNvPr>
          <p:cNvCxnSpPr/>
          <p:nvPr/>
        </p:nvCxnSpPr>
        <p:spPr>
          <a:xfrm>
            <a:off x="11991372" y="381965"/>
            <a:ext cx="0" cy="5984111"/>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E92009C-879A-15D0-0BDE-A6DBB2DF1A46}"/>
              </a:ext>
            </a:extLst>
          </p:cNvPr>
          <p:cNvCxnSpPr/>
          <p:nvPr/>
        </p:nvCxnSpPr>
        <p:spPr>
          <a:xfrm>
            <a:off x="11215868" y="590309"/>
            <a:ext cx="4629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D5C6139-6D4E-D887-F85B-C2E55151998E}"/>
              </a:ext>
            </a:extLst>
          </p:cNvPr>
          <p:cNvCxnSpPr/>
          <p:nvPr/>
        </p:nvCxnSpPr>
        <p:spPr>
          <a:xfrm>
            <a:off x="11678856" y="590309"/>
            <a:ext cx="0" cy="5960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7E11C25-A968-F73A-A20A-D38BC159DD39}"/>
              </a:ext>
            </a:extLst>
          </p:cNvPr>
          <p:cNvCxnSpPr/>
          <p:nvPr/>
        </p:nvCxnSpPr>
        <p:spPr>
          <a:xfrm>
            <a:off x="10907210" y="798653"/>
            <a:ext cx="4128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719B709-4D27-D09E-731A-49382AC07462}"/>
              </a:ext>
            </a:extLst>
          </p:cNvPr>
          <p:cNvCxnSpPr/>
          <p:nvPr/>
        </p:nvCxnSpPr>
        <p:spPr>
          <a:xfrm>
            <a:off x="11320041" y="798653"/>
            <a:ext cx="0" cy="5660020"/>
          </a:xfrm>
          <a:prstGeom prst="line">
            <a:avLst/>
          </a:prstGeom>
        </p:spPr>
        <p:style>
          <a:lnRef idx="1">
            <a:schemeClr val="accent1"/>
          </a:lnRef>
          <a:fillRef idx="0">
            <a:schemeClr val="accent1"/>
          </a:fillRef>
          <a:effectRef idx="0">
            <a:schemeClr val="accent1"/>
          </a:effectRef>
          <a:fontRef idx="minor">
            <a:schemeClr val="tx1"/>
          </a:fontRef>
        </p:style>
      </p:cxnSp>
      <p:sp>
        <p:nvSpPr>
          <p:cNvPr id="71" name="Flowchart: Data 70">
            <a:extLst>
              <a:ext uri="{FF2B5EF4-FFF2-40B4-BE49-F238E27FC236}">
                <a16:creationId xmlns:a16="http://schemas.microsoft.com/office/drawing/2014/main" id="{6075B61D-35C3-6F8D-C5AF-EA1946D6CD6D}"/>
              </a:ext>
            </a:extLst>
          </p:cNvPr>
          <p:cNvSpPr/>
          <p:nvPr/>
        </p:nvSpPr>
        <p:spPr>
          <a:xfrm>
            <a:off x="4614752" y="1378495"/>
            <a:ext cx="3119813" cy="923145"/>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admin username and password</a:t>
            </a:r>
            <a:endParaRPr lang="en-IN" dirty="0"/>
          </a:p>
        </p:txBody>
      </p:sp>
      <p:cxnSp>
        <p:nvCxnSpPr>
          <p:cNvPr id="73" name="Straight Arrow Connector 72">
            <a:extLst>
              <a:ext uri="{FF2B5EF4-FFF2-40B4-BE49-F238E27FC236}">
                <a16:creationId xmlns:a16="http://schemas.microsoft.com/office/drawing/2014/main" id="{82484009-32D7-48D4-A1E7-8D18230CB066}"/>
              </a:ext>
            </a:extLst>
          </p:cNvPr>
          <p:cNvCxnSpPr>
            <a:cxnSpLocks/>
          </p:cNvCxnSpPr>
          <p:nvPr/>
        </p:nvCxnSpPr>
        <p:spPr>
          <a:xfrm>
            <a:off x="6238754" y="983848"/>
            <a:ext cx="0" cy="358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3C9CC48-0671-96FF-C326-0B29B3E25C08}"/>
              </a:ext>
            </a:extLst>
          </p:cNvPr>
          <p:cNvCxnSpPr>
            <a:stCxn id="71" idx="4"/>
          </p:cNvCxnSpPr>
          <p:nvPr/>
        </p:nvCxnSpPr>
        <p:spPr>
          <a:xfrm flipH="1">
            <a:off x="6174658" y="2301640"/>
            <a:ext cx="1" cy="467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1EF82109-2A0B-27B7-E930-3333FD57D204}"/>
              </a:ext>
            </a:extLst>
          </p:cNvPr>
          <p:cNvSpPr/>
          <p:nvPr/>
        </p:nvSpPr>
        <p:spPr>
          <a:xfrm>
            <a:off x="4964848" y="2791607"/>
            <a:ext cx="2359667" cy="5594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Validate credentials</a:t>
            </a:r>
            <a:endParaRPr lang="en-IN" dirty="0"/>
          </a:p>
        </p:txBody>
      </p:sp>
      <p:cxnSp>
        <p:nvCxnSpPr>
          <p:cNvPr id="78" name="Straight Arrow Connector 77">
            <a:extLst>
              <a:ext uri="{FF2B5EF4-FFF2-40B4-BE49-F238E27FC236}">
                <a16:creationId xmlns:a16="http://schemas.microsoft.com/office/drawing/2014/main" id="{9F6AE46D-6188-6385-6D18-3D8E458D922A}"/>
              </a:ext>
            </a:extLst>
          </p:cNvPr>
          <p:cNvCxnSpPr>
            <a:cxnSpLocks/>
            <a:stCxn id="76" idx="2"/>
          </p:cNvCxnSpPr>
          <p:nvPr/>
        </p:nvCxnSpPr>
        <p:spPr>
          <a:xfrm>
            <a:off x="6144682" y="3351068"/>
            <a:ext cx="0"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Flowchart: Decision 79">
            <a:extLst>
              <a:ext uri="{FF2B5EF4-FFF2-40B4-BE49-F238E27FC236}">
                <a16:creationId xmlns:a16="http://schemas.microsoft.com/office/drawing/2014/main" id="{12987409-628C-2F41-2FC7-2A26A4E2131F}"/>
              </a:ext>
            </a:extLst>
          </p:cNvPr>
          <p:cNvSpPr/>
          <p:nvPr/>
        </p:nvSpPr>
        <p:spPr>
          <a:xfrm>
            <a:off x="4791727" y="3789062"/>
            <a:ext cx="2658447" cy="96761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Validate credentials</a:t>
            </a:r>
            <a:endParaRPr lang="en-IN" dirty="0"/>
          </a:p>
        </p:txBody>
      </p:sp>
      <p:cxnSp>
        <p:nvCxnSpPr>
          <p:cNvPr id="82" name="Straight Connector 81">
            <a:extLst>
              <a:ext uri="{FF2B5EF4-FFF2-40B4-BE49-F238E27FC236}">
                <a16:creationId xmlns:a16="http://schemas.microsoft.com/office/drawing/2014/main" id="{20D7E954-DF8C-AA6D-0931-C8F16794A946}"/>
              </a:ext>
            </a:extLst>
          </p:cNvPr>
          <p:cNvCxnSpPr>
            <a:stCxn id="80" idx="1"/>
          </p:cNvCxnSpPr>
          <p:nvPr/>
        </p:nvCxnSpPr>
        <p:spPr>
          <a:xfrm flipH="1">
            <a:off x="1625873" y="4272868"/>
            <a:ext cx="3165854"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5" name="Straight Connector 84">
            <a:extLst>
              <a:ext uri="{FF2B5EF4-FFF2-40B4-BE49-F238E27FC236}">
                <a16:creationId xmlns:a16="http://schemas.microsoft.com/office/drawing/2014/main" id="{493FBEA0-9830-F732-A2DA-FE6F7AF39230}"/>
              </a:ext>
            </a:extLst>
          </p:cNvPr>
          <p:cNvCxnSpPr>
            <a:stCxn id="80" idx="3"/>
          </p:cNvCxnSpPr>
          <p:nvPr/>
        </p:nvCxnSpPr>
        <p:spPr>
          <a:xfrm>
            <a:off x="7450174" y="4272868"/>
            <a:ext cx="1982053"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7" name="Straight Arrow Connector 86">
            <a:extLst>
              <a:ext uri="{FF2B5EF4-FFF2-40B4-BE49-F238E27FC236}">
                <a16:creationId xmlns:a16="http://schemas.microsoft.com/office/drawing/2014/main" id="{E5966317-52DA-5068-9FA2-7E9C92C0CF45}"/>
              </a:ext>
            </a:extLst>
          </p:cNvPr>
          <p:cNvCxnSpPr>
            <a:cxnSpLocks/>
          </p:cNvCxnSpPr>
          <p:nvPr/>
        </p:nvCxnSpPr>
        <p:spPr>
          <a:xfrm>
            <a:off x="1625873" y="4272868"/>
            <a:ext cx="1" cy="54153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8" name="Flowchart: Data 87">
            <a:extLst>
              <a:ext uri="{FF2B5EF4-FFF2-40B4-BE49-F238E27FC236}">
                <a16:creationId xmlns:a16="http://schemas.microsoft.com/office/drawing/2014/main" id="{5FFE23F8-EC4E-D930-F1DB-E0AA763B93A1}"/>
              </a:ext>
            </a:extLst>
          </p:cNvPr>
          <p:cNvSpPr/>
          <p:nvPr/>
        </p:nvSpPr>
        <p:spPr>
          <a:xfrm>
            <a:off x="299517" y="4854024"/>
            <a:ext cx="2652711" cy="54152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Print “invalid credentials”</a:t>
            </a:r>
            <a:endParaRPr lang="en-IN" dirty="0"/>
          </a:p>
        </p:txBody>
      </p:sp>
      <p:cxnSp>
        <p:nvCxnSpPr>
          <p:cNvPr id="92" name="Straight Arrow Connector 91">
            <a:extLst>
              <a:ext uri="{FF2B5EF4-FFF2-40B4-BE49-F238E27FC236}">
                <a16:creationId xmlns:a16="http://schemas.microsoft.com/office/drawing/2014/main" id="{0B341DBA-2BE5-CCBD-E279-EFE8C343DD88}"/>
              </a:ext>
            </a:extLst>
          </p:cNvPr>
          <p:cNvCxnSpPr>
            <a:stCxn id="88" idx="4"/>
          </p:cNvCxnSpPr>
          <p:nvPr/>
        </p:nvCxnSpPr>
        <p:spPr>
          <a:xfrm flipH="1">
            <a:off x="1625872" y="5395548"/>
            <a:ext cx="1" cy="289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Oval 92">
            <a:extLst>
              <a:ext uri="{FF2B5EF4-FFF2-40B4-BE49-F238E27FC236}">
                <a16:creationId xmlns:a16="http://schemas.microsoft.com/office/drawing/2014/main" id="{5B7C18B0-8D51-165B-F6EC-1C4A2737613F}"/>
              </a:ext>
            </a:extLst>
          </p:cNvPr>
          <p:cNvSpPr/>
          <p:nvPr/>
        </p:nvSpPr>
        <p:spPr>
          <a:xfrm>
            <a:off x="1105013" y="5744675"/>
            <a:ext cx="1041718" cy="3770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112" name="Straight Arrow Connector 111">
            <a:extLst>
              <a:ext uri="{FF2B5EF4-FFF2-40B4-BE49-F238E27FC236}">
                <a16:creationId xmlns:a16="http://schemas.microsoft.com/office/drawing/2014/main" id="{52257C71-3319-8D82-883C-3BEFBEC0E263}"/>
              </a:ext>
            </a:extLst>
          </p:cNvPr>
          <p:cNvCxnSpPr/>
          <p:nvPr/>
        </p:nvCxnSpPr>
        <p:spPr>
          <a:xfrm>
            <a:off x="9421792" y="4272868"/>
            <a:ext cx="0" cy="483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Flowchart: Data 112">
            <a:extLst>
              <a:ext uri="{FF2B5EF4-FFF2-40B4-BE49-F238E27FC236}">
                <a16:creationId xmlns:a16="http://schemas.microsoft.com/office/drawing/2014/main" id="{6B4EA1D0-95BB-3E0E-C8CC-668E5F269E09}"/>
              </a:ext>
            </a:extLst>
          </p:cNvPr>
          <p:cNvSpPr/>
          <p:nvPr/>
        </p:nvSpPr>
        <p:spPr>
          <a:xfrm>
            <a:off x="8221820" y="4789795"/>
            <a:ext cx="2359666" cy="54152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admin menu</a:t>
            </a:r>
            <a:endParaRPr lang="en-IN" dirty="0"/>
          </a:p>
        </p:txBody>
      </p:sp>
      <p:cxnSp>
        <p:nvCxnSpPr>
          <p:cNvPr id="116" name="Straight Connector 115">
            <a:extLst>
              <a:ext uri="{FF2B5EF4-FFF2-40B4-BE49-F238E27FC236}">
                <a16:creationId xmlns:a16="http://schemas.microsoft.com/office/drawing/2014/main" id="{5D1679A7-BF3E-5E83-4907-4CA3E4740B5D}"/>
              </a:ext>
            </a:extLst>
          </p:cNvPr>
          <p:cNvCxnSpPr>
            <a:stCxn id="113" idx="4"/>
          </p:cNvCxnSpPr>
          <p:nvPr/>
        </p:nvCxnSpPr>
        <p:spPr>
          <a:xfrm>
            <a:off x="9401653" y="5331319"/>
            <a:ext cx="0" cy="208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A12E1C0-E88A-B194-207A-B7996313DE2A}"/>
              </a:ext>
            </a:extLst>
          </p:cNvPr>
          <p:cNvCxnSpPr>
            <a:cxnSpLocks/>
          </p:cNvCxnSpPr>
          <p:nvPr/>
        </p:nvCxnSpPr>
        <p:spPr>
          <a:xfrm>
            <a:off x="3266363" y="5540257"/>
            <a:ext cx="7543877" cy="18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EC1DA9D-45ED-67C3-597E-6F79F1555AB5}"/>
              </a:ext>
            </a:extLst>
          </p:cNvPr>
          <p:cNvCxnSpPr/>
          <p:nvPr/>
        </p:nvCxnSpPr>
        <p:spPr>
          <a:xfrm>
            <a:off x="3301672" y="5540257"/>
            <a:ext cx="0" cy="825819"/>
          </a:xfrm>
          <a:prstGeom prst="line">
            <a:avLst/>
          </a:prstGeom>
        </p:spPr>
        <p:style>
          <a:lnRef idx="1">
            <a:schemeClr val="accent2"/>
          </a:lnRef>
          <a:fillRef idx="0">
            <a:schemeClr val="accent2"/>
          </a:fillRef>
          <a:effectRef idx="0">
            <a:schemeClr val="accent2"/>
          </a:effectRef>
          <a:fontRef idx="minor">
            <a:schemeClr val="tx1"/>
          </a:fontRef>
        </p:style>
      </p:cxnSp>
      <p:cxnSp>
        <p:nvCxnSpPr>
          <p:cNvPr id="123" name="Straight Connector 122">
            <a:extLst>
              <a:ext uri="{FF2B5EF4-FFF2-40B4-BE49-F238E27FC236}">
                <a16:creationId xmlns:a16="http://schemas.microsoft.com/office/drawing/2014/main" id="{A8BDD185-2D23-4797-7265-E78209E5CC3C}"/>
              </a:ext>
            </a:extLst>
          </p:cNvPr>
          <p:cNvCxnSpPr/>
          <p:nvPr/>
        </p:nvCxnSpPr>
        <p:spPr>
          <a:xfrm>
            <a:off x="4398380" y="5558757"/>
            <a:ext cx="0" cy="807319"/>
          </a:xfrm>
          <a:prstGeom prst="line">
            <a:avLst/>
          </a:prstGeom>
        </p:spPr>
        <p:style>
          <a:lnRef idx="1">
            <a:schemeClr val="accent2"/>
          </a:lnRef>
          <a:fillRef idx="0">
            <a:schemeClr val="accent2"/>
          </a:fillRef>
          <a:effectRef idx="0">
            <a:schemeClr val="accent2"/>
          </a:effectRef>
          <a:fontRef idx="minor">
            <a:schemeClr val="tx1"/>
          </a:fontRef>
        </p:style>
      </p:cxnSp>
      <p:cxnSp>
        <p:nvCxnSpPr>
          <p:cNvPr id="126" name="Straight Connector 125">
            <a:extLst>
              <a:ext uri="{FF2B5EF4-FFF2-40B4-BE49-F238E27FC236}">
                <a16:creationId xmlns:a16="http://schemas.microsoft.com/office/drawing/2014/main" id="{5EC6B1B3-C1E6-3543-3C51-87AF66CB76E8}"/>
              </a:ext>
            </a:extLst>
          </p:cNvPr>
          <p:cNvCxnSpPr/>
          <p:nvPr/>
        </p:nvCxnSpPr>
        <p:spPr>
          <a:xfrm>
            <a:off x="5602147" y="5558757"/>
            <a:ext cx="0" cy="807319"/>
          </a:xfrm>
          <a:prstGeom prst="line">
            <a:avLst/>
          </a:prstGeom>
        </p:spPr>
        <p:style>
          <a:lnRef idx="1">
            <a:schemeClr val="accent2"/>
          </a:lnRef>
          <a:fillRef idx="0">
            <a:schemeClr val="accent2"/>
          </a:fillRef>
          <a:effectRef idx="0">
            <a:schemeClr val="accent2"/>
          </a:effectRef>
          <a:fontRef idx="minor">
            <a:schemeClr val="tx1"/>
          </a:fontRef>
        </p:style>
      </p:cxnSp>
      <p:cxnSp>
        <p:nvCxnSpPr>
          <p:cNvPr id="128" name="Straight Connector 127">
            <a:extLst>
              <a:ext uri="{FF2B5EF4-FFF2-40B4-BE49-F238E27FC236}">
                <a16:creationId xmlns:a16="http://schemas.microsoft.com/office/drawing/2014/main" id="{EF897E99-AB09-E5A8-C663-AAD875980C7D}"/>
              </a:ext>
            </a:extLst>
          </p:cNvPr>
          <p:cNvCxnSpPr/>
          <p:nvPr/>
        </p:nvCxnSpPr>
        <p:spPr>
          <a:xfrm>
            <a:off x="6778375" y="5558757"/>
            <a:ext cx="0" cy="8073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99BEE31-CC4B-4B0D-38AE-E245E08F427C}"/>
              </a:ext>
            </a:extLst>
          </p:cNvPr>
          <p:cNvCxnSpPr>
            <a:cxnSpLocks/>
          </p:cNvCxnSpPr>
          <p:nvPr/>
        </p:nvCxnSpPr>
        <p:spPr>
          <a:xfrm>
            <a:off x="8120462" y="5531006"/>
            <a:ext cx="6719" cy="7835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F0670F7C-7976-90B8-ADB7-4B4FFE1E0D22}"/>
              </a:ext>
            </a:extLst>
          </p:cNvPr>
          <p:cNvCxnSpPr>
            <a:cxnSpLocks/>
          </p:cNvCxnSpPr>
          <p:nvPr/>
        </p:nvCxnSpPr>
        <p:spPr>
          <a:xfrm>
            <a:off x="9399000" y="5540257"/>
            <a:ext cx="0" cy="7650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8D66374C-1613-E58D-5B3B-970284DDC973}"/>
              </a:ext>
            </a:extLst>
          </p:cNvPr>
          <p:cNvCxnSpPr>
            <a:cxnSpLocks/>
          </p:cNvCxnSpPr>
          <p:nvPr/>
        </p:nvCxnSpPr>
        <p:spPr>
          <a:xfrm>
            <a:off x="10810240" y="5579874"/>
            <a:ext cx="0" cy="76508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931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9196CFF-F9FC-4EFE-50E5-27E6AB452AA4}"/>
              </a:ext>
            </a:extLst>
          </p:cNvPr>
          <p:cNvCxnSpPr/>
          <p:nvPr/>
        </p:nvCxnSpPr>
        <p:spPr>
          <a:xfrm>
            <a:off x="11539959" y="0"/>
            <a:ext cx="0" cy="6342927"/>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1807C022-EEB0-D7A0-1F13-B7ACFD33CC29}"/>
              </a:ext>
            </a:extLst>
          </p:cNvPr>
          <p:cNvCxnSpPr>
            <a:cxnSpLocks/>
          </p:cNvCxnSpPr>
          <p:nvPr/>
        </p:nvCxnSpPr>
        <p:spPr>
          <a:xfrm>
            <a:off x="11945073" y="0"/>
            <a:ext cx="0" cy="6342927"/>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63E6F47A-AB89-9415-B98F-3AC4D9084137}"/>
              </a:ext>
            </a:extLst>
          </p:cNvPr>
          <p:cNvCxnSpPr/>
          <p:nvPr/>
        </p:nvCxnSpPr>
        <p:spPr>
          <a:xfrm>
            <a:off x="972273" y="0"/>
            <a:ext cx="0" cy="17130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50714D5-1105-8213-CB6E-3893C5B8C4FA}"/>
              </a:ext>
            </a:extLst>
          </p:cNvPr>
          <p:cNvCxnSpPr/>
          <p:nvPr/>
        </p:nvCxnSpPr>
        <p:spPr>
          <a:xfrm>
            <a:off x="1794076" y="0"/>
            <a:ext cx="0" cy="14121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C111AB4-B2D5-D2FC-A849-B74BD8B7E04C}"/>
              </a:ext>
            </a:extLst>
          </p:cNvPr>
          <p:cNvCxnSpPr/>
          <p:nvPr/>
        </p:nvCxnSpPr>
        <p:spPr>
          <a:xfrm>
            <a:off x="2546430" y="0"/>
            <a:ext cx="0" cy="1238491"/>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D7793DC8-076D-8DF6-758D-8202448F383D}"/>
              </a:ext>
            </a:extLst>
          </p:cNvPr>
          <p:cNvCxnSpPr>
            <a:cxnSpLocks/>
          </p:cNvCxnSpPr>
          <p:nvPr/>
        </p:nvCxnSpPr>
        <p:spPr>
          <a:xfrm>
            <a:off x="3402957" y="0"/>
            <a:ext cx="0" cy="9606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1563F28-60F6-F862-AD64-50F7D327ACAE}"/>
              </a:ext>
            </a:extLst>
          </p:cNvPr>
          <p:cNvCxnSpPr>
            <a:cxnSpLocks/>
          </p:cNvCxnSpPr>
          <p:nvPr/>
        </p:nvCxnSpPr>
        <p:spPr>
          <a:xfrm>
            <a:off x="4282633" y="0"/>
            <a:ext cx="0" cy="6944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A43569-52DE-69F7-A9BE-20328C9D4E19}"/>
              </a:ext>
            </a:extLst>
          </p:cNvPr>
          <p:cNvCxnSpPr>
            <a:cxnSpLocks/>
          </p:cNvCxnSpPr>
          <p:nvPr/>
        </p:nvCxnSpPr>
        <p:spPr>
          <a:xfrm>
            <a:off x="5289630" y="0"/>
            <a:ext cx="0" cy="497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9716943-8D8A-F29F-4368-1F0F420571A4}"/>
              </a:ext>
            </a:extLst>
          </p:cNvPr>
          <p:cNvCxnSpPr>
            <a:cxnSpLocks/>
          </p:cNvCxnSpPr>
          <p:nvPr/>
        </p:nvCxnSpPr>
        <p:spPr>
          <a:xfrm>
            <a:off x="6096000" y="0"/>
            <a:ext cx="0" cy="300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7977990-892B-FA9F-9609-4FD5D906DAD7}"/>
              </a:ext>
            </a:extLst>
          </p:cNvPr>
          <p:cNvCxnSpPr>
            <a:cxnSpLocks/>
          </p:cNvCxnSpPr>
          <p:nvPr/>
        </p:nvCxnSpPr>
        <p:spPr>
          <a:xfrm>
            <a:off x="972273" y="1713053"/>
            <a:ext cx="48613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DBA6B16-EBD1-70AC-E0A5-F2B9A0957569}"/>
              </a:ext>
            </a:extLst>
          </p:cNvPr>
          <p:cNvCxnSpPr/>
          <p:nvPr/>
        </p:nvCxnSpPr>
        <p:spPr>
          <a:xfrm>
            <a:off x="1794076" y="1504709"/>
            <a:ext cx="62619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21716A0-EF4B-14C5-E1BB-F504A5E98CC2}"/>
              </a:ext>
            </a:extLst>
          </p:cNvPr>
          <p:cNvCxnSpPr>
            <a:cxnSpLocks/>
          </p:cNvCxnSpPr>
          <p:nvPr/>
        </p:nvCxnSpPr>
        <p:spPr>
          <a:xfrm flipV="1">
            <a:off x="1794076" y="1169043"/>
            <a:ext cx="0" cy="335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A07603C-EB0A-9A66-8310-34498CDA0ECB}"/>
              </a:ext>
            </a:extLst>
          </p:cNvPr>
          <p:cNvCxnSpPr/>
          <p:nvPr/>
        </p:nvCxnSpPr>
        <p:spPr>
          <a:xfrm>
            <a:off x="2546430" y="1238491"/>
            <a:ext cx="60651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CEA6E91-4A2A-4A03-A350-C42D3BDB3620}"/>
              </a:ext>
            </a:extLst>
          </p:cNvPr>
          <p:cNvCxnSpPr/>
          <p:nvPr/>
        </p:nvCxnSpPr>
        <p:spPr>
          <a:xfrm>
            <a:off x="3402957" y="960699"/>
            <a:ext cx="564844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42" name="Straight Connector 41">
            <a:extLst>
              <a:ext uri="{FF2B5EF4-FFF2-40B4-BE49-F238E27FC236}">
                <a16:creationId xmlns:a16="http://schemas.microsoft.com/office/drawing/2014/main" id="{E4F24966-AD70-4BF6-D9B2-54785F9B0FEF}"/>
              </a:ext>
            </a:extLst>
          </p:cNvPr>
          <p:cNvCxnSpPr>
            <a:cxnSpLocks/>
          </p:cNvCxnSpPr>
          <p:nvPr/>
        </p:nvCxnSpPr>
        <p:spPr>
          <a:xfrm>
            <a:off x="4282633" y="694481"/>
            <a:ext cx="53629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768155C-2BE9-11CE-A62D-412366E620DC}"/>
              </a:ext>
            </a:extLst>
          </p:cNvPr>
          <p:cNvCxnSpPr/>
          <p:nvPr/>
        </p:nvCxnSpPr>
        <p:spPr>
          <a:xfrm>
            <a:off x="5289630" y="49771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B77BA17-2A69-28BA-18C9-151AA5DD4C8B}"/>
              </a:ext>
            </a:extLst>
          </p:cNvPr>
          <p:cNvCxnSpPr/>
          <p:nvPr/>
        </p:nvCxnSpPr>
        <p:spPr>
          <a:xfrm>
            <a:off x="5289630" y="497711"/>
            <a:ext cx="48729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ECA8B4A-585E-0CAC-7644-00D4B759025F}"/>
              </a:ext>
            </a:extLst>
          </p:cNvPr>
          <p:cNvCxnSpPr>
            <a:cxnSpLocks/>
          </p:cNvCxnSpPr>
          <p:nvPr/>
        </p:nvCxnSpPr>
        <p:spPr>
          <a:xfrm>
            <a:off x="6096000" y="300942"/>
            <a:ext cx="46800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FB67DE0-7108-57AB-ED65-A7F5E49B1EEE}"/>
              </a:ext>
            </a:extLst>
          </p:cNvPr>
          <p:cNvCxnSpPr/>
          <p:nvPr/>
        </p:nvCxnSpPr>
        <p:spPr>
          <a:xfrm>
            <a:off x="10776030" y="300942"/>
            <a:ext cx="0" cy="61345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B2034C5-7B3E-8959-F1DE-2B348350341D}"/>
              </a:ext>
            </a:extLst>
          </p:cNvPr>
          <p:cNvCxnSpPr/>
          <p:nvPr/>
        </p:nvCxnSpPr>
        <p:spPr>
          <a:xfrm>
            <a:off x="10162572" y="497711"/>
            <a:ext cx="2353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039D03B-7DBD-421C-8D06-836F94CAD4DA}"/>
              </a:ext>
            </a:extLst>
          </p:cNvPr>
          <p:cNvCxnSpPr/>
          <p:nvPr/>
        </p:nvCxnSpPr>
        <p:spPr>
          <a:xfrm>
            <a:off x="10397924" y="497711"/>
            <a:ext cx="0" cy="59378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47E331D-FB79-1F6D-8E8B-15A723E30EBE}"/>
              </a:ext>
            </a:extLst>
          </p:cNvPr>
          <p:cNvCxnSpPr/>
          <p:nvPr/>
        </p:nvCxnSpPr>
        <p:spPr>
          <a:xfrm>
            <a:off x="9645570" y="694481"/>
            <a:ext cx="4012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C2B9E35-6278-D28D-B676-5160C639FCF2}"/>
              </a:ext>
            </a:extLst>
          </p:cNvPr>
          <p:cNvCxnSpPr/>
          <p:nvPr/>
        </p:nvCxnSpPr>
        <p:spPr>
          <a:xfrm>
            <a:off x="10046825" y="694481"/>
            <a:ext cx="0" cy="56484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FCB0730-B8AC-4E6C-10DA-7924529B1178}"/>
              </a:ext>
            </a:extLst>
          </p:cNvPr>
          <p:cNvCxnSpPr/>
          <p:nvPr/>
        </p:nvCxnSpPr>
        <p:spPr>
          <a:xfrm>
            <a:off x="9051403" y="960699"/>
            <a:ext cx="7060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1D30375-9FB4-C0DF-07CF-70C6C8692590}"/>
              </a:ext>
            </a:extLst>
          </p:cNvPr>
          <p:cNvCxnSpPr/>
          <p:nvPr/>
        </p:nvCxnSpPr>
        <p:spPr>
          <a:xfrm>
            <a:off x="9757458" y="960699"/>
            <a:ext cx="0" cy="538222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D10B9DC-26DC-39B3-5C8D-D074A6EBD617}"/>
              </a:ext>
            </a:extLst>
          </p:cNvPr>
          <p:cNvCxnSpPr/>
          <p:nvPr/>
        </p:nvCxnSpPr>
        <p:spPr>
          <a:xfrm>
            <a:off x="8611565" y="1238491"/>
            <a:ext cx="6829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65ED49C-F065-44E9-AF1B-76B9AB4F07F7}"/>
              </a:ext>
            </a:extLst>
          </p:cNvPr>
          <p:cNvCxnSpPr/>
          <p:nvPr/>
        </p:nvCxnSpPr>
        <p:spPr>
          <a:xfrm>
            <a:off x="9294471" y="1238491"/>
            <a:ext cx="1157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2E28CD3-23CF-0AE0-BA92-8240BF116479}"/>
              </a:ext>
            </a:extLst>
          </p:cNvPr>
          <p:cNvCxnSpPr/>
          <p:nvPr/>
        </p:nvCxnSpPr>
        <p:spPr>
          <a:xfrm>
            <a:off x="9410218" y="1238491"/>
            <a:ext cx="0" cy="5104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0A758A7-1477-3DB8-1325-74DA992302CC}"/>
              </a:ext>
            </a:extLst>
          </p:cNvPr>
          <p:cNvCxnSpPr/>
          <p:nvPr/>
        </p:nvCxnSpPr>
        <p:spPr>
          <a:xfrm>
            <a:off x="8055980" y="1504709"/>
            <a:ext cx="9954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EA1FC5A-D28A-4F3C-5A6A-DBF69D9F6330}"/>
              </a:ext>
            </a:extLst>
          </p:cNvPr>
          <p:cNvCxnSpPr>
            <a:cxnSpLocks/>
          </p:cNvCxnSpPr>
          <p:nvPr/>
        </p:nvCxnSpPr>
        <p:spPr>
          <a:xfrm>
            <a:off x="9051403" y="1504709"/>
            <a:ext cx="0" cy="485558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6D07349-D638-D31B-8CC9-228EF23ACEC6}"/>
              </a:ext>
            </a:extLst>
          </p:cNvPr>
          <p:cNvCxnSpPr>
            <a:cxnSpLocks/>
          </p:cNvCxnSpPr>
          <p:nvPr/>
        </p:nvCxnSpPr>
        <p:spPr>
          <a:xfrm>
            <a:off x="5833641" y="1713053"/>
            <a:ext cx="0" cy="312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Flowchart: Data 81">
            <a:extLst>
              <a:ext uri="{FF2B5EF4-FFF2-40B4-BE49-F238E27FC236}">
                <a16:creationId xmlns:a16="http://schemas.microsoft.com/office/drawing/2014/main" id="{4DFE0CB5-FDDB-3DED-0DAD-D59EF160A681}"/>
              </a:ext>
            </a:extLst>
          </p:cNvPr>
          <p:cNvSpPr/>
          <p:nvPr/>
        </p:nvSpPr>
        <p:spPr>
          <a:xfrm>
            <a:off x="4026070" y="2048719"/>
            <a:ext cx="3564997" cy="1111169"/>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list of all question paper and paper id to delete</a:t>
            </a:r>
            <a:endParaRPr lang="en-IN" dirty="0"/>
          </a:p>
        </p:txBody>
      </p:sp>
      <p:cxnSp>
        <p:nvCxnSpPr>
          <p:cNvPr id="84" name="Straight Arrow Connector 83">
            <a:extLst>
              <a:ext uri="{FF2B5EF4-FFF2-40B4-BE49-F238E27FC236}">
                <a16:creationId xmlns:a16="http://schemas.microsoft.com/office/drawing/2014/main" id="{4E46596F-3D4E-4ADB-2B3B-A78011BB8AD1}"/>
              </a:ext>
            </a:extLst>
          </p:cNvPr>
          <p:cNvCxnSpPr>
            <a:stCxn id="82" idx="4"/>
          </p:cNvCxnSpPr>
          <p:nvPr/>
        </p:nvCxnSpPr>
        <p:spPr>
          <a:xfrm flipH="1">
            <a:off x="5808568" y="3159888"/>
            <a:ext cx="1" cy="347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8A5CB2CA-465B-2694-778B-3B25C3D4D6F6}"/>
              </a:ext>
            </a:extLst>
          </p:cNvPr>
          <p:cNvSpPr/>
          <p:nvPr/>
        </p:nvSpPr>
        <p:spPr>
          <a:xfrm>
            <a:off x="4377160" y="3495553"/>
            <a:ext cx="2743201" cy="7523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Delete paper from database and server</a:t>
            </a:r>
            <a:endParaRPr lang="en-IN" dirty="0"/>
          </a:p>
        </p:txBody>
      </p:sp>
      <p:cxnSp>
        <p:nvCxnSpPr>
          <p:cNvPr id="87" name="Straight Arrow Connector 86">
            <a:extLst>
              <a:ext uri="{FF2B5EF4-FFF2-40B4-BE49-F238E27FC236}">
                <a16:creationId xmlns:a16="http://schemas.microsoft.com/office/drawing/2014/main" id="{606764E0-2063-E335-E220-6AB31504A0FA}"/>
              </a:ext>
            </a:extLst>
          </p:cNvPr>
          <p:cNvCxnSpPr>
            <a:cxnSpLocks/>
            <a:stCxn id="85" idx="2"/>
          </p:cNvCxnSpPr>
          <p:nvPr/>
        </p:nvCxnSpPr>
        <p:spPr>
          <a:xfrm>
            <a:off x="5748761" y="4247908"/>
            <a:ext cx="0" cy="335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Flowchart: Data 87">
            <a:extLst>
              <a:ext uri="{FF2B5EF4-FFF2-40B4-BE49-F238E27FC236}">
                <a16:creationId xmlns:a16="http://schemas.microsoft.com/office/drawing/2014/main" id="{89274FAC-BCE9-4AF0-3AD7-117398E4A33C}"/>
              </a:ext>
            </a:extLst>
          </p:cNvPr>
          <p:cNvSpPr/>
          <p:nvPr/>
        </p:nvSpPr>
        <p:spPr>
          <a:xfrm>
            <a:off x="4113841" y="4583574"/>
            <a:ext cx="3130949" cy="75235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“deletion successful”</a:t>
            </a:r>
            <a:endParaRPr lang="en-IN" dirty="0"/>
          </a:p>
        </p:txBody>
      </p:sp>
      <p:cxnSp>
        <p:nvCxnSpPr>
          <p:cNvPr id="90" name="Straight Arrow Connector 89">
            <a:extLst>
              <a:ext uri="{FF2B5EF4-FFF2-40B4-BE49-F238E27FC236}">
                <a16:creationId xmlns:a16="http://schemas.microsoft.com/office/drawing/2014/main" id="{8FED195F-88C4-641C-5482-BB1FF93CADA9}"/>
              </a:ext>
            </a:extLst>
          </p:cNvPr>
          <p:cNvCxnSpPr>
            <a:stCxn id="88" idx="4"/>
          </p:cNvCxnSpPr>
          <p:nvPr/>
        </p:nvCxnSpPr>
        <p:spPr>
          <a:xfrm flipH="1">
            <a:off x="5679315" y="5335928"/>
            <a:ext cx="1" cy="381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C2C3A6DC-B1B9-B952-087F-0567545772B9}"/>
              </a:ext>
            </a:extLst>
          </p:cNvPr>
          <p:cNvSpPr/>
          <p:nvPr/>
        </p:nvSpPr>
        <p:spPr>
          <a:xfrm>
            <a:off x="5098649" y="5743933"/>
            <a:ext cx="1261641" cy="52665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94" name="Straight Connector 93">
            <a:extLst>
              <a:ext uri="{FF2B5EF4-FFF2-40B4-BE49-F238E27FC236}">
                <a16:creationId xmlns:a16="http://schemas.microsoft.com/office/drawing/2014/main" id="{CE445445-16F8-CE49-AA12-EA3550980F81}"/>
              </a:ext>
            </a:extLst>
          </p:cNvPr>
          <p:cNvCxnSpPr>
            <a:cxnSpLocks/>
          </p:cNvCxnSpPr>
          <p:nvPr/>
        </p:nvCxnSpPr>
        <p:spPr>
          <a:xfrm>
            <a:off x="6991109" y="0"/>
            <a:ext cx="0" cy="17362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B8C1B7C1-5CF2-9FE7-B144-5C9D62FFACAC}"/>
              </a:ext>
            </a:extLst>
          </p:cNvPr>
          <p:cNvCxnSpPr/>
          <p:nvPr/>
        </p:nvCxnSpPr>
        <p:spPr>
          <a:xfrm>
            <a:off x="6991109" y="173620"/>
            <a:ext cx="42286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6FFB4BE-290A-E3FF-9564-5A0480CC0D43}"/>
              </a:ext>
            </a:extLst>
          </p:cNvPr>
          <p:cNvCxnSpPr/>
          <p:nvPr/>
        </p:nvCxnSpPr>
        <p:spPr>
          <a:xfrm>
            <a:off x="11219727" y="173620"/>
            <a:ext cx="0" cy="616930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062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75C8B95-487E-9DE5-924E-6BA171A79867}"/>
              </a:ext>
            </a:extLst>
          </p:cNvPr>
          <p:cNvCxnSpPr>
            <a:cxnSpLocks/>
          </p:cNvCxnSpPr>
          <p:nvPr/>
        </p:nvCxnSpPr>
        <p:spPr>
          <a:xfrm>
            <a:off x="1145894" y="0"/>
            <a:ext cx="0" cy="12963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C48CB62-6B68-179D-DC13-C7E4BF8E4EDC}"/>
              </a:ext>
            </a:extLst>
          </p:cNvPr>
          <p:cNvCxnSpPr>
            <a:cxnSpLocks/>
          </p:cNvCxnSpPr>
          <p:nvPr/>
        </p:nvCxnSpPr>
        <p:spPr>
          <a:xfrm>
            <a:off x="2303362" y="0"/>
            <a:ext cx="0" cy="98384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8B6F647-3C79-1AA2-5BA7-83CC4B12B1DA}"/>
              </a:ext>
            </a:extLst>
          </p:cNvPr>
          <p:cNvCxnSpPr>
            <a:cxnSpLocks/>
          </p:cNvCxnSpPr>
          <p:nvPr/>
        </p:nvCxnSpPr>
        <p:spPr>
          <a:xfrm>
            <a:off x="3310359" y="0"/>
            <a:ext cx="0" cy="85652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C8E1116-46B8-D84A-42AF-3B44A304E980}"/>
              </a:ext>
            </a:extLst>
          </p:cNvPr>
          <p:cNvCxnSpPr>
            <a:cxnSpLocks/>
          </p:cNvCxnSpPr>
          <p:nvPr/>
        </p:nvCxnSpPr>
        <p:spPr>
          <a:xfrm>
            <a:off x="4363656" y="0"/>
            <a:ext cx="0" cy="6481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1A0AB92-33AF-17B7-F07E-53007F29A116}"/>
              </a:ext>
            </a:extLst>
          </p:cNvPr>
          <p:cNvCxnSpPr>
            <a:cxnSpLocks/>
          </p:cNvCxnSpPr>
          <p:nvPr/>
        </p:nvCxnSpPr>
        <p:spPr>
          <a:xfrm>
            <a:off x="5497975" y="0"/>
            <a:ext cx="0" cy="4282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8A5FF36-87D4-B88E-B9E2-EE744F41388A}"/>
              </a:ext>
            </a:extLst>
          </p:cNvPr>
          <p:cNvCxnSpPr>
            <a:cxnSpLocks/>
          </p:cNvCxnSpPr>
          <p:nvPr/>
        </p:nvCxnSpPr>
        <p:spPr>
          <a:xfrm>
            <a:off x="6643868" y="0"/>
            <a:ext cx="0" cy="2459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FF5923B-5930-711C-2AB2-5F6D091E1E94}"/>
              </a:ext>
            </a:extLst>
          </p:cNvPr>
          <p:cNvCxnSpPr>
            <a:cxnSpLocks/>
          </p:cNvCxnSpPr>
          <p:nvPr/>
        </p:nvCxnSpPr>
        <p:spPr>
          <a:xfrm>
            <a:off x="11574682" y="-63661"/>
            <a:ext cx="92598" cy="64470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EA4858F-A19D-1D95-CE0D-2899D1586004}"/>
              </a:ext>
            </a:extLst>
          </p:cNvPr>
          <p:cNvCxnSpPr/>
          <p:nvPr/>
        </p:nvCxnSpPr>
        <p:spPr>
          <a:xfrm>
            <a:off x="11910347" y="-28937"/>
            <a:ext cx="115747" cy="6296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CBAC034-2BCF-B743-820B-9AC9A4CE9E10}"/>
              </a:ext>
            </a:extLst>
          </p:cNvPr>
          <p:cNvCxnSpPr>
            <a:cxnSpLocks/>
          </p:cNvCxnSpPr>
          <p:nvPr/>
        </p:nvCxnSpPr>
        <p:spPr>
          <a:xfrm flipV="1">
            <a:off x="2303362" y="856527"/>
            <a:ext cx="0" cy="1273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21996F5-01F5-E554-6165-8B5F92A31D62}"/>
              </a:ext>
            </a:extLst>
          </p:cNvPr>
          <p:cNvCxnSpPr>
            <a:cxnSpLocks/>
          </p:cNvCxnSpPr>
          <p:nvPr/>
        </p:nvCxnSpPr>
        <p:spPr>
          <a:xfrm>
            <a:off x="1157468" y="1293471"/>
            <a:ext cx="4548850" cy="173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EFEF2C6-BC4A-1414-ECA8-DF0361A1B2E6}"/>
              </a:ext>
            </a:extLst>
          </p:cNvPr>
          <p:cNvCxnSpPr>
            <a:cxnSpLocks/>
          </p:cNvCxnSpPr>
          <p:nvPr/>
        </p:nvCxnSpPr>
        <p:spPr>
          <a:xfrm>
            <a:off x="5706318" y="1310833"/>
            <a:ext cx="0" cy="309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Flowchart: Data 37">
            <a:extLst>
              <a:ext uri="{FF2B5EF4-FFF2-40B4-BE49-F238E27FC236}">
                <a16:creationId xmlns:a16="http://schemas.microsoft.com/office/drawing/2014/main" id="{87519F15-314E-0420-8D24-6FC4CBB4B53E}"/>
              </a:ext>
            </a:extLst>
          </p:cNvPr>
          <p:cNvSpPr/>
          <p:nvPr/>
        </p:nvSpPr>
        <p:spPr>
          <a:xfrm>
            <a:off x="4064653" y="1652667"/>
            <a:ext cx="3148306" cy="83916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paper details</a:t>
            </a:r>
            <a:endParaRPr lang="en-IN" dirty="0"/>
          </a:p>
        </p:txBody>
      </p:sp>
      <p:cxnSp>
        <p:nvCxnSpPr>
          <p:cNvPr id="44" name="Straight Arrow Connector 43">
            <a:extLst>
              <a:ext uri="{FF2B5EF4-FFF2-40B4-BE49-F238E27FC236}">
                <a16:creationId xmlns:a16="http://schemas.microsoft.com/office/drawing/2014/main" id="{5C52F39F-D6B3-6C7E-07CD-C79974F1169A}"/>
              </a:ext>
            </a:extLst>
          </p:cNvPr>
          <p:cNvCxnSpPr>
            <a:cxnSpLocks/>
            <a:stCxn id="38" idx="4"/>
          </p:cNvCxnSpPr>
          <p:nvPr/>
        </p:nvCxnSpPr>
        <p:spPr>
          <a:xfrm>
            <a:off x="5638806" y="2491831"/>
            <a:ext cx="0" cy="297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Flowchart: Data 44">
            <a:extLst>
              <a:ext uri="{FF2B5EF4-FFF2-40B4-BE49-F238E27FC236}">
                <a16:creationId xmlns:a16="http://schemas.microsoft.com/office/drawing/2014/main" id="{A8C8E45E-D6D9-E777-EF7F-49EE2D51EEDD}"/>
              </a:ext>
            </a:extLst>
          </p:cNvPr>
          <p:cNvSpPr/>
          <p:nvPr/>
        </p:nvSpPr>
        <p:spPr>
          <a:xfrm>
            <a:off x="4180399" y="2864734"/>
            <a:ext cx="2916813" cy="83916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file upload pdf</a:t>
            </a:r>
            <a:endParaRPr lang="en-IN" dirty="0"/>
          </a:p>
        </p:txBody>
      </p:sp>
      <p:cxnSp>
        <p:nvCxnSpPr>
          <p:cNvPr id="47" name="Straight Arrow Connector 46">
            <a:extLst>
              <a:ext uri="{FF2B5EF4-FFF2-40B4-BE49-F238E27FC236}">
                <a16:creationId xmlns:a16="http://schemas.microsoft.com/office/drawing/2014/main" id="{876F0553-984A-C33D-7394-76464E8E553F}"/>
              </a:ext>
            </a:extLst>
          </p:cNvPr>
          <p:cNvCxnSpPr>
            <a:cxnSpLocks/>
          </p:cNvCxnSpPr>
          <p:nvPr/>
        </p:nvCxnSpPr>
        <p:spPr>
          <a:xfrm flipH="1">
            <a:off x="5663888" y="3614193"/>
            <a:ext cx="1" cy="353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A32D7CB-EB62-88B4-9FB1-24BCEE2D6EC4}"/>
              </a:ext>
            </a:extLst>
          </p:cNvPr>
          <p:cNvSpPr/>
          <p:nvPr/>
        </p:nvSpPr>
        <p:spPr>
          <a:xfrm>
            <a:off x="4180399" y="3950621"/>
            <a:ext cx="3402942" cy="17427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FD1ADEB3-8CEA-2A80-EEFF-F416E5F073DE}"/>
              </a:ext>
            </a:extLst>
          </p:cNvPr>
          <p:cNvSpPr txBox="1"/>
          <p:nvPr/>
        </p:nvSpPr>
        <p:spPr>
          <a:xfrm>
            <a:off x="4728256" y="3950621"/>
            <a:ext cx="2511701" cy="1754326"/>
          </a:xfrm>
          <a:prstGeom prst="rect">
            <a:avLst/>
          </a:prstGeom>
          <a:noFill/>
        </p:spPr>
        <p:txBody>
          <a:bodyPr wrap="square" rtlCol="0">
            <a:spAutoFit/>
          </a:bodyPr>
          <a:lstStyle/>
          <a:p>
            <a:pPr marL="342900" indent="-342900">
              <a:buAutoNum type="arabicPeriod"/>
            </a:pPr>
            <a:r>
              <a:rPr lang="en-US" dirty="0">
                <a:solidFill>
                  <a:schemeClr val="bg1"/>
                </a:solidFill>
              </a:rPr>
              <a:t>Validate credentials</a:t>
            </a:r>
          </a:p>
          <a:p>
            <a:pPr marL="342900" indent="-342900">
              <a:buAutoNum type="arabicPeriod"/>
            </a:pPr>
            <a:r>
              <a:rPr lang="en-US" dirty="0">
                <a:solidFill>
                  <a:schemeClr val="bg1"/>
                </a:solidFill>
              </a:rPr>
              <a:t>Generate unique paper ID</a:t>
            </a:r>
          </a:p>
          <a:p>
            <a:pPr marL="342900" indent="-342900">
              <a:buAutoNum type="arabicPeriod"/>
            </a:pPr>
            <a:r>
              <a:rPr lang="en-US" dirty="0">
                <a:solidFill>
                  <a:schemeClr val="bg1"/>
                </a:solidFill>
              </a:rPr>
              <a:t>Store paper details in database</a:t>
            </a:r>
          </a:p>
          <a:p>
            <a:pPr marL="342900" indent="-342900">
              <a:buAutoNum type="arabicPeriod"/>
            </a:pPr>
            <a:r>
              <a:rPr lang="en-US" dirty="0">
                <a:solidFill>
                  <a:schemeClr val="bg1"/>
                </a:solidFill>
              </a:rPr>
              <a:t>Save file to server</a:t>
            </a:r>
            <a:endParaRPr lang="en-IN" dirty="0">
              <a:solidFill>
                <a:schemeClr val="bg1"/>
              </a:solidFill>
            </a:endParaRPr>
          </a:p>
        </p:txBody>
      </p:sp>
      <p:cxnSp>
        <p:nvCxnSpPr>
          <p:cNvPr id="53" name="Straight Arrow Connector 52">
            <a:extLst>
              <a:ext uri="{FF2B5EF4-FFF2-40B4-BE49-F238E27FC236}">
                <a16:creationId xmlns:a16="http://schemas.microsoft.com/office/drawing/2014/main" id="{2DCC5AE1-A27E-7956-DE78-2773D06CFB6A}"/>
              </a:ext>
            </a:extLst>
          </p:cNvPr>
          <p:cNvCxnSpPr>
            <a:cxnSpLocks/>
          </p:cNvCxnSpPr>
          <p:nvPr/>
        </p:nvCxnSpPr>
        <p:spPr>
          <a:xfrm flipH="1">
            <a:off x="5847139" y="5716522"/>
            <a:ext cx="1" cy="174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4CBE285D-D458-997E-C2D7-BD977078AFF5}"/>
              </a:ext>
            </a:extLst>
          </p:cNvPr>
          <p:cNvSpPr/>
          <p:nvPr/>
        </p:nvSpPr>
        <p:spPr>
          <a:xfrm>
            <a:off x="5129508" y="5879939"/>
            <a:ext cx="1435261" cy="39932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58" name="Straight Connector 57">
            <a:extLst>
              <a:ext uri="{FF2B5EF4-FFF2-40B4-BE49-F238E27FC236}">
                <a16:creationId xmlns:a16="http://schemas.microsoft.com/office/drawing/2014/main" id="{BAAA14DD-4F87-9648-9F06-D2C779753A49}"/>
              </a:ext>
            </a:extLst>
          </p:cNvPr>
          <p:cNvCxnSpPr/>
          <p:nvPr/>
        </p:nvCxnSpPr>
        <p:spPr>
          <a:xfrm>
            <a:off x="2303362" y="920187"/>
            <a:ext cx="0" cy="22570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14CE6B6-61C0-868C-FCB5-6DE6DB5988AF}"/>
              </a:ext>
            </a:extLst>
          </p:cNvPr>
          <p:cNvCxnSpPr>
            <a:cxnSpLocks/>
          </p:cNvCxnSpPr>
          <p:nvPr/>
        </p:nvCxnSpPr>
        <p:spPr>
          <a:xfrm>
            <a:off x="2303362" y="1145894"/>
            <a:ext cx="64355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F9A23DF-8539-5D7E-37C7-770CB774E8EA}"/>
              </a:ext>
            </a:extLst>
          </p:cNvPr>
          <p:cNvCxnSpPr>
            <a:cxnSpLocks/>
          </p:cNvCxnSpPr>
          <p:nvPr/>
        </p:nvCxnSpPr>
        <p:spPr>
          <a:xfrm>
            <a:off x="3310359" y="856527"/>
            <a:ext cx="58799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872055D-02C7-0E02-73BE-F41301991460}"/>
              </a:ext>
            </a:extLst>
          </p:cNvPr>
          <p:cNvCxnSpPr>
            <a:cxnSpLocks/>
          </p:cNvCxnSpPr>
          <p:nvPr/>
        </p:nvCxnSpPr>
        <p:spPr>
          <a:xfrm>
            <a:off x="4363656" y="648182"/>
            <a:ext cx="5335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ED5B87B-C95D-F7B8-7668-288BC7103587}"/>
              </a:ext>
            </a:extLst>
          </p:cNvPr>
          <p:cNvCxnSpPr>
            <a:cxnSpLocks/>
          </p:cNvCxnSpPr>
          <p:nvPr/>
        </p:nvCxnSpPr>
        <p:spPr>
          <a:xfrm>
            <a:off x="5521124" y="428263"/>
            <a:ext cx="46067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B5E6EEB-5B95-E3A0-256E-77EAA2964284}"/>
              </a:ext>
            </a:extLst>
          </p:cNvPr>
          <p:cNvCxnSpPr/>
          <p:nvPr/>
        </p:nvCxnSpPr>
        <p:spPr>
          <a:xfrm>
            <a:off x="6643868" y="245962"/>
            <a:ext cx="38543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91F8BE4-D85F-DA4C-3DEB-8BB8312572C4}"/>
              </a:ext>
            </a:extLst>
          </p:cNvPr>
          <p:cNvCxnSpPr/>
          <p:nvPr/>
        </p:nvCxnSpPr>
        <p:spPr>
          <a:xfrm>
            <a:off x="8738886" y="1145894"/>
            <a:ext cx="0" cy="513337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7B2B88D-F0CD-70A3-EA27-0092E3B3053E}"/>
              </a:ext>
            </a:extLst>
          </p:cNvPr>
          <p:cNvCxnSpPr/>
          <p:nvPr/>
        </p:nvCxnSpPr>
        <p:spPr>
          <a:xfrm>
            <a:off x="9190299" y="856527"/>
            <a:ext cx="0" cy="5440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9759DE94-356D-3201-4DC4-AA3ED0669287}"/>
              </a:ext>
            </a:extLst>
          </p:cNvPr>
          <p:cNvCxnSpPr/>
          <p:nvPr/>
        </p:nvCxnSpPr>
        <p:spPr>
          <a:xfrm>
            <a:off x="9699585" y="648182"/>
            <a:ext cx="0" cy="56484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1C55578-4B59-545B-6D2F-596B24A766FA}"/>
              </a:ext>
            </a:extLst>
          </p:cNvPr>
          <p:cNvCxnSpPr/>
          <p:nvPr/>
        </p:nvCxnSpPr>
        <p:spPr>
          <a:xfrm>
            <a:off x="10127848" y="428263"/>
            <a:ext cx="0" cy="58683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3BEA705-28AC-BF9E-3771-487D3009223F}"/>
              </a:ext>
            </a:extLst>
          </p:cNvPr>
          <p:cNvCxnSpPr>
            <a:cxnSpLocks/>
          </p:cNvCxnSpPr>
          <p:nvPr/>
        </p:nvCxnSpPr>
        <p:spPr>
          <a:xfrm>
            <a:off x="10498238" y="245962"/>
            <a:ext cx="0" cy="62011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0341557E-5E85-74B9-94BB-7CAE278F7816}"/>
              </a:ext>
            </a:extLst>
          </p:cNvPr>
          <p:cNvCxnSpPr/>
          <p:nvPr/>
        </p:nvCxnSpPr>
        <p:spPr>
          <a:xfrm>
            <a:off x="7583341" y="0"/>
            <a:ext cx="0" cy="138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DA70352-586F-8797-02F2-9B5694EC28AE}"/>
              </a:ext>
            </a:extLst>
          </p:cNvPr>
          <p:cNvCxnSpPr/>
          <p:nvPr/>
        </p:nvCxnSpPr>
        <p:spPr>
          <a:xfrm>
            <a:off x="7583341" y="138896"/>
            <a:ext cx="33084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50D51C12-2D1F-410C-E5E5-3A68E6791AFB}"/>
              </a:ext>
            </a:extLst>
          </p:cNvPr>
          <p:cNvCxnSpPr/>
          <p:nvPr/>
        </p:nvCxnSpPr>
        <p:spPr>
          <a:xfrm>
            <a:off x="10891777" y="138896"/>
            <a:ext cx="0" cy="61577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188CF7DA-F22D-2450-55D3-C2D83E204921}"/>
              </a:ext>
            </a:extLst>
          </p:cNvPr>
          <p:cNvCxnSpPr/>
          <p:nvPr/>
        </p:nvCxnSpPr>
        <p:spPr>
          <a:xfrm>
            <a:off x="11204293" y="-28937"/>
            <a:ext cx="115746" cy="62966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711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54203A4-1CA4-6FA0-CBCD-D1D489455193}"/>
              </a:ext>
            </a:extLst>
          </p:cNvPr>
          <p:cNvCxnSpPr>
            <a:cxnSpLocks/>
          </p:cNvCxnSpPr>
          <p:nvPr/>
        </p:nvCxnSpPr>
        <p:spPr>
          <a:xfrm>
            <a:off x="1169043" y="0"/>
            <a:ext cx="0" cy="125006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3F3F195-D0C9-CB2D-CD48-B1783E3B922A}"/>
              </a:ext>
            </a:extLst>
          </p:cNvPr>
          <p:cNvCxnSpPr/>
          <p:nvPr/>
        </p:nvCxnSpPr>
        <p:spPr>
          <a:xfrm>
            <a:off x="2407534" y="0"/>
            <a:ext cx="0" cy="94912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7A3141E-E55A-5D7B-A3BF-28B65C818FAA}"/>
              </a:ext>
            </a:extLst>
          </p:cNvPr>
          <p:cNvCxnSpPr>
            <a:cxnSpLocks/>
          </p:cNvCxnSpPr>
          <p:nvPr/>
        </p:nvCxnSpPr>
        <p:spPr>
          <a:xfrm>
            <a:off x="3773347" y="0"/>
            <a:ext cx="0" cy="6250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3915B6F-6D66-4CCF-BB00-61B6B8C48826}"/>
              </a:ext>
            </a:extLst>
          </p:cNvPr>
          <p:cNvCxnSpPr>
            <a:cxnSpLocks/>
          </p:cNvCxnSpPr>
          <p:nvPr/>
        </p:nvCxnSpPr>
        <p:spPr>
          <a:xfrm>
            <a:off x="5092861" y="0"/>
            <a:ext cx="0" cy="5555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7710C45-73AD-2D62-01A6-C1F205EB6121}"/>
              </a:ext>
            </a:extLst>
          </p:cNvPr>
          <p:cNvCxnSpPr>
            <a:cxnSpLocks/>
          </p:cNvCxnSpPr>
          <p:nvPr/>
        </p:nvCxnSpPr>
        <p:spPr>
          <a:xfrm>
            <a:off x="6354501" y="0"/>
            <a:ext cx="0" cy="2777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58425E4-125D-4A8F-CF95-5571A48AF561}"/>
              </a:ext>
            </a:extLst>
          </p:cNvPr>
          <p:cNvCxnSpPr>
            <a:cxnSpLocks/>
          </p:cNvCxnSpPr>
          <p:nvPr/>
        </p:nvCxnSpPr>
        <p:spPr>
          <a:xfrm>
            <a:off x="11331615" y="0"/>
            <a:ext cx="92597" cy="6435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6C03036-778A-063F-1963-B1EFD31FD833}"/>
              </a:ext>
            </a:extLst>
          </p:cNvPr>
          <p:cNvCxnSpPr>
            <a:cxnSpLocks/>
          </p:cNvCxnSpPr>
          <p:nvPr/>
        </p:nvCxnSpPr>
        <p:spPr>
          <a:xfrm>
            <a:off x="11875625" y="0"/>
            <a:ext cx="127322" cy="64355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5385FE7-07A3-7993-C286-635287CE955F}"/>
              </a:ext>
            </a:extLst>
          </p:cNvPr>
          <p:cNvCxnSpPr>
            <a:cxnSpLocks/>
          </p:cNvCxnSpPr>
          <p:nvPr/>
        </p:nvCxnSpPr>
        <p:spPr>
          <a:xfrm>
            <a:off x="1169043" y="1250066"/>
            <a:ext cx="45488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159748F-A870-E5F1-99CB-E2F241A8ED0E}"/>
              </a:ext>
            </a:extLst>
          </p:cNvPr>
          <p:cNvCxnSpPr>
            <a:cxnSpLocks/>
          </p:cNvCxnSpPr>
          <p:nvPr/>
        </p:nvCxnSpPr>
        <p:spPr>
          <a:xfrm flipH="1">
            <a:off x="5717893" y="1250066"/>
            <a:ext cx="1" cy="277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Flowchart: Data 29">
            <a:extLst>
              <a:ext uri="{FF2B5EF4-FFF2-40B4-BE49-F238E27FC236}">
                <a16:creationId xmlns:a16="http://schemas.microsoft.com/office/drawing/2014/main" id="{115C3507-5D57-39ED-FA28-F24AB59B6764}"/>
              </a:ext>
            </a:extLst>
          </p:cNvPr>
          <p:cNvSpPr/>
          <p:nvPr/>
        </p:nvSpPr>
        <p:spPr>
          <a:xfrm>
            <a:off x="4255143" y="1504703"/>
            <a:ext cx="2925500" cy="833371"/>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list of all question papers</a:t>
            </a:r>
            <a:endParaRPr lang="en-IN" dirty="0"/>
          </a:p>
        </p:txBody>
      </p:sp>
      <p:cxnSp>
        <p:nvCxnSpPr>
          <p:cNvPr id="32" name="Straight Arrow Connector 31">
            <a:extLst>
              <a:ext uri="{FF2B5EF4-FFF2-40B4-BE49-F238E27FC236}">
                <a16:creationId xmlns:a16="http://schemas.microsoft.com/office/drawing/2014/main" id="{71B1181C-9421-F952-DE61-6E1FBCD4E017}"/>
              </a:ext>
            </a:extLst>
          </p:cNvPr>
          <p:cNvCxnSpPr>
            <a:cxnSpLocks/>
          </p:cNvCxnSpPr>
          <p:nvPr/>
        </p:nvCxnSpPr>
        <p:spPr>
          <a:xfrm>
            <a:off x="5717893" y="2338074"/>
            <a:ext cx="0" cy="322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Flowchart: Data 32">
            <a:extLst>
              <a:ext uri="{FF2B5EF4-FFF2-40B4-BE49-F238E27FC236}">
                <a16:creationId xmlns:a16="http://schemas.microsoft.com/office/drawing/2014/main" id="{85E4FCEB-CFC7-A283-88D6-F147DE89064B}"/>
              </a:ext>
            </a:extLst>
          </p:cNvPr>
          <p:cNvSpPr/>
          <p:nvPr/>
        </p:nvSpPr>
        <p:spPr>
          <a:xfrm>
            <a:off x="4452396" y="2660187"/>
            <a:ext cx="2407531" cy="729205"/>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paper 1D to delete</a:t>
            </a:r>
            <a:endParaRPr lang="en-IN" dirty="0"/>
          </a:p>
        </p:txBody>
      </p:sp>
      <p:cxnSp>
        <p:nvCxnSpPr>
          <p:cNvPr id="36" name="Straight Arrow Connector 35">
            <a:extLst>
              <a:ext uri="{FF2B5EF4-FFF2-40B4-BE49-F238E27FC236}">
                <a16:creationId xmlns:a16="http://schemas.microsoft.com/office/drawing/2014/main" id="{331C6944-C1EF-E0BC-AA8F-42A9569597DC}"/>
              </a:ext>
            </a:extLst>
          </p:cNvPr>
          <p:cNvCxnSpPr>
            <a:stCxn id="33" idx="4"/>
          </p:cNvCxnSpPr>
          <p:nvPr/>
        </p:nvCxnSpPr>
        <p:spPr>
          <a:xfrm flipH="1">
            <a:off x="5656161" y="3389392"/>
            <a:ext cx="1" cy="277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4FA718C7-CAE2-F904-B879-4572211EF1E1}"/>
              </a:ext>
            </a:extLst>
          </p:cNvPr>
          <p:cNvSpPr/>
          <p:nvPr/>
        </p:nvSpPr>
        <p:spPr>
          <a:xfrm>
            <a:off x="4354016" y="3673637"/>
            <a:ext cx="2604289" cy="10301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DF1FA943-FCF3-06A3-AA32-77AA22F436A1}"/>
              </a:ext>
            </a:extLst>
          </p:cNvPr>
          <p:cNvSpPr txBox="1"/>
          <p:nvPr/>
        </p:nvSpPr>
        <p:spPr>
          <a:xfrm>
            <a:off x="4452396" y="3658921"/>
            <a:ext cx="2407531" cy="923330"/>
          </a:xfrm>
          <a:prstGeom prst="rect">
            <a:avLst/>
          </a:prstGeom>
          <a:noFill/>
        </p:spPr>
        <p:txBody>
          <a:bodyPr wrap="square" rtlCol="0">
            <a:spAutoFit/>
          </a:bodyPr>
          <a:lstStyle/>
          <a:p>
            <a:pPr marL="342900" indent="-342900">
              <a:buAutoNum type="arabicPeriod"/>
            </a:pPr>
            <a:r>
              <a:rPr lang="en-US" dirty="0">
                <a:solidFill>
                  <a:schemeClr val="bg1"/>
                </a:solidFill>
              </a:rPr>
              <a:t>Confirm deletion</a:t>
            </a:r>
          </a:p>
          <a:p>
            <a:pPr marL="342900" indent="-342900">
              <a:buAutoNum type="arabicPeriod"/>
            </a:pPr>
            <a:r>
              <a:rPr lang="en-US" dirty="0">
                <a:solidFill>
                  <a:schemeClr val="bg1"/>
                </a:solidFill>
              </a:rPr>
              <a:t>Delete paper from database and server</a:t>
            </a:r>
            <a:endParaRPr lang="en-IN" dirty="0">
              <a:solidFill>
                <a:schemeClr val="bg1"/>
              </a:solidFill>
            </a:endParaRPr>
          </a:p>
        </p:txBody>
      </p:sp>
      <p:cxnSp>
        <p:nvCxnSpPr>
          <p:cNvPr id="40" name="Straight Arrow Connector 39">
            <a:extLst>
              <a:ext uri="{FF2B5EF4-FFF2-40B4-BE49-F238E27FC236}">
                <a16:creationId xmlns:a16="http://schemas.microsoft.com/office/drawing/2014/main" id="{527898F8-A147-592D-51C2-40FBA3CB12A3}"/>
              </a:ext>
            </a:extLst>
          </p:cNvPr>
          <p:cNvCxnSpPr>
            <a:cxnSpLocks/>
            <a:stCxn id="38" idx="2"/>
            <a:endCxn id="41" idx="1"/>
          </p:cNvCxnSpPr>
          <p:nvPr/>
        </p:nvCxnSpPr>
        <p:spPr>
          <a:xfrm>
            <a:off x="5656162" y="4582251"/>
            <a:ext cx="19783" cy="3685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Flowchart: Data 40">
            <a:extLst>
              <a:ext uri="{FF2B5EF4-FFF2-40B4-BE49-F238E27FC236}">
                <a16:creationId xmlns:a16="http://schemas.microsoft.com/office/drawing/2014/main" id="{D62F04E2-0CD5-CDB6-3CAE-CE8439D0A9EA}"/>
              </a:ext>
            </a:extLst>
          </p:cNvPr>
          <p:cNvSpPr/>
          <p:nvPr/>
        </p:nvSpPr>
        <p:spPr>
          <a:xfrm>
            <a:off x="4171247" y="4950820"/>
            <a:ext cx="3009396" cy="76128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“deletion successful”</a:t>
            </a:r>
            <a:endParaRPr lang="en-IN" dirty="0"/>
          </a:p>
        </p:txBody>
      </p:sp>
      <p:cxnSp>
        <p:nvCxnSpPr>
          <p:cNvPr id="46" name="Straight Arrow Connector 45">
            <a:extLst>
              <a:ext uri="{FF2B5EF4-FFF2-40B4-BE49-F238E27FC236}">
                <a16:creationId xmlns:a16="http://schemas.microsoft.com/office/drawing/2014/main" id="{5F4DA578-A631-7772-CCAE-70859F96BA4E}"/>
              </a:ext>
            </a:extLst>
          </p:cNvPr>
          <p:cNvCxnSpPr>
            <a:cxnSpLocks/>
            <a:stCxn id="41" idx="4"/>
            <a:endCxn id="48" idx="0"/>
          </p:cNvCxnSpPr>
          <p:nvPr/>
        </p:nvCxnSpPr>
        <p:spPr>
          <a:xfrm>
            <a:off x="5675945" y="5712104"/>
            <a:ext cx="0" cy="2057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3A4AC378-E685-2D04-05E2-2BB972EB2823}"/>
              </a:ext>
            </a:extLst>
          </p:cNvPr>
          <p:cNvSpPr/>
          <p:nvPr/>
        </p:nvSpPr>
        <p:spPr>
          <a:xfrm>
            <a:off x="5045125" y="5917814"/>
            <a:ext cx="1261640" cy="45141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64" name="Straight Connector 63">
            <a:extLst>
              <a:ext uri="{FF2B5EF4-FFF2-40B4-BE49-F238E27FC236}">
                <a16:creationId xmlns:a16="http://schemas.microsoft.com/office/drawing/2014/main" id="{CD354F3E-05B8-5416-BA97-DCF67987849E}"/>
              </a:ext>
            </a:extLst>
          </p:cNvPr>
          <p:cNvCxnSpPr/>
          <p:nvPr/>
        </p:nvCxnSpPr>
        <p:spPr>
          <a:xfrm>
            <a:off x="2407534" y="949124"/>
            <a:ext cx="0" cy="138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85CFFAC-04E8-43F2-7416-109673FED8BA}"/>
              </a:ext>
            </a:extLst>
          </p:cNvPr>
          <p:cNvCxnSpPr/>
          <p:nvPr/>
        </p:nvCxnSpPr>
        <p:spPr>
          <a:xfrm>
            <a:off x="2407534" y="1088020"/>
            <a:ext cx="674804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A7A7865-0FE8-7A5C-DB98-DD64C12268B0}"/>
              </a:ext>
            </a:extLst>
          </p:cNvPr>
          <p:cNvCxnSpPr/>
          <p:nvPr/>
        </p:nvCxnSpPr>
        <p:spPr>
          <a:xfrm>
            <a:off x="3773347" y="625033"/>
            <a:ext cx="0" cy="185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45384E6-898E-4C3A-BA44-C313B3208DA4}"/>
              </a:ext>
            </a:extLst>
          </p:cNvPr>
          <p:cNvCxnSpPr>
            <a:cxnSpLocks/>
          </p:cNvCxnSpPr>
          <p:nvPr/>
        </p:nvCxnSpPr>
        <p:spPr>
          <a:xfrm>
            <a:off x="3773347" y="810228"/>
            <a:ext cx="5914663" cy="1471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433CC78-D969-7014-7FC3-2371C8A9B638}"/>
              </a:ext>
            </a:extLst>
          </p:cNvPr>
          <p:cNvCxnSpPr/>
          <p:nvPr/>
        </p:nvCxnSpPr>
        <p:spPr>
          <a:xfrm>
            <a:off x="5092861" y="555585"/>
            <a:ext cx="49308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BC49FE2-4930-97B2-5F5F-1E651BEC668F}"/>
              </a:ext>
            </a:extLst>
          </p:cNvPr>
          <p:cNvCxnSpPr/>
          <p:nvPr/>
        </p:nvCxnSpPr>
        <p:spPr>
          <a:xfrm>
            <a:off x="6354501" y="277792"/>
            <a:ext cx="4051140" cy="34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D2D1909-22EF-BFE0-CEBC-2D99A7D3719D}"/>
              </a:ext>
            </a:extLst>
          </p:cNvPr>
          <p:cNvCxnSpPr/>
          <p:nvPr/>
        </p:nvCxnSpPr>
        <p:spPr>
          <a:xfrm>
            <a:off x="9155575" y="1088020"/>
            <a:ext cx="0" cy="5281207"/>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E0C9CB-6363-539E-D2D6-D1EC7F0C2119}"/>
              </a:ext>
            </a:extLst>
          </p:cNvPr>
          <p:cNvCxnSpPr/>
          <p:nvPr/>
        </p:nvCxnSpPr>
        <p:spPr>
          <a:xfrm>
            <a:off x="9688010" y="810228"/>
            <a:ext cx="0" cy="5558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8063848-9B61-A308-9D68-8112185AB110}"/>
              </a:ext>
            </a:extLst>
          </p:cNvPr>
          <p:cNvCxnSpPr/>
          <p:nvPr/>
        </p:nvCxnSpPr>
        <p:spPr>
          <a:xfrm>
            <a:off x="10023676" y="555585"/>
            <a:ext cx="104172" cy="581364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903FBD9-422B-75C7-C7E9-7948CBBAFAAE}"/>
              </a:ext>
            </a:extLst>
          </p:cNvPr>
          <p:cNvCxnSpPr/>
          <p:nvPr/>
        </p:nvCxnSpPr>
        <p:spPr>
          <a:xfrm>
            <a:off x="10405641" y="295154"/>
            <a:ext cx="162045" cy="6074073"/>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9E28C74-DF14-8611-1F4E-9E6A94A9BF0B}"/>
              </a:ext>
            </a:extLst>
          </p:cNvPr>
          <p:cNvCxnSpPr/>
          <p:nvPr/>
        </p:nvCxnSpPr>
        <p:spPr>
          <a:xfrm>
            <a:off x="7662441" y="0"/>
            <a:ext cx="0" cy="138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01E124A0-950D-99FF-976C-B81FAFE35E69}"/>
              </a:ext>
            </a:extLst>
          </p:cNvPr>
          <p:cNvCxnSpPr/>
          <p:nvPr/>
        </p:nvCxnSpPr>
        <p:spPr>
          <a:xfrm>
            <a:off x="7662441" y="138896"/>
            <a:ext cx="317146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D6C24B5-239D-3CC6-2B49-4E43BFF91DDA}"/>
              </a:ext>
            </a:extLst>
          </p:cNvPr>
          <p:cNvCxnSpPr/>
          <p:nvPr/>
        </p:nvCxnSpPr>
        <p:spPr>
          <a:xfrm>
            <a:off x="10833904" y="138896"/>
            <a:ext cx="189053" cy="6230331"/>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5CD6419-4D16-8233-B69A-0037A018BFF9}"/>
              </a:ext>
            </a:extLst>
          </p:cNvPr>
          <p:cNvCxnSpPr/>
          <p:nvPr/>
        </p:nvCxnSpPr>
        <p:spPr>
          <a:xfrm>
            <a:off x="11655706" y="0"/>
            <a:ext cx="92598" cy="64355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13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58B940F-09CD-019A-5B89-2C45F4ED272E}"/>
              </a:ext>
            </a:extLst>
          </p:cNvPr>
          <p:cNvCxnSpPr>
            <a:cxnSpLocks/>
          </p:cNvCxnSpPr>
          <p:nvPr/>
        </p:nvCxnSpPr>
        <p:spPr>
          <a:xfrm>
            <a:off x="1169043" y="0"/>
            <a:ext cx="0" cy="787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6752DC0-BA5A-51D6-B61F-3B1E30F1126E}"/>
              </a:ext>
            </a:extLst>
          </p:cNvPr>
          <p:cNvCxnSpPr>
            <a:cxnSpLocks/>
          </p:cNvCxnSpPr>
          <p:nvPr/>
        </p:nvCxnSpPr>
        <p:spPr>
          <a:xfrm>
            <a:off x="2650603" y="0"/>
            <a:ext cx="0" cy="671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1FAB48-ED08-B5FC-26FE-6E14A8261CF0}"/>
              </a:ext>
            </a:extLst>
          </p:cNvPr>
          <p:cNvCxnSpPr>
            <a:cxnSpLocks/>
          </p:cNvCxnSpPr>
          <p:nvPr/>
        </p:nvCxnSpPr>
        <p:spPr>
          <a:xfrm>
            <a:off x="4710896" y="0"/>
            <a:ext cx="0" cy="393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443F661-5FCB-326C-BCAB-F42C0E4236E3}"/>
              </a:ext>
            </a:extLst>
          </p:cNvPr>
          <p:cNvCxnSpPr>
            <a:cxnSpLocks/>
          </p:cNvCxnSpPr>
          <p:nvPr/>
        </p:nvCxnSpPr>
        <p:spPr>
          <a:xfrm>
            <a:off x="6771190" y="0"/>
            <a:ext cx="0" cy="2777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3047558-D15B-B652-B63B-6DB5FD1BB55E}"/>
              </a:ext>
            </a:extLst>
          </p:cNvPr>
          <p:cNvCxnSpPr>
            <a:cxnSpLocks/>
          </p:cNvCxnSpPr>
          <p:nvPr/>
        </p:nvCxnSpPr>
        <p:spPr>
          <a:xfrm>
            <a:off x="11123271" y="-1"/>
            <a:ext cx="0" cy="6389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10BA3A4-33C1-7BE3-F93F-4B599ABB3F04}"/>
              </a:ext>
            </a:extLst>
          </p:cNvPr>
          <p:cNvCxnSpPr>
            <a:cxnSpLocks/>
          </p:cNvCxnSpPr>
          <p:nvPr/>
        </p:nvCxnSpPr>
        <p:spPr>
          <a:xfrm>
            <a:off x="11597832" y="-2"/>
            <a:ext cx="0" cy="6389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4E27D6-9860-4236-F22F-72BD23639879}"/>
              </a:ext>
            </a:extLst>
          </p:cNvPr>
          <p:cNvCxnSpPr>
            <a:cxnSpLocks/>
          </p:cNvCxnSpPr>
          <p:nvPr/>
        </p:nvCxnSpPr>
        <p:spPr>
          <a:xfrm>
            <a:off x="1192188" y="891252"/>
            <a:ext cx="44678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4A1EFC0-0360-9144-FA77-8951AD9D2F7C}"/>
              </a:ext>
            </a:extLst>
          </p:cNvPr>
          <p:cNvCxnSpPr>
            <a:cxnSpLocks/>
          </p:cNvCxnSpPr>
          <p:nvPr/>
        </p:nvCxnSpPr>
        <p:spPr>
          <a:xfrm>
            <a:off x="5660016" y="891252"/>
            <a:ext cx="0" cy="277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Flowchart: Data 29">
            <a:extLst>
              <a:ext uri="{FF2B5EF4-FFF2-40B4-BE49-F238E27FC236}">
                <a16:creationId xmlns:a16="http://schemas.microsoft.com/office/drawing/2014/main" id="{7C9478BC-72F1-C253-312C-46A17F017AD7}"/>
              </a:ext>
            </a:extLst>
          </p:cNvPr>
          <p:cNvSpPr/>
          <p:nvPr/>
        </p:nvSpPr>
        <p:spPr>
          <a:xfrm>
            <a:off x="3831216" y="1186408"/>
            <a:ext cx="3611301" cy="810221"/>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list of all question papers</a:t>
            </a:r>
            <a:endParaRPr lang="en-IN" dirty="0"/>
          </a:p>
        </p:txBody>
      </p:sp>
      <p:cxnSp>
        <p:nvCxnSpPr>
          <p:cNvPr id="32" name="Straight Arrow Connector 31">
            <a:extLst>
              <a:ext uri="{FF2B5EF4-FFF2-40B4-BE49-F238E27FC236}">
                <a16:creationId xmlns:a16="http://schemas.microsoft.com/office/drawing/2014/main" id="{7364A608-F190-C0A1-CF2A-0D07B5415130}"/>
              </a:ext>
            </a:extLst>
          </p:cNvPr>
          <p:cNvCxnSpPr>
            <a:stCxn id="30" idx="4"/>
          </p:cNvCxnSpPr>
          <p:nvPr/>
        </p:nvCxnSpPr>
        <p:spPr>
          <a:xfrm flipH="1">
            <a:off x="5636866" y="1996629"/>
            <a:ext cx="1" cy="266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Flowchart: Data 33">
            <a:extLst>
              <a:ext uri="{FF2B5EF4-FFF2-40B4-BE49-F238E27FC236}">
                <a16:creationId xmlns:a16="http://schemas.microsoft.com/office/drawing/2014/main" id="{6A16E7DA-890B-2766-A6F3-52203DF3C540}"/>
              </a:ext>
            </a:extLst>
          </p:cNvPr>
          <p:cNvSpPr/>
          <p:nvPr/>
        </p:nvSpPr>
        <p:spPr>
          <a:xfrm>
            <a:off x="4363651" y="2286003"/>
            <a:ext cx="2592729" cy="810221"/>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paper ID to update</a:t>
            </a:r>
            <a:endParaRPr lang="en-IN" dirty="0"/>
          </a:p>
        </p:txBody>
      </p:sp>
      <p:cxnSp>
        <p:nvCxnSpPr>
          <p:cNvPr id="36" name="Straight Arrow Connector 35">
            <a:extLst>
              <a:ext uri="{FF2B5EF4-FFF2-40B4-BE49-F238E27FC236}">
                <a16:creationId xmlns:a16="http://schemas.microsoft.com/office/drawing/2014/main" id="{C1FC907C-4A6A-006D-4078-E97A1CAE0333}"/>
              </a:ext>
            </a:extLst>
          </p:cNvPr>
          <p:cNvCxnSpPr>
            <a:stCxn id="34" idx="4"/>
          </p:cNvCxnSpPr>
          <p:nvPr/>
        </p:nvCxnSpPr>
        <p:spPr>
          <a:xfrm flipH="1">
            <a:off x="5660015" y="3096224"/>
            <a:ext cx="1" cy="231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Flowchart: Data 36">
            <a:extLst>
              <a:ext uri="{FF2B5EF4-FFF2-40B4-BE49-F238E27FC236}">
                <a16:creationId xmlns:a16="http://schemas.microsoft.com/office/drawing/2014/main" id="{0485967C-33F5-96C3-8032-A7DE3E74C615}"/>
              </a:ext>
            </a:extLst>
          </p:cNvPr>
          <p:cNvSpPr/>
          <p:nvPr/>
        </p:nvSpPr>
        <p:spPr>
          <a:xfrm>
            <a:off x="4172669" y="3339292"/>
            <a:ext cx="2928394" cy="567153"/>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current details</a:t>
            </a:r>
            <a:endParaRPr lang="en-IN" dirty="0"/>
          </a:p>
        </p:txBody>
      </p:sp>
      <p:cxnSp>
        <p:nvCxnSpPr>
          <p:cNvPr id="39" name="Straight Arrow Connector 38">
            <a:extLst>
              <a:ext uri="{FF2B5EF4-FFF2-40B4-BE49-F238E27FC236}">
                <a16:creationId xmlns:a16="http://schemas.microsoft.com/office/drawing/2014/main" id="{32252BBC-FC80-CC64-E180-D2CE3C44854F}"/>
              </a:ext>
            </a:extLst>
          </p:cNvPr>
          <p:cNvCxnSpPr>
            <a:stCxn id="37" idx="4"/>
          </p:cNvCxnSpPr>
          <p:nvPr/>
        </p:nvCxnSpPr>
        <p:spPr>
          <a:xfrm>
            <a:off x="5636866" y="3906445"/>
            <a:ext cx="0" cy="300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Flowchart: Data 39">
            <a:extLst>
              <a:ext uri="{FF2B5EF4-FFF2-40B4-BE49-F238E27FC236}">
                <a16:creationId xmlns:a16="http://schemas.microsoft.com/office/drawing/2014/main" id="{E9B6B156-CBC9-90E5-1E94-A95F1A21295C}"/>
              </a:ext>
            </a:extLst>
          </p:cNvPr>
          <p:cNvSpPr/>
          <p:nvPr/>
        </p:nvSpPr>
        <p:spPr>
          <a:xfrm>
            <a:off x="4097439" y="4207403"/>
            <a:ext cx="3136738" cy="567153"/>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new details to update</a:t>
            </a:r>
            <a:endParaRPr lang="en-IN" dirty="0"/>
          </a:p>
        </p:txBody>
      </p:sp>
      <p:cxnSp>
        <p:nvCxnSpPr>
          <p:cNvPr id="43" name="Straight Arrow Connector 42">
            <a:extLst>
              <a:ext uri="{FF2B5EF4-FFF2-40B4-BE49-F238E27FC236}">
                <a16:creationId xmlns:a16="http://schemas.microsoft.com/office/drawing/2014/main" id="{471E9610-EE65-4722-6D81-08BE83F6AA85}"/>
              </a:ext>
            </a:extLst>
          </p:cNvPr>
          <p:cNvCxnSpPr>
            <a:stCxn id="40" idx="4"/>
          </p:cNvCxnSpPr>
          <p:nvPr/>
        </p:nvCxnSpPr>
        <p:spPr>
          <a:xfrm>
            <a:off x="5665808" y="4774556"/>
            <a:ext cx="0" cy="277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967E4792-BB26-82D2-E0AB-2AEAC4D38D53}"/>
              </a:ext>
            </a:extLst>
          </p:cNvPr>
          <p:cNvSpPr/>
          <p:nvPr/>
        </p:nvSpPr>
        <p:spPr>
          <a:xfrm>
            <a:off x="4537279" y="5075514"/>
            <a:ext cx="2407531" cy="740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“update successful”</a:t>
            </a:r>
            <a:endParaRPr lang="en-IN" dirty="0"/>
          </a:p>
        </p:txBody>
      </p:sp>
      <p:cxnSp>
        <p:nvCxnSpPr>
          <p:cNvPr id="49" name="Straight Connector 48">
            <a:extLst>
              <a:ext uri="{FF2B5EF4-FFF2-40B4-BE49-F238E27FC236}">
                <a16:creationId xmlns:a16="http://schemas.microsoft.com/office/drawing/2014/main" id="{7554426B-2464-25E6-10AD-CB52C53F4C54}"/>
              </a:ext>
            </a:extLst>
          </p:cNvPr>
          <p:cNvCxnSpPr>
            <a:cxnSpLocks/>
          </p:cNvCxnSpPr>
          <p:nvPr/>
        </p:nvCxnSpPr>
        <p:spPr>
          <a:xfrm>
            <a:off x="1169043" y="787078"/>
            <a:ext cx="0" cy="104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EDE7C29-065E-D7FF-B308-BDA339F7A9C6}"/>
              </a:ext>
            </a:extLst>
          </p:cNvPr>
          <p:cNvCxnSpPr>
            <a:stCxn id="44" idx="2"/>
          </p:cNvCxnSpPr>
          <p:nvPr/>
        </p:nvCxnSpPr>
        <p:spPr>
          <a:xfrm flipH="1">
            <a:off x="5741044" y="5816294"/>
            <a:ext cx="1" cy="167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4EA73A8D-E23D-0E81-7D5D-9F680F69A560}"/>
              </a:ext>
            </a:extLst>
          </p:cNvPr>
          <p:cNvSpPr/>
          <p:nvPr/>
        </p:nvSpPr>
        <p:spPr>
          <a:xfrm>
            <a:off x="5237545" y="5984111"/>
            <a:ext cx="1006998" cy="32409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55" name="Straight Connector 54">
            <a:extLst>
              <a:ext uri="{FF2B5EF4-FFF2-40B4-BE49-F238E27FC236}">
                <a16:creationId xmlns:a16="http://schemas.microsoft.com/office/drawing/2014/main" id="{293438CA-6F1D-0D33-34E4-57ABC8BDCDF8}"/>
              </a:ext>
            </a:extLst>
          </p:cNvPr>
          <p:cNvCxnSpPr>
            <a:cxnSpLocks/>
          </p:cNvCxnSpPr>
          <p:nvPr/>
        </p:nvCxnSpPr>
        <p:spPr>
          <a:xfrm>
            <a:off x="2650603" y="671332"/>
            <a:ext cx="6007260" cy="578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B9B9261-3B4E-7C41-BDBD-91FD1DDAF44F}"/>
              </a:ext>
            </a:extLst>
          </p:cNvPr>
          <p:cNvCxnSpPr/>
          <p:nvPr/>
        </p:nvCxnSpPr>
        <p:spPr>
          <a:xfrm>
            <a:off x="4710896" y="393539"/>
            <a:ext cx="47108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90E28A5-A3D4-A0B9-74C9-634D7AF989AE}"/>
              </a:ext>
            </a:extLst>
          </p:cNvPr>
          <p:cNvCxnSpPr>
            <a:cxnSpLocks/>
          </p:cNvCxnSpPr>
          <p:nvPr/>
        </p:nvCxnSpPr>
        <p:spPr>
          <a:xfrm>
            <a:off x="6771190" y="277792"/>
            <a:ext cx="34724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3EA534EE-CA47-5E31-8C5E-7C79489F48DA}"/>
              </a:ext>
            </a:extLst>
          </p:cNvPr>
          <p:cNvCxnSpPr/>
          <p:nvPr/>
        </p:nvCxnSpPr>
        <p:spPr>
          <a:xfrm>
            <a:off x="8657863" y="729205"/>
            <a:ext cx="7639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74DAE6C-1AB4-874A-CD52-2D9CD9A8BFDE}"/>
              </a:ext>
            </a:extLst>
          </p:cNvPr>
          <p:cNvCxnSpPr>
            <a:cxnSpLocks/>
          </p:cNvCxnSpPr>
          <p:nvPr/>
        </p:nvCxnSpPr>
        <p:spPr>
          <a:xfrm>
            <a:off x="9421792" y="393539"/>
            <a:ext cx="4166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5A43566-D581-E9F6-48B7-C12BDDAC6916}"/>
              </a:ext>
            </a:extLst>
          </p:cNvPr>
          <p:cNvCxnSpPr>
            <a:cxnSpLocks/>
          </p:cNvCxnSpPr>
          <p:nvPr/>
        </p:nvCxnSpPr>
        <p:spPr>
          <a:xfrm>
            <a:off x="9421792" y="729205"/>
            <a:ext cx="34724" cy="5578997"/>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FFF669E-91CD-8C3F-3A42-49CFD2306E6D}"/>
              </a:ext>
            </a:extLst>
          </p:cNvPr>
          <p:cNvCxnSpPr/>
          <p:nvPr/>
        </p:nvCxnSpPr>
        <p:spPr>
          <a:xfrm>
            <a:off x="9838481" y="393539"/>
            <a:ext cx="0" cy="5995686"/>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ECA284E-0249-5E6B-F6E1-5FA79CDF8C51}"/>
              </a:ext>
            </a:extLst>
          </p:cNvPr>
          <p:cNvCxnSpPr>
            <a:cxnSpLocks/>
          </p:cNvCxnSpPr>
          <p:nvPr/>
        </p:nvCxnSpPr>
        <p:spPr>
          <a:xfrm>
            <a:off x="10243596" y="277792"/>
            <a:ext cx="0" cy="60304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1A46F61-79C1-DAF3-C787-8BBA7F792734}"/>
              </a:ext>
            </a:extLst>
          </p:cNvPr>
          <p:cNvCxnSpPr/>
          <p:nvPr/>
        </p:nvCxnSpPr>
        <p:spPr>
          <a:xfrm>
            <a:off x="7859210" y="-2"/>
            <a:ext cx="0" cy="138898"/>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0AA2BC0-50FA-FC7B-B045-FCAD1420DC30}"/>
              </a:ext>
            </a:extLst>
          </p:cNvPr>
          <p:cNvCxnSpPr/>
          <p:nvPr/>
        </p:nvCxnSpPr>
        <p:spPr>
          <a:xfrm>
            <a:off x="7859210" y="138896"/>
            <a:ext cx="28473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3C94D749-A4D4-4660-F3B8-C4FE6861DBAA}"/>
              </a:ext>
            </a:extLst>
          </p:cNvPr>
          <p:cNvCxnSpPr/>
          <p:nvPr/>
        </p:nvCxnSpPr>
        <p:spPr>
          <a:xfrm>
            <a:off x="10695008" y="196769"/>
            <a:ext cx="0" cy="611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DD857F0-B93B-D329-B95B-998CE48F69E3}"/>
              </a:ext>
            </a:extLst>
          </p:cNvPr>
          <p:cNvCxnSpPr/>
          <p:nvPr/>
        </p:nvCxnSpPr>
        <p:spPr>
          <a:xfrm>
            <a:off x="12002947" y="0"/>
            <a:ext cx="0" cy="630820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202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F7B818D-AEF3-3E04-EE17-9AD09A265CD4}"/>
              </a:ext>
            </a:extLst>
          </p:cNvPr>
          <p:cNvCxnSpPr/>
          <p:nvPr/>
        </p:nvCxnSpPr>
        <p:spPr>
          <a:xfrm>
            <a:off x="1504709" y="0"/>
            <a:ext cx="0" cy="11111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43A4B88-A263-DE86-B974-56ABAE2D3CAC}"/>
              </a:ext>
            </a:extLst>
          </p:cNvPr>
          <p:cNvCxnSpPr/>
          <p:nvPr/>
        </p:nvCxnSpPr>
        <p:spPr>
          <a:xfrm>
            <a:off x="3738623" y="0"/>
            <a:ext cx="0" cy="659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CBD1A6B-3BB1-63D2-001A-C0A3DD6EC28A}"/>
              </a:ext>
            </a:extLst>
          </p:cNvPr>
          <p:cNvCxnSpPr/>
          <p:nvPr/>
        </p:nvCxnSpPr>
        <p:spPr>
          <a:xfrm>
            <a:off x="6319777" y="0"/>
            <a:ext cx="0" cy="3819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E2D716B-6C3F-388E-8798-AA0E30A873FF}"/>
              </a:ext>
            </a:extLst>
          </p:cNvPr>
          <p:cNvCxnSpPr/>
          <p:nvPr/>
        </p:nvCxnSpPr>
        <p:spPr>
          <a:xfrm>
            <a:off x="11262167" y="0"/>
            <a:ext cx="0" cy="63545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66163A1-E6FB-2772-8E0B-44785F562353}"/>
              </a:ext>
            </a:extLst>
          </p:cNvPr>
          <p:cNvCxnSpPr>
            <a:cxnSpLocks/>
          </p:cNvCxnSpPr>
          <p:nvPr/>
        </p:nvCxnSpPr>
        <p:spPr>
          <a:xfrm>
            <a:off x="11806177" y="0"/>
            <a:ext cx="0" cy="63197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8B79A7C-48C2-9436-782A-2791DAD56E39}"/>
              </a:ext>
            </a:extLst>
          </p:cNvPr>
          <p:cNvCxnSpPr>
            <a:cxnSpLocks/>
          </p:cNvCxnSpPr>
          <p:nvPr/>
        </p:nvCxnSpPr>
        <p:spPr>
          <a:xfrm>
            <a:off x="1504709" y="1111170"/>
            <a:ext cx="331035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7936F08-F6D5-17A3-FE6D-F7930D5A42F9}"/>
              </a:ext>
            </a:extLst>
          </p:cNvPr>
          <p:cNvCxnSpPr/>
          <p:nvPr/>
        </p:nvCxnSpPr>
        <p:spPr>
          <a:xfrm>
            <a:off x="4815068" y="1111170"/>
            <a:ext cx="0" cy="532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488CF72-5CAF-0C1B-FF6B-E06381F8EAD9}"/>
              </a:ext>
            </a:extLst>
          </p:cNvPr>
          <p:cNvSpPr/>
          <p:nvPr/>
        </p:nvSpPr>
        <p:spPr>
          <a:xfrm>
            <a:off x="3541855" y="1692799"/>
            <a:ext cx="2546426" cy="1059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all papers from database</a:t>
            </a:r>
            <a:endParaRPr lang="en-IN" dirty="0"/>
          </a:p>
        </p:txBody>
      </p:sp>
      <p:cxnSp>
        <p:nvCxnSpPr>
          <p:cNvPr id="25" name="Straight Arrow Connector 24">
            <a:extLst>
              <a:ext uri="{FF2B5EF4-FFF2-40B4-BE49-F238E27FC236}">
                <a16:creationId xmlns:a16="http://schemas.microsoft.com/office/drawing/2014/main" id="{D11DED72-4659-BBE1-FD8F-317062B7E51E}"/>
              </a:ext>
            </a:extLst>
          </p:cNvPr>
          <p:cNvCxnSpPr>
            <a:stCxn id="23" idx="2"/>
          </p:cNvCxnSpPr>
          <p:nvPr/>
        </p:nvCxnSpPr>
        <p:spPr>
          <a:xfrm>
            <a:off x="4815068" y="2751883"/>
            <a:ext cx="0" cy="425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Flowchart: Data 25">
            <a:extLst>
              <a:ext uri="{FF2B5EF4-FFF2-40B4-BE49-F238E27FC236}">
                <a16:creationId xmlns:a16="http://schemas.microsoft.com/office/drawing/2014/main" id="{31FCA2D1-0DDA-4C19-C8F4-BED657AA608D}"/>
              </a:ext>
            </a:extLst>
          </p:cNvPr>
          <p:cNvSpPr/>
          <p:nvPr/>
        </p:nvSpPr>
        <p:spPr>
          <a:xfrm>
            <a:off x="3422249" y="3277084"/>
            <a:ext cx="2673751" cy="80733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in tabular format with filter</a:t>
            </a:r>
            <a:endParaRPr lang="en-IN" dirty="0"/>
          </a:p>
        </p:txBody>
      </p:sp>
      <p:cxnSp>
        <p:nvCxnSpPr>
          <p:cNvPr id="28" name="Straight Arrow Connector 27">
            <a:extLst>
              <a:ext uri="{FF2B5EF4-FFF2-40B4-BE49-F238E27FC236}">
                <a16:creationId xmlns:a16="http://schemas.microsoft.com/office/drawing/2014/main" id="{C017A770-345B-CE7F-16AC-14422C251CCA}"/>
              </a:ext>
            </a:extLst>
          </p:cNvPr>
          <p:cNvCxnSpPr>
            <a:stCxn id="26" idx="4"/>
          </p:cNvCxnSpPr>
          <p:nvPr/>
        </p:nvCxnSpPr>
        <p:spPr>
          <a:xfrm flipH="1">
            <a:off x="4759124" y="4084418"/>
            <a:ext cx="1" cy="4065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29057CB5-BC75-C9CD-2ACB-D4C630662A81}"/>
              </a:ext>
            </a:extLst>
          </p:cNvPr>
          <p:cNvSpPr/>
          <p:nvPr/>
        </p:nvSpPr>
        <p:spPr>
          <a:xfrm>
            <a:off x="4055962" y="4535829"/>
            <a:ext cx="1406324" cy="6293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33" name="Straight Connector 32">
            <a:extLst>
              <a:ext uri="{FF2B5EF4-FFF2-40B4-BE49-F238E27FC236}">
                <a16:creationId xmlns:a16="http://schemas.microsoft.com/office/drawing/2014/main" id="{99CA6C07-1E71-FBE9-AACD-BF57DC8B3E5F}"/>
              </a:ext>
            </a:extLst>
          </p:cNvPr>
          <p:cNvCxnSpPr/>
          <p:nvPr/>
        </p:nvCxnSpPr>
        <p:spPr>
          <a:xfrm>
            <a:off x="3738623" y="659757"/>
            <a:ext cx="0" cy="2199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D43E5D8-41F1-029B-CD0A-AB60E718DACE}"/>
              </a:ext>
            </a:extLst>
          </p:cNvPr>
          <p:cNvCxnSpPr/>
          <p:nvPr/>
        </p:nvCxnSpPr>
        <p:spPr>
          <a:xfrm>
            <a:off x="3738623" y="879676"/>
            <a:ext cx="44794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1A11EBE-2A86-1E71-2613-3F5D4CE78096}"/>
              </a:ext>
            </a:extLst>
          </p:cNvPr>
          <p:cNvCxnSpPr/>
          <p:nvPr/>
        </p:nvCxnSpPr>
        <p:spPr>
          <a:xfrm>
            <a:off x="8218025" y="879676"/>
            <a:ext cx="0" cy="763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Flowchart: Data 37">
            <a:extLst>
              <a:ext uri="{FF2B5EF4-FFF2-40B4-BE49-F238E27FC236}">
                <a16:creationId xmlns:a16="http://schemas.microsoft.com/office/drawing/2014/main" id="{762DCA03-900C-FB1E-FC00-54CD70B6B2A2}"/>
              </a:ext>
            </a:extLst>
          </p:cNvPr>
          <p:cNvSpPr/>
          <p:nvPr/>
        </p:nvSpPr>
        <p:spPr>
          <a:xfrm>
            <a:off x="6904300" y="1750667"/>
            <a:ext cx="2453832" cy="76392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sub menu</a:t>
            </a:r>
            <a:endParaRPr lang="en-IN" dirty="0"/>
          </a:p>
        </p:txBody>
      </p:sp>
      <p:cxnSp>
        <p:nvCxnSpPr>
          <p:cNvPr id="40" name="Straight Arrow Connector 39">
            <a:extLst>
              <a:ext uri="{FF2B5EF4-FFF2-40B4-BE49-F238E27FC236}">
                <a16:creationId xmlns:a16="http://schemas.microsoft.com/office/drawing/2014/main" id="{D97E70F1-ABDC-E036-6776-4BD4D1D938C3}"/>
              </a:ext>
            </a:extLst>
          </p:cNvPr>
          <p:cNvCxnSpPr>
            <a:stCxn id="38" idx="4"/>
          </p:cNvCxnSpPr>
          <p:nvPr/>
        </p:nvCxnSpPr>
        <p:spPr>
          <a:xfrm>
            <a:off x="8131216" y="2514591"/>
            <a:ext cx="0" cy="541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6CF324B-DAB1-4FF5-F62B-FE0F0B47860A}"/>
              </a:ext>
            </a:extLst>
          </p:cNvPr>
          <p:cNvSpPr/>
          <p:nvPr/>
        </p:nvSpPr>
        <p:spPr>
          <a:xfrm>
            <a:off x="6991109" y="3100573"/>
            <a:ext cx="2453832" cy="982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Perform selected operation</a:t>
            </a:r>
            <a:endParaRPr lang="en-IN" dirty="0"/>
          </a:p>
        </p:txBody>
      </p:sp>
      <p:cxnSp>
        <p:nvCxnSpPr>
          <p:cNvPr id="43" name="Straight Arrow Connector 42">
            <a:extLst>
              <a:ext uri="{FF2B5EF4-FFF2-40B4-BE49-F238E27FC236}">
                <a16:creationId xmlns:a16="http://schemas.microsoft.com/office/drawing/2014/main" id="{2B5450BF-9BCA-BD1D-F6E4-53D1DEBFAD06}"/>
              </a:ext>
            </a:extLst>
          </p:cNvPr>
          <p:cNvCxnSpPr>
            <a:cxnSpLocks/>
            <a:stCxn id="41" idx="2"/>
          </p:cNvCxnSpPr>
          <p:nvPr/>
        </p:nvCxnSpPr>
        <p:spPr>
          <a:xfrm>
            <a:off x="8218025" y="4082973"/>
            <a:ext cx="0" cy="45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183C89E1-B351-F026-7851-562E1EEA8D27}"/>
              </a:ext>
            </a:extLst>
          </p:cNvPr>
          <p:cNvSpPr/>
          <p:nvPr/>
        </p:nvSpPr>
        <p:spPr>
          <a:xfrm>
            <a:off x="7674016" y="4582852"/>
            <a:ext cx="1226916" cy="5353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47" name="Straight Connector 46">
            <a:extLst>
              <a:ext uri="{FF2B5EF4-FFF2-40B4-BE49-F238E27FC236}">
                <a16:creationId xmlns:a16="http://schemas.microsoft.com/office/drawing/2014/main" id="{30C3D1F3-A426-1AD1-EFEA-B8B61D584F49}"/>
              </a:ext>
            </a:extLst>
          </p:cNvPr>
          <p:cNvCxnSpPr/>
          <p:nvPr/>
        </p:nvCxnSpPr>
        <p:spPr>
          <a:xfrm>
            <a:off x="6319777" y="381965"/>
            <a:ext cx="0" cy="27779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AA7AE14-B8D1-94FD-B4BC-B4A741C7B5A4}"/>
              </a:ext>
            </a:extLst>
          </p:cNvPr>
          <p:cNvCxnSpPr/>
          <p:nvPr/>
        </p:nvCxnSpPr>
        <p:spPr>
          <a:xfrm>
            <a:off x="6319777" y="659757"/>
            <a:ext cx="35534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D2649FB-6545-A119-B470-2A701591ED46}"/>
              </a:ext>
            </a:extLst>
          </p:cNvPr>
          <p:cNvCxnSpPr/>
          <p:nvPr/>
        </p:nvCxnSpPr>
        <p:spPr>
          <a:xfrm>
            <a:off x="7674016" y="0"/>
            <a:ext cx="0" cy="3819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F182808-1573-262B-A9A0-DEA2BC5D8A33}"/>
              </a:ext>
            </a:extLst>
          </p:cNvPr>
          <p:cNvCxnSpPr>
            <a:cxnSpLocks/>
          </p:cNvCxnSpPr>
          <p:nvPr/>
        </p:nvCxnSpPr>
        <p:spPr>
          <a:xfrm>
            <a:off x="7674016" y="381965"/>
            <a:ext cx="32331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25B9DE6-05B0-2013-4F40-8FE93565EDE0}"/>
              </a:ext>
            </a:extLst>
          </p:cNvPr>
          <p:cNvCxnSpPr/>
          <p:nvPr/>
        </p:nvCxnSpPr>
        <p:spPr>
          <a:xfrm>
            <a:off x="9873205" y="659757"/>
            <a:ext cx="5903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9A15116-8255-7591-EC45-5F31DAB928D1}"/>
              </a:ext>
            </a:extLst>
          </p:cNvPr>
          <p:cNvCxnSpPr/>
          <p:nvPr/>
        </p:nvCxnSpPr>
        <p:spPr>
          <a:xfrm>
            <a:off x="10463514" y="659757"/>
            <a:ext cx="0" cy="569474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6549EA3-34B9-8510-4596-043E9A695FBD}"/>
              </a:ext>
            </a:extLst>
          </p:cNvPr>
          <p:cNvCxnSpPr/>
          <p:nvPr/>
        </p:nvCxnSpPr>
        <p:spPr>
          <a:xfrm>
            <a:off x="10907210" y="381965"/>
            <a:ext cx="0" cy="597253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0318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87F2A49-0A19-B531-F213-8BF13107AEA5}"/>
              </a:ext>
            </a:extLst>
          </p:cNvPr>
          <p:cNvCxnSpPr/>
          <p:nvPr/>
        </p:nvCxnSpPr>
        <p:spPr>
          <a:xfrm>
            <a:off x="2095018" y="0"/>
            <a:ext cx="0" cy="1030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E2FA0A5-7DDB-0922-92FD-74EAFE96907B}"/>
              </a:ext>
            </a:extLst>
          </p:cNvPr>
          <p:cNvCxnSpPr/>
          <p:nvPr/>
        </p:nvCxnSpPr>
        <p:spPr>
          <a:xfrm>
            <a:off x="2095018" y="1030147"/>
            <a:ext cx="277792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22CA66-A7F6-E8C7-91D7-2E43DF317DE0}"/>
              </a:ext>
            </a:extLst>
          </p:cNvPr>
          <p:cNvCxnSpPr/>
          <p:nvPr/>
        </p:nvCxnSpPr>
        <p:spPr>
          <a:xfrm>
            <a:off x="4872942" y="1030147"/>
            <a:ext cx="0" cy="405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Flowchart: Data 7">
            <a:extLst>
              <a:ext uri="{FF2B5EF4-FFF2-40B4-BE49-F238E27FC236}">
                <a16:creationId xmlns:a16="http://schemas.microsoft.com/office/drawing/2014/main" id="{2F8A8338-63D8-1922-D675-F4F69B4C860A}"/>
              </a:ext>
            </a:extLst>
          </p:cNvPr>
          <p:cNvSpPr/>
          <p:nvPr/>
        </p:nvSpPr>
        <p:spPr>
          <a:xfrm>
            <a:off x="3229337" y="1527859"/>
            <a:ext cx="3287210" cy="879676"/>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download count for each paper</a:t>
            </a:r>
            <a:endParaRPr lang="en-IN" dirty="0"/>
          </a:p>
        </p:txBody>
      </p:sp>
      <p:cxnSp>
        <p:nvCxnSpPr>
          <p:cNvPr id="10" name="Straight Arrow Connector 9">
            <a:extLst>
              <a:ext uri="{FF2B5EF4-FFF2-40B4-BE49-F238E27FC236}">
                <a16:creationId xmlns:a16="http://schemas.microsoft.com/office/drawing/2014/main" id="{6150C269-C2DE-AFEC-D304-B6DC842071D1}"/>
              </a:ext>
            </a:extLst>
          </p:cNvPr>
          <p:cNvCxnSpPr>
            <a:stCxn id="8" idx="4"/>
          </p:cNvCxnSpPr>
          <p:nvPr/>
        </p:nvCxnSpPr>
        <p:spPr>
          <a:xfrm>
            <a:off x="4872942" y="2407535"/>
            <a:ext cx="0" cy="358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Flowchart: Data 10">
            <a:extLst>
              <a:ext uri="{FF2B5EF4-FFF2-40B4-BE49-F238E27FC236}">
                <a16:creationId xmlns:a16="http://schemas.microsoft.com/office/drawing/2014/main" id="{04F5924E-DC45-F19A-ACFF-D6633E28B2F6}"/>
              </a:ext>
            </a:extLst>
          </p:cNvPr>
          <p:cNvSpPr/>
          <p:nvPr/>
        </p:nvSpPr>
        <p:spPr>
          <a:xfrm>
            <a:off x="3009419" y="2766349"/>
            <a:ext cx="3507128" cy="879676"/>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most downloaded papers</a:t>
            </a:r>
            <a:endParaRPr lang="en-IN" dirty="0"/>
          </a:p>
        </p:txBody>
      </p:sp>
      <p:cxnSp>
        <p:nvCxnSpPr>
          <p:cNvPr id="13" name="Straight Arrow Connector 12">
            <a:extLst>
              <a:ext uri="{FF2B5EF4-FFF2-40B4-BE49-F238E27FC236}">
                <a16:creationId xmlns:a16="http://schemas.microsoft.com/office/drawing/2014/main" id="{1A85E1AC-09E0-C129-00B6-58F17E51AED3}"/>
              </a:ext>
            </a:extLst>
          </p:cNvPr>
          <p:cNvCxnSpPr>
            <a:cxnSpLocks/>
            <a:stCxn id="11" idx="4"/>
          </p:cNvCxnSpPr>
          <p:nvPr/>
        </p:nvCxnSpPr>
        <p:spPr>
          <a:xfrm>
            <a:off x="4762983" y="3646025"/>
            <a:ext cx="0" cy="405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Flowchart: Data 14">
            <a:extLst>
              <a:ext uri="{FF2B5EF4-FFF2-40B4-BE49-F238E27FC236}">
                <a16:creationId xmlns:a16="http://schemas.microsoft.com/office/drawing/2014/main" id="{6C311A1A-3236-CF74-A6D9-256AF3612833}"/>
              </a:ext>
            </a:extLst>
          </p:cNvPr>
          <p:cNvSpPr/>
          <p:nvPr/>
        </p:nvSpPr>
        <p:spPr>
          <a:xfrm>
            <a:off x="3119378" y="4120587"/>
            <a:ext cx="3287209" cy="740780"/>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subject wise statistics</a:t>
            </a:r>
            <a:endParaRPr lang="en-IN" dirty="0"/>
          </a:p>
        </p:txBody>
      </p:sp>
      <p:cxnSp>
        <p:nvCxnSpPr>
          <p:cNvPr id="17" name="Straight Arrow Connector 16">
            <a:extLst>
              <a:ext uri="{FF2B5EF4-FFF2-40B4-BE49-F238E27FC236}">
                <a16:creationId xmlns:a16="http://schemas.microsoft.com/office/drawing/2014/main" id="{DF22897B-ED39-D5E2-A15C-16DB10BB2FF9}"/>
              </a:ext>
            </a:extLst>
          </p:cNvPr>
          <p:cNvCxnSpPr>
            <a:stCxn id="15" idx="4"/>
          </p:cNvCxnSpPr>
          <p:nvPr/>
        </p:nvCxnSpPr>
        <p:spPr>
          <a:xfrm flipH="1">
            <a:off x="4762982" y="4861367"/>
            <a:ext cx="1" cy="277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E2833D2A-A766-A763-D952-1E6C644BFB75}"/>
              </a:ext>
            </a:extLst>
          </p:cNvPr>
          <p:cNvSpPr/>
          <p:nvPr/>
        </p:nvSpPr>
        <p:spPr>
          <a:xfrm>
            <a:off x="4218972" y="5144946"/>
            <a:ext cx="1088019" cy="4340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20" name="Straight Connector 19">
            <a:extLst>
              <a:ext uri="{FF2B5EF4-FFF2-40B4-BE49-F238E27FC236}">
                <a16:creationId xmlns:a16="http://schemas.microsoft.com/office/drawing/2014/main" id="{08C0C399-DEA0-AF1E-BA5A-144F78647899}"/>
              </a:ext>
            </a:extLst>
          </p:cNvPr>
          <p:cNvCxnSpPr/>
          <p:nvPr/>
        </p:nvCxnSpPr>
        <p:spPr>
          <a:xfrm>
            <a:off x="4560425" y="0"/>
            <a:ext cx="0" cy="5150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DD5FB3F-6192-1F3C-00F5-73EF8140F7DE}"/>
              </a:ext>
            </a:extLst>
          </p:cNvPr>
          <p:cNvCxnSpPr>
            <a:cxnSpLocks/>
          </p:cNvCxnSpPr>
          <p:nvPr/>
        </p:nvCxnSpPr>
        <p:spPr>
          <a:xfrm>
            <a:off x="4560425" y="515073"/>
            <a:ext cx="34724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72665A2-E6BC-465C-C4C9-56728A1D862D}"/>
              </a:ext>
            </a:extLst>
          </p:cNvPr>
          <p:cNvCxnSpPr>
            <a:cxnSpLocks/>
            <a:endCxn id="25" idx="0"/>
          </p:cNvCxnSpPr>
          <p:nvPr/>
        </p:nvCxnSpPr>
        <p:spPr>
          <a:xfrm>
            <a:off x="8032830" y="515073"/>
            <a:ext cx="0" cy="1012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D141191D-CFC8-CF48-D63B-B2E3707F1FDA}"/>
              </a:ext>
            </a:extLst>
          </p:cNvPr>
          <p:cNvSpPr/>
          <p:nvPr/>
        </p:nvSpPr>
        <p:spPr>
          <a:xfrm>
            <a:off x="7326775" y="1527859"/>
            <a:ext cx="1412110" cy="6134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Logout</a:t>
            </a:r>
            <a:endParaRPr lang="en-IN" dirty="0"/>
          </a:p>
        </p:txBody>
      </p:sp>
      <p:cxnSp>
        <p:nvCxnSpPr>
          <p:cNvPr id="29" name="Straight Arrow Connector 28">
            <a:extLst>
              <a:ext uri="{FF2B5EF4-FFF2-40B4-BE49-F238E27FC236}">
                <a16:creationId xmlns:a16="http://schemas.microsoft.com/office/drawing/2014/main" id="{C4C22E95-2A76-328D-F265-7A8E8AA14AA5}"/>
              </a:ext>
            </a:extLst>
          </p:cNvPr>
          <p:cNvCxnSpPr>
            <a:stCxn id="25" idx="2"/>
          </p:cNvCxnSpPr>
          <p:nvPr/>
        </p:nvCxnSpPr>
        <p:spPr>
          <a:xfrm>
            <a:off x="8032830" y="2141317"/>
            <a:ext cx="0" cy="445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85E74D3E-0C03-EA98-6184-D0037903DD39}"/>
              </a:ext>
            </a:extLst>
          </p:cNvPr>
          <p:cNvSpPr/>
          <p:nvPr/>
        </p:nvSpPr>
        <p:spPr>
          <a:xfrm>
            <a:off x="7477246" y="2667965"/>
            <a:ext cx="1111168" cy="4456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32" name="Straight Connector 31">
            <a:extLst>
              <a:ext uri="{FF2B5EF4-FFF2-40B4-BE49-F238E27FC236}">
                <a16:creationId xmlns:a16="http://schemas.microsoft.com/office/drawing/2014/main" id="{8786FE2C-A9BF-192C-2F94-B16F1AADC4E6}"/>
              </a:ext>
            </a:extLst>
          </p:cNvPr>
          <p:cNvCxnSpPr>
            <a:cxnSpLocks/>
          </p:cNvCxnSpPr>
          <p:nvPr/>
        </p:nvCxnSpPr>
        <p:spPr>
          <a:xfrm>
            <a:off x="10683433" y="0"/>
            <a:ext cx="0" cy="6412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10FFA3D-EBB3-8EC5-F510-2E752A875348}"/>
              </a:ext>
            </a:extLst>
          </p:cNvPr>
          <p:cNvCxnSpPr/>
          <p:nvPr/>
        </p:nvCxnSpPr>
        <p:spPr>
          <a:xfrm>
            <a:off x="11308466" y="0"/>
            <a:ext cx="0" cy="6296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E85CC2E-2277-5111-F909-E03272436DB2}"/>
              </a:ext>
            </a:extLst>
          </p:cNvPr>
          <p:cNvCxnSpPr/>
          <p:nvPr/>
        </p:nvCxnSpPr>
        <p:spPr>
          <a:xfrm>
            <a:off x="11875625" y="0"/>
            <a:ext cx="0" cy="62966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326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2DACE50-AF9F-C338-0A4F-948A561A8CC2}"/>
              </a:ext>
            </a:extLst>
          </p:cNvPr>
          <p:cNvCxnSpPr/>
          <p:nvPr/>
        </p:nvCxnSpPr>
        <p:spPr>
          <a:xfrm>
            <a:off x="2129742" y="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041A331-6E6B-2DFB-3C0B-5C393DFCB724}"/>
              </a:ext>
            </a:extLst>
          </p:cNvPr>
          <p:cNvCxnSpPr/>
          <p:nvPr/>
        </p:nvCxnSpPr>
        <p:spPr>
          <a:xfrm>
            <a:off x="520861" y="0"/>
            <a:ext cx="0" cy="74078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A0B47F1-4D0E-3FE5-5ADC-8F2D9E330614}"/>
              </a:ext>
            </a:extLst>
          </p:cNvPr>
          <p:cNvCxnSpPr>
            <a:cxnSpLocks/>
          </p:cNvCxnSpPr>
          <p:nvPr/>
        </p:nvCxnSpPr>
        <p:spPr>
          <a:xfrm>
            <a:off x="520861" y="740780"/>
            <a:ext cx="47687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3D9124D-9C84-1C74-69A0-E3F5ABA95A2E}"/>
              </a:ext>
            </a:extLst>
          </p:cNvPr>
          <p:cNvCxnSpPr>
            <a:cxnSpLocks/>
          </p:cNvCxnSpPr>
          <p:nvPr/>
        </p:nvCxnSpPr>
        <p:spPr>
          <a:xfrm>
            <a:off x="5289628" y="740780"/>
            <a:ext cx="0" cy="370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Flowchart: Data 10">
            <a:extLst>
              <a:ext uri="{FF2B5EF4-FFF2-40B4-BE49-F238E27FC236}">
                <a16:creationId xmlns:a16="http://schemas.microsoft.com/office/drawing/2014/main" id="{9F9375DD-612E-BBFA-9F36-A5C72011F8B8}"/>
              </a:ext>
            </a:extLst>
          </p:cNvPr>
          <p:cNvSpPr/>
          <p:nvPr/>
        </p:nvSpPr>
        <p:spPr>
          <a:xfrm>
            <a:off x="3524489" y="1137214"/>
            <a:ext cx="3530278" cy="949122"/>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student roll number &amp; password</a:t>
            </a:r>
            <a:endParaRPr lang="en-IN" dirty="0"/>
          </a:p>
        </p:txBody>
      </p:sp>
      <p:cxnSp>
        <p:nvCxnSpPr>
          <p:cNvPr id="13" name="Straight Arrow Connector 12">
            <a:extLst>
              <a:ext uri="{FF2B5EF4-FFF2-40B4-BE49-F238E27FC236}">
                <a16:creationId xmlns:a16="http://schemas.microsoft.com/office/drawing/2014/main" id="{C5F7C8FF-981A-0D31-A151-74697874D071}"/>
              </a:ext>
            </a:extLst>
          </p:cNvPr>
          <p:cNvCxnSpPr>
            <a:stCxn id="11" idx="4"/>
          </p:cNvCxnSpPr>
          <p:nvPr/>
        </p:nvCxnSpPr>
        <p:spPr>
          <a:xfrm>
            <a:off x="5289628" y="2086336"/>
            <a:ext cx="0" cy="312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F790386-89CA-98E1-7EE2-743F230069CB}"/>
              </a:ext>
            </a:extLst>
          </p:cNvPr>
          <p:cNvSpPr/>
          <p:nvPr/>
        </p:nvSpPr>
        <p:spPr>
          <a:xfrm>
            <a:off x="4103222" y="2398854"/>
            <a:ext cx="2372811" cy="5006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Validate credentials</a:t>
            </a:r>
            <a:endParaRPr lang="en-IN" dirty="0"/>
          </a:p>
        </p:txBody>
      </p:sp>
      <p:cxnSp>
        <p:nvCxnSpPr>
          <p:cNvPr id="16" name="Straight Arrow Connector 15">
            <a:extLst>
              <a:ext uri="{FF2B5EF4-FFF2-40B4-BE49-F238E27FC236}">
                <a16:creationId xmlns:a16="http://schemas.microsoft.com/office/drawing/2014/main" id="{30534D7E-5F31-3A91-6B4F-4F97A1516E40}"/>
              </a:ext>
            </a:extLst>
          </p:cNvPr>
          <p:cNvCxnSpPr>
            <a:stCxn id="14" idx="2"/>
          </p:cNvCxnSpPr>
          <p:nvPr/>
        </p:nvCxnSpPr>
        <p:spPr>
          <a:xfrm flipH="1">
            <a:off x="5289627" y="2899459"/>
            <a:ext cx="1" cy="321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35034C21-70BF-49DD-F84C-A83144BCAB61}"/>
              </a:ext>
            </a:extLst>
          </p:cNvPr>
          <p:cNvSpPr/>
          <p:nvPr/>
        </p:nvSpPr>
        <p:spPr>
          <a:xfrm>
            <a:off x="4172670" y="3220656"/>
            <a:ext cx="2233913" cy="125006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Validate</a:t>
            </a:r>
            <a:endParaRPr lang="en-IN" dirty="0"/>
          </a:p>
        </p:txBody>
      </p:sp>
      <p:cxnSp>
        <p:nvCxnSpPr>
          <p:cNvPr id="22" name="Straight Connector 21">
            <a:extLst>
              <a:ext uri="{FF2B5EF4-FFF2-40B4-BE49-F238E27FC236}">
                <a16:creationId xmlns:a16="http://schemas.microsoft.com/office/drawing/2014/main" id="{84C7A683-FA87-85A8-B713-190AFE154119}"/>
              </a:ext>
            </a:extLst>
          </p:cNvPr>
          <p:cNvCxnSpPr>
            <a:stCxn id="17" idx="3"/>
          </p:cNvCxnSpPr>
          <p:nvPr/>
        </p:nvCxnSpPr>
        <p:spPr>
          <a:xfrm>
            <a:off x="6406583" y="3845689"/>
            <a:ext cx="22165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347DF9C-F638-5780-3DED-82D50FC15B33}"/>
              </a:ext>
            </a:extLst>
          </p:cNvPr>
          <p:cNvCxnSpPr>
            <a:cxnSpLocks/>
            <a:stCxn id="17" idx="1"/>
          </p:cNvCxnSpPr>
          <p:nvPr/>
        </p:nvCxnSpPr>
        <p:spPr>
          <a:xfrm flipH="1">
            <a:off x="1944547" y="3845689"/>
            <a:ext cx="22281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A22D862-E668-96AD-1752-92A5F45E7948}"/>
              </a:ext>
            </a:extLst>
          </p:cNvPr>
          <p:cNvCxnSpPr/>
          <p:nvPr/>
        </p:nvCxnSpPr>
        <p:spPr>
          <a:xfrm>
            <a:off x="1944547" y="3845689"/>
            <a:ext cx="0" cy="413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14EC02D-3AE9-C97C-E500-40BE42B28319}"/>
              </a:ext>
            </a:extLst>
          </p:cNvPr>
          <p:cNvCxnSpPr/>
          <p:nvPr/>
        </p:nvCxnSpPr>
        <p:spPr>
          <a:xfrm>
            <a:off x="8623139" y="3845689"/>
            <a:ext cx="0" cy="483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Flowchart: Data 31">
            <a:extLst>
              <a:ext uri="{FF2B5EF4-FFF2-40B4-BE49-F238E27FC236}">
                <a16:creationId xmlns:a16="http://schemas.microsoft.com/office/drawing/2014/main" id="{05D542FF-D0ED-6246-2C4A-87B97EF1A23E}"/>
              </a:ext>
            </a:extLst>
          </p:cNvPr>
          <p:cNvSpPr/>
          <p:nvPr/>
        </p:nvSpPr>
        <p:spPr>
          <a:xfrm>
            <a:off x="561373" y="4294196"/>
            <a:ext cx="3020992" cy="923068"/>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invalid credentials</a:t>
            </a:r>
            <a:endParaRPr lang="en-IN" dirty="0"/>
          </a:p>
        </p:txBody>
      </p:sp>
      <p:sp>
        <p:nvSpPr>
          <p:cNvPr id="33" name="Flowchart: Data 32">
            <a:extLst>
              <a:ext uri="{FF2B5EF4-FFF2-40B4-BE49-F238E27FC236}">
                <a16:creationId xmlns:a16="http://schemas.microsoft.com/office/drawing/2014/main" id="{D03FBB3E-D71A-E989-DABA-250048A9BE7F}"/>
              </a:ext>
            </a:extLst>
          </p:cNvPr>
          <p:cNvSpPr/>
          <p:nvPr/>
        </p:nvSpPr>
        <p:spPr>
          <a:xfrm>
            <a:off x="7222604" y="4328932"/>
            <a:ext cx="2714252" cy="746538"/>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student menu</a:t>
            </a:r>
            <a:endParaRPr lang="en-IN" dirty="0"/>
          </a:p>
        </p:txBody>
      </p:sp>
      <p:cxnSp>
        <p:nvCxnSpPr>
          <p:cNvPr id="37" name="Straight Connector 36">
            <a:extLst>
              <a:ext uri="{FF2B5EF4-FFF2-40B4-BE49-F238E27FC236}">
                <a16:creationId xmlns:a16="http://schemas.microsoft.com/office/drawing/2014/main" id="{58059041-2A84-57A6-D8D2-86F5A991C9DB}"/>
              </a:ext>
            </a:extLst>
          </p:cNvPr>
          <p:cNvCxnSpPr>
            <a:cxnSpLocks/>
          </p:cNvCxnSpPr>
          <p:nvPr/>
        </p:nvCxnSpPr>
        <p:spPr>
          <a:xfrm>
            <a:off x="1944547" y="5217264"/>
            <a:ext cx="0" cy="3964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B8C45A2-DA98-1DCB-CB5B-B3DBDC009AFB}"/>
              </a:ext>
            </a:extLst>
          </p:cNvPr>
          <p:cNvCxnSpPr>
            <a:cxnSpLocks/>
          </p:cNvCxnSpPr>
          <p:nvPr/>
        </p:nvCxnSpPr>
        <p:spPr>
          <a:xfrm>
            <a:off x="1944547" y="5613722"/>
            <a:ext cx="6621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29BC500-5512-51F1-2951-A0359467753E}"/>
              </a:ext>
            </a:extLst>
          </p:cNvPr>
          <p:cNvCxnSpPr>
            <a:cxnSpLocks/>
          </p:cNvCxnSpPr>
          <p:nvPr/>
        </p:nvCxnSpPr>
        <p:spPr>
          <a:xfrm>
            <a:off x="8566228" y="5075470"/>
            <a:ext cx="0" cy="538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D8F7888-008C-ED89-1E16-C68C2E066342}"/>
              </a:ext>
            </a:extLst>
          </p:cNvPr>
          <p:cNvCxnSpPr/>
          <p:nvPr/>
        </p:nvCxnSpPr>
        <p:spPr>
          <a:xfrm>
            <a:off x="5440101" y="5613722"/>
            <a:ext cx="0" cy="219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939C6D1C-A501-90FC-956A-ACB14D661220}"/>
              </a:ext>
            </a:extLst>
          </p:cNvPr>
          <p:cNvSpPr/>
          <p:nvPr/>
        </p:nvSpPr>
        <p:spPr>
          <a:xfrm>
            <a:off x="4880659" y="5856791"/>
            <a:ext cx="1215341" cy="4398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49" name="Straight Connector 48">
            <a:extLst>
              <a:ext uri="{FF2B5EF4-FFF2-40B4-BE49-F238E27FC236}">
                <a16:creationId xmlns:a16="http://schemas.microsoft.com/office/drawing/2014/main" id="{2657743C-9D4A-6579-B8AF-2154A527E7AD}"/>
              </a:ext>
            </a:extLst>
          </p:cNvPr>
          <p:cNvCxnSpPr/>
          <p:nvPr/>
        </p:nvCxnSpPr>
        <p:spPr>
          <a:xfrm>
            <a:off x="4172670" y="0"/>
            <a:ext cx="0" cy="370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834FB29-7846-C5C0-BD97-0E086D61CDEE}"/>
              </a:ext>
            </a:extLst>
          </p:cNvPr>
          <p:cNvCxnSpPr>
            <a:cxnSpLocks/>
          </p:cNvCxnSpPr>
          <p:nvPr/>
        </p:nvCxnSpPr>
        <p:spPr>
          <a:xfrm>
            <a:off x="4172670" y="361710"/>
            <a:ext cx="6661234" cy="506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5DE2CDE-E41A-CB23-1E51-5EDF4E7BD7DA}"/>
              </a:ext>
            </a:extLst>
          </p:cNvPr>
          <p:cNvCxnSpPr/>
          <p:nvPr/>
        </p:nvCxnSpPr>
        <p:spPr>
          <a:xfrm>
            <a:off x="7951808" y="0"/>
            <a:ext cx="0" cy="1851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924A843-36C5-889C-8C8F-B91AA6D832DD}"/>
              </a:ext>
            </a:extLst>
          </p:cNvPr>
          <p:cNvCxnSpPr>
            <a:cxnSpLocks/>
          </p:cNvCxnSpPr>
          <p:nvPr/>
        </p:nvCxnSpPr>
        <p:spPr>
          <a:xfrm>
            <a:off x="7951808" y="185195"/>
            <a:ext cx="3779138" cy="25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5AEA244-078D-E2A1-2F8B-1E1C937F10A6}"/>
              </a:ext>
            </a:extLst>
          </p:cNvPr>
          <p:cNvCxnSpPr/>
          <p:nvPr/>
        </p:nvCxnSpPr>
        <p:spPr>
          <a:xfrm>
            <a:off x="10833904" y="387021"/>
            <a:ext cx="0" cy="5909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D366279-C8FE-6884-7CA7-CF965505AFA3}"/>
              </a:ext>
            </a:extLst>
          </p:cNvPr>
          <p:cNvCxnSpPr>
            <a:cxnSpLocks/>
          </p:cNvCxnSpPr>
          <p:nvPr/>
        </p:nvCxnSpPr>
        <p:spPr>
          <a:xfrm flipH="1">
            <a:off x="11671139" y="210506"/>
            <a:ext cx="59807" cy="608612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2914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DE239BE-76D2-B3AC-C457-4AAC37E041E8}"/>
              </a:ext>
            </a:extLst>
          </p:cNvPr>
          <p:cNvCxnSpPr>
            <a:cxnSpLocks/>
          </p:cNvCxnSpPr>
          <p:nvPr/>
        </p:nvCxnSpPr>
        <p:spPr>
          <a:xfrm>
            <a:off x="1493134" y="0"/>
            <a:ext cx="0" cy="405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D5869BB-9EFD-1353-7B97-0EDCC5AA8C6B}"/>
              </a:ext>
            </a:extLst>
          </p:cNvPr>
          <p:cNvCxnSpPr/>
          <p:nvPr/>
        </p:nvCxnSpPr>
        <p:spPr>
          <a:xfrm>
            <a:off x="1493134" y="405114"/>
            <a:ext cx="366917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DC466D1-8D52-482F-24AD-6CD874F910DD}"/>
              </a:ext>
            </a:extLst>
          </p:cNvPr>
          <p:cNvCxnSpPr/>
          <p:nvPr/>
        </p:nvCxnSpPr>
        <p:spPr>
          <a:xfrm>
            <a:off x="5162306" y="405114"/>
            <a:ext cx="0" cy="439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Flowchart: Data 7">
            <a:extLst>
              <a:ext uri="{FF2B5EF4-FFF2-40B4-BE49-F238E27FC236}">
                <a16:creationId xmlns:a16="http://schemas.microsoft.com/office/drawing/2014/main" id="{1D03CD46-57A2-88E8-D682-F346A6D67638}"/>
              </a:ext>
            </a:extLst>
          </p:cNvPr>
          <p:cNvSpPr/>
          <p:nvPr/>
        </p:nvSpPr>
        <p:spPr>
          <a:xfrm>
            <a:off x="3819642" y="856526"/>
            <a:ext cx="2685327" cy="77550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student details</a:t>
            </a:r>
            <a:endParaRPr lang="en-IN" dirty="0"/>
          </a:p>
        </p:txBody>
      </p:sp>
      <p:cxnSp>
        <p:nvCxnSpPr>
          <p:cNvPr id="11" name="Straight Arrow Connector 10">
            <a:extLst>
              <a:ext uri="{FF2B5EF4-FFF2-40B4-BE49-F238E27FC236}">
                <a16:creationId xmlns:a16="http://schemas.microsoft.com/office/drawing/2014/main" id="{42972318-84C9-863A-0108-DFB4EFF0DE33}"/>
              </a:ext>
            </a:extLst>
          </p:cNvPr>
          <p:cNvCxnSpPr>
            <a:stCxn id="8" idx="4"/>
          </p:cNvCxnSpPr>
          <p:nvPr/>
        </p:nvCxnSpPr>
        <p:spPr>
          <a:xfrm flipH="1">
            <a:off x="5162305" y="1632030"/>
            <a:ext cx="1" cy="277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Flowchart: Decision 11">
            <a:extLst>
              <a:ext uri="{FF2B5EF4-FFF2-40B4-BE49-F238E27FC236}">
                <a16:creationId xmlns:a16="http://schemas.microsoft.com/office/drawing/2014/main" id="{B7D4BDAB-CD39-E046-827C-E55616AE4BCE}"/>
              </a:ext>
            </a:extLst>
          </p:cNvPr>
          <p:cNvSpPr/>
          <p:nvPr/>
        </p:nvSpPr>
        <p:spPr>
          <a:xfrm>
            <a:off x="4068499" y="1924293"/>
            <a:ext cx="2187611" cy="1018571"/>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Validate all fields</a:t>
            </a:r>
            <a:endParaRPr lang="en-IN" dirty="0"/>
          </a:p>
        </p:txBody>
      </p:sp>
      <p:cxnSp>
        <p:nvCxnSpPr>
          <p:cNvPr id="14" name="Straight Arrow Connector 13">
            <a:extLst>
              <a:ext uri="{FF2B5EF4-FFF2-40B4-BE49-F238E27FC236}">
                <a16:creationId xmlns:a16="http://schemas.microsoft.com/office/drawing/2014/main" id="{E8AA135E-FAAC-3D9F-40CB-C08793244009}"/>
              </a:ext>
            </a:extLst>
          </p:cNvPr>
          <p:cNvCxnSpPr>
            <a:stCxn id="12" idx="2"/>
          </p:cNvCxnSpPr>
          <p:nvPr/>
        </p:nvCxnSpPr>
        <p:spPr>
          <a:xfrm>
            <a:off x="5162305" y="2942864"/>
            <a:ext cx="0" cy="257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Flowchart: Decision 14">
            <a:extLst>
              <a:ext uri="{FF2B5EF4-FFF2-40B4-BE49-F238E27FC236}">
                <a16:creationId xmlns:a16="http://schemas.microsoft.com/office/drawing/2014/main" id="{CB61830C-F3BA-0FDB-E23F-691E002F2235}"/>
              </a:ext>
            </a:extLst>
          </p:cNvPr>
          <p:cNvSpPr/>
          <p:nvPr/>
        </p:nvSpPr>
        <p:spPr>
          <a:xfrm>
            <a:off x="3512912" y="3200401"/>
            <a:ext cx="3298785" cy="1250066"/>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Check if roll number exists</a:t>
            </a:r>
            <a:endParaRPr lang="en-IN" dirty="0"/>
          </a:p>
        </p:txBody>
      </p:sp>
      <p:cxnSp>
        <p:nvCxnSpPr>
          <p:cNvPr id="17" name="Straight Connector 16">
            <a:extLst>
              <a:ext uri="{FF2B5EF4-FFF2-40B4-BE49-F238E27FC236}">
                <a16:creationId xmlns:a16="http://schemas.microsoft.com/office/drawing/2014/main" id="{D7200526-0110-6013-8E49-ACBC8D009310}"/>
              </a:ext>
            </a:extLst>
          </p:cNvPr>
          <p:cNvCxnSpPr>
            <a:stCxn id="15" idx="3"/>
          </p:cNvCxnSpPr>
          <p:nvPr/>
        </p:nvCxnSpPr>
        <p:spPr>
          <a:xfrm>
            <a:off x="6811697" y="3825434"/>
            <a:ext cx="173041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77B343-CB75-A3B7-D58C-5888F731C2CA}"/>
              </a:ext>
            </a:extLst>
          </p:cNvPr>
          <p:cNvCxnSpPr>
            <a:stCxn id="15" idx="1"/>
          </p:cNvCxnSpPr>
          <p:nvPr/>
        </p:nvCxnSpPr>
        <p:spPr>
          <a:xfrm flipH="1">
            <a:off x="1770925" y="3825434"/>
            <a:ext cx="174198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E9B7DF2-8CA5-7215-E866-7BE7A5ACF1DE}"/>
              </a:ext>
            </a:extLst>
          </p:cNvPr>
          <p:cNvCxnSpPr/>
          <p:nvPr/>
        </p:nvCxnSpPr>
        <p:spPr>
          <a:xfrm>
            <a:off x="1770925" y="3825434"/>
            <a:ext cx="0" cy="625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Flowchart: Data 22">
            <a:extLst>
              <a:ext uri="{FF2B5EF4-FFF2-40B4-BE49-F238E27FC236}">
                <a16:creationId xmlns:a16="http://schemas.microsoft.com/office/drawing/2014/main" id="{D10CF635-C5C4-9B0B-532F-C74F7AD7ACF8}"/>
              </a:ext>
            </a:extLst>
          </p:cNvPr>
          <p:cNvSpPr/>
          <p:nvPr/>
        </p:nvSpPr>
        <p:spPr>
          <a:xfrm>
            <a:off x="434047" y="4560424"/>
            <a:ext cx="2673756" cy="844951"/>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“Already registered”</a:t>
            </a:r>
            <a:endParaRPr lang="en-IN" dirty="0"/>
          </a:p>
        </p:txBody>
      </p:sp>
      <p:cxnSp>
        <p:nvCxnSpPr>
          <p:cNvPr id="25" name="Straight Arrow Connector 24">
            <a:extLst>
              <a:ext uri="{FF2B5EF4-FFF2-40B4-BE49-F238E27FC236}">
                <a16:creationId xmlns:a16="http://schemas.microsoft.com/office/drawing/2014/main" id="{24B05E5F-CAEE-D07E-E7AF-7812B92E7141}"/>
              </a:ext>
            </a:extLst>
          </p:cNvPr>
          <p:cNvCxnSpPr>
            <a:cxnSpLocks/>
          </p:cNvCxnSpPr>
          <p:nvPr/>
        </p:nvCxnSpPr>
        <p:spPr>
          <a:xfrm flipH="1">
            <a:off x="8536329" y="3825434"/>
            <a:ext cx="5785" cy="156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AA68F87-EFB2-6624-1636-E14D9129C210}"/>
              </a:ext>
            </a:extLst>
          </p:cNvPr>
          <p:cNvSpPr/>
          <p:nvPr/>
        </p:nvSpPr>
        <p:spPr>
          <a:xfrm>
            <a:off x="7517757" y="4027992"/>
            <a:ext cx="2037143" cy="844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Show student details in database</a:t>
            </a:r>
            <a:endParaRPr lang="en-IN" dirty="0"/>
          </a:p>
        </p:txBody>
      </p:sp>
      <p:cxnSp>
        <p:nvCxnSpPr>
          <p:cNvPr id="28" name="Straight Arrow Connector 27">
            <a:extLst>
              <a:ext uri="{FF2B5EF4-FFF2-40B4-BE49-F238E27FC236}">
                <a16:creationId xmlns:a16="http://schemas.microsoft.com/office/drawing/2014/main" id="{1368C523-3660-59A4-1AFA-7ECF7D99A754}"/>
              </a:ext>
            </a:extLst>
          </p:cNvPr>
          <p:cNvCxnSpPr>
            <a:cxnSpLocks/>
            <a:stCxn id="26" idx="2"/>
          </p:cNvCxnSpPr>
          <p:nvPr/>
        </p:nvCxnSpPr>
        <p:spPr>
          <a:xfrm>
            <a:off x="8536329" y="4872941"/>
            <a:ext cx="0" cy="1967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Flowchart: Data 28">
            <a:extLst>
              <a:ext uri="{FF2B5EF4-FFF2-40B4-BE49-F238E27FC236}">
                <a16:creationId xmlns:a16="http://schemas.microsoft.com/office/drawing/2014/main" id="{8920EEC2-1536-9825-1EED-A34A79D749ED}"/>
              </a:ext>
            </a:extLst>
          </p:cNvPr>
          <p:cNvSpPr/>
          <p:nvPr/>
        </p:nvSpPr>
        <p:spPr>
          <a:xfrm>
            <a:off x="7257326" y="5069716"/>
            <a:ext cx="2558005" cy="844949"/>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Display “Registration successful”</a:t>
            </a:r>
            <a:endParaRPr lang="en-IN" dirty="0"/>
          </a:p>
        </p:txBody>
      </p:sp>
      <p:cxnSp>
        <p:nvCxnSpPr>
          <p:cNvPr id="32" name="Straight Connector 31">
            <a:extLst>
              <a:ext uri="{FF2B5EF4-FFF2-40B4-BE49-F238E27FC236}">
                <a16:creationId xmlns:a16="http://schemas.microsoft.com/office/drawing/2014/main" id="{38AE773D-02F5-0E61-E30B-3E468AD7C717}"/>
              </a:ext>
            </a:extLst>
          </p:cNvPr>
          <p:cNvCxnSpPr>
            <a:stCxn id="29" idx="4"/>
          </p:cNvCxnSpPr>
          <p:nvPr/>
        </p:nvCxnSpPr>
        <p:spPr>
          <a:xfrm flipH="1">
            <a:off x="8536328" y="5914665"/>
            <a:ext cx="1" cy="16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1FC8B0B-7219-52BD-B68E-9D7A36DA231D}"/>
              </a:ext>
            </a:extLst>
          </p:cNvPr>
          <p:cNvCxnSpPr>
            <a:cxnSpLocks/>
            <a:endCxn id="40" idx="6"/>
          </p:cNvCxnSpPr>
          <p:nvPr/>
        </p:nvCxnSpPr>
        <p:spPr>
          <a:xfrm flipH="1">
            <a:off x="5935891" y="6065138"/>
            <a:ext cx="2600438" cy="636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0F1A7C-8116-F45A-AB3E-D60D619209AF}"/>
              </a:ext>
            </a:extLst>
          </p:cNvPr>
          <p:cNvCxnSpPr>
            <a:stCxn id="23" idx="4"/>
          </p:cNvCxnSpPr>
          <p:nvPr/>
        </p:nvCxnSpPr>
        <p:spPr>
          <a:xfrm>
            <a:off x="1770925" y="5405375"/>
            <a:ext cx="0" cy="544012"/>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FDFDAF4-2B99-D496-C267-D9D56AD636A4}"/>
              </a:ext>
            </a:extLst>
          </p:cNvPr>
          <p:cNvSpPr/>
          <p:nvPr/>
        </p:nvSpPr>
        <p:spPr>
          <a:xfrm>
            <a:off x="4766852" y="5926241"/>
            <a:ext cx="1169039" cy="4051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cxnSp>
        <p:nvCxnSpPr>
          <p:cNvPr id="42" name="Straight Connector 41">
            <a:extLst>
              <a:ext uri="{FF2B5EF4-FFF2-40B4-BE49-F238E27FC236}">
                <a16:creationId xmlns:a16="http://schemas.microsoft.com/office/drawing/2014/main" id="{5EE29FBB-7CAA-7111-E3B5-0725C8D57D3D}"/>
              </a:ext>
            </a:extLst>
          </p:cNvPr>
          <p:cNvCxnSpPr/>
          <p:nvPr/>
        </p:nvCxnSpPr>
        <p:spPr>
          <a:xfrm>
            <a:off x="1770925" y="5949387"/>
            <a:ext cx="0" cy="1794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CC50B73-BB22-4078-15DC-9DDD40DB8C9A}"/>
              </a:ext>
            </a:extLst>
          </p:cNvPr>
          <p:cNvCxnSpPr>
            <a:endCxn id="40" idx="2"/>
          </p:cNvCxnSpPr>
          <p:nvPr/>
        </p:nvCxnSpPr>
        <p:spPr>
          <a:xfrm>
            <a:off x="1770925" y="6076713"/>
            <a:ext cx="2995927" cy="52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ECB4747-DBC2-5CBD-311D-4C6BF28CCA1D}"/>
              </a:ext>
            </a:extLst>
          </p:cNvPr>
          <p:cNvCxnSpPr/>
          <p:nvPr/>
        </p:nvCxnSpPr>
        <p:spPr>
          <a:xfrm>
            <a:off x="10521387" y="0"/>
            <a:ext cx="0" cy="717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9CFB415B-D605-990E-ECE6-13F53FB5121C}"/>
              </a:ext>
            </a:extLst>
          </p:cNvPr>
          <p:cNvSpPr/>
          <p:nvPr/>
        </p:nvSpPr>
        <p:spPr>
          <a:xfrm>
            <a:off x="9774820" y="729205"/>
            <a:ext cx="1493134" cy="7176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EXIT system</a:t>
            </a:r>
            <a:endParaRPr lang="en-IN" dirty="0"/>
          </a:p>
        </p:txBody>
      </p:sp>
      <p:cxnSp>
        <p:nvCxnSpPr>
          <p:cNvPr id="57" name="Straight Arrow Connector 56">
            <a:extLst>
              <a:ext uri="{FF2B5EF4-FFF2-40B4-BE49-F238E27FC236}">
                <a16:creationId xmlns:a16="http://schemas.microsoft.com/office/drawing/2014/main" id="{3CF4BFCF-0866-0C8D-486B-F8906C99B05F}"/>
              </a:ext>
            </a:extLst>
          </p:cNvPr>
          <p:cNvCxnSpPr>
            <a:stCxn id="51" idx="2"/>
          </p:cNvCxnSpPr>
          <p:nvPr/>
        </p:nvCxnSpPr>
        <p:spPr>
          <a:xfrm>
            <a:off x="10521387" y="1446836"/>
            <a:ext cx="0" cy="4629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DDCA4685-1773-EB05-F7BB-2EBE20E8D071}"/>
              </a:ext>
            </a:extLst>
          </p:cNvPr>
          <p:cNvSpPr/>
          <p:nvPr/>
        </p:nvSpPr>
        <p:spPr>
          <a:xfrm>
            <a:off x="9986059" y="1932973"/>
            <a:ext cx="1070656" cy="4629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endParaRPr lang="en-IN" dirty="0"/>
          </a:p>
        </p:txBody>
      </p:sp>
    </p:spTree>
    <p:extLst>
      <p:ext uri="{BB962C8B-B14F-4D97-AF65-F5344CB8AC3E}">
        <p14:creationId xmlns:p14="http://schemas.microsoft.com/office/powerpoint/2010/main" val="3053421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68ED4-6B94-0629-9DD5-3184304132CC}"/>
              </a:ext>
            </a:extLst>
          </p:cNvPr>
          <p:cNvSpPr>
            <a:spLocks noGrp="1"/>
          </p:cNvSpPr>
          <p:nvPr>
            <p:ph type="title"/>
          </p:nvPr>
        </p:nvSpPr>
        <p:spPr/>
        <p:txBody>
          <a:bodyPr/>
          <a:lstStyle/>
          <a:p>
            <a:r>
              <a:rPr lang="en-US" dirty="0">
                <a:latin typeface="Algerian" panose="04020705040A02060702" pitchFamily="82" charset="0"/>
              </a:rPr>
              <a:t>MODULE :</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F3174543-F4B4-2220-23CA-9D0893EC344D}"/>
              </a:ext>
            </a:extLst>
          </p:cNvPr>
          <p:cNvSpPr>
            <a:spLocks noGrp="1"/>
          </p:cNvSpPr>
          <p:nvPr>
            <p:ph idx="1"/>
          </p:nvPr>
        </p:nvSpPr>
        <p:spPr/>
        <p:txBody>
          <a:bodyPr/>
          <a:lstStyle/>
          <a:p>
            <a:pPr fontAlgn="base"/>
            <a:r>
              <a:rPr lang="en-IN" dirty="0">
                <a:latin typeface="Arial Black" panose="020B0A04020102020204" pitchFamily="34" charset="0"/>
              </a:rPr>
              <a:t>1.</a:t>
            </a:r>
            <a:r>
              <a:rPr lang="en-IN" dirty="0"/>
              <a:t> </a:t>
            </a:r>
            <a:r>
              <a:rPr lang="en-IN" dirty="0">
                <a:latin typeface="Arial Black" panose="020B0A04020102020204" pitchFamily="34" charset="0"/>
              </a:rPr>
              <a:t>user Authentication/Registration Module</a:t>
            </a:r>
            <a:r>
              <a:rPr lang="en-US" dirty="0"/>
              <a:t>​</a:t>
            </a:r>
          </a:p>
          <a:p>
            <a:pPr fontAlgn="base"/>
            <a:r>
              <a:rPr lang="en-US" dirty="0"/>
              <a:t>​</a:t>
            </a:r>
          </a:p>
          <a:p>
            <a:pPr fontAlgn="base"/>
            <a:r>
              <a:rPr lang="en-IN" dirty="0"/>
              <a:t>&gt;Stores and manages user details (roll number, name, etc.),</a:t>
            </a:r>
            <a:r>
              <a:rPr lang="en-US" dirty="0"/>
              <a:t>​</a:t>
            </a:r>
          </a:p>
          <a:p>
            <a:pPr fontAlgn="base"/>
            <a:r>
              <a:rPr lang="en-IN" dirty="0"/>
              <a:t>&gt;Allows login/verification before user download question papers.</a:t>
            </a:r>
            <a:r>
              <a:rPr lang="en-US" dirty="0"/>
              <a:t>​</a:t>
            </a:r>
          </a:p>
          <a:p>
            <a:pPr fontAlgn="base"/>
            <a:r>
              <a:rPr lang="en-IN" dirty="0"/>
              <a:t>&gt;Ensures only valid users can access the system.</a:t>
            </a:r>
            <a:r>
              <a:rPr lang="en-US" dirty="0"/>
              <a:t>​</a:t>
            </a:r>
          </a:p>
          <a:p>
            <a:pPr fontAlgn="base"/>
            <a:r>
              <a:rPr lang="en-IN" dirty="0"/>
              <a:t>​</a:t>
            </a:r>
          </a:p>
          <a:p>
            <a:pPr fontAlgn="base"/>
            <a:r>
              <a:rPr lang="en-IN" dirty="0">
                <a:latin typeface="Arial Black" panose="020B0A04020102020204" pitchFamily="34" charset="0"/>
              </a:rPr>
              <a:t>2. Question Paper Data Management Module</a:t>
            </a:r>
            <a:r>
              <a:rPr lang="en-US" dirty="0"/>
              <a:t>​</a:t>
            </a:r>
          </a:p>
          <a:p>
            <a:pPr fontAlgn="base"/>
            <a:r>
              <a:rPr lang="en-IN" dirty="0"/>
              <a:t>&gt;stores the details of each question paper:</a:t>
            </a:r>
            <a:r>
              <a:rPr lang="en-US" dirty="0"/>
              <a:t>​</a:t>
            </a:r>
          </a:p>
          <a:p>
            <a:pPr fontAlgn="base"/>
            <a:r>
              <a:rPr lang="en-IN" dirty="0"/>
              <a:t>&gt;paper ID </a:t>
            </a:r>
            <a:r>
              <a:rPr lang="en-US" dirty="0"/>
              <a:t>​</a:t>
            </a:r>
          </a:p>
          <a:p>
            <a:endParaRPr lang="en-IN" dirty="0"/>
          </a:p>
        </p:txBody>
      </p:sp>
    </p:spTree>
    <p:extLst>
      <p:ext uri="{BB962C8B-B14F-4D97-AF65-F5344CB8AC3E}">
        <p14:creationId xmlns:p14="http://schemas.microsoft.com/office/powerpoint/2010/main" val="2924249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7817B3-523E-5E0E-0EF4-383DC2E472E4}"/>
              </a:ext>
            </a:extLst>
          </p:cNvPr>
          <p:cNvSpPr txBox="1"/>
          <p:nvPr/>
        </p:nvSpPr>
        <p:spPr>
          <a:xfrm>
            <a:off x="300942" y="324091"/>
            <a:ext cx="11678855" cy="5293757"/>
          </a:xfrm>
          <a:prstGeom prst="rect">
            <a:avLst/>
          </a:prstGeom>
          <a:noFill/>
        </p:spPr>
        <p:txBody>
          <a:bodyPr wrap="square" rtlCol="0">
            <a:spAutoFit/>
          </a:bodyPr>
          <a:lstStyle/>
          <a:p>
            <a:pPr fontAlgn="base"/>
            <a:r>
              <a:rPr lang="en-IN" sz="2000" dirty="0"/>
              <a:t>&gt;Subject</a:t>
            </a:r>
            <a:r>
              <a:rPr lang="en-US" sz="2000" dirty="0"/>
              <a:t>​</a:t>
            </a:r>
          </a:p>
          <a:p>
            <a:pPr fontAlgn="base"/>
            <a:r>
              <a:rPr lang="en-IN" sz="2000" dirty="0"/>
              <a:t>&gt;Year</a:t>
            </a:r>
            <a:r>
              <a:rPr lang="en-US" sz="2000" dirty="0"/>
              <a:t>​</a:t>
            </a:r>
          </a:p>
          <a:p>
            <a:pPr fontAlgn="base"/>
            <a:r>
              <a:rPr lang="en-IN" sz="2000" dirty="0"/>
              <a:t>&gt;Semester</a:t>
            </a:r>
            <a:r>
              <a:rPr lang="en-US" sz="2000" dirty="0"/>
              <a:t>​</a:t>
            </a:r>
          </a:p>
          <a:p>
            <a:pPr fontAlgn="base"/>
            <a:r>
              <a:rPr lang="en-IN" sz="2000" dirty="0"/>
              <a:t>&gt;Exam type</a:t>
            </a:r>
            <a:r>
              <a:rPr lang="en-US" sz="2000" dirty="0"/>
              <a:t>​</a:t>
            </a:r>
          </a:p>
          <a:p>
            <a:pPr fontAlgn="base"/>
            <a:r>
              <a:rPr lang="en-IN" sz="2000" dirty="0"/>
              <a:t>&gt;Department</a:t>
            </a:r>
            <a:r>
              <a:rPr lang="en-US" sz="2000" dirty="0"/>
              <a:t>​</a:t>
            </a:r>
          </a:p>
          <a:p>
            <a:pPr fontAlgn="base"/>
            <a:r>
              <a:rPr lang="en-IN" sz="2000" dirty="0"/>
              <a:t>&gt;Regulation</a:t>
            </a:r>
            <a:r>
              <a:rPr lang="en-US" sz="2000" dirty="0"/>
              <a:t>​</a:t>
            </a:r>
          </a:p>
          <a:p>
            <a:pPr fontAlgn="base"/>
            <a:r>
              <a:rPr lang="en-IN" sz="2000" dirty="0"/>
              <a:t>&gt;Filename</a:t>
            </a:r>
            <a:r>
              <a:rPr lang="en-US" sz="2000" dirty="0"/>
              <a:t>​</a:t>
            </a:r>
          </a:p>
          <a:p>
            <a:pPr fontAlgn="base"/>
            <a:r>
              <a:rPr lang="en-IN" sz="2000" dirty="0"/>
              <a:t>&gt;Download count</a:t>
            </a:r>
            <a:r>
              <a:rPr lang="en-US" sz="2000" dirty="0"/>
              <a:t>​</a:t>
            </a:r>
          </a:p>
          <a:p>
            <a:pPr fontAlgn="base"/>
            <a:r>
              <a:rPr lang="en-IN" sz="2000" dirty="0"/>
              <a:t>&gt;Loads and saves question paper records from a file.</a:t>
            </a:r>
            <a:r>
              <a:rPr lang="en-US" sz="2000" dirty="0"/>
              <a:t>​</a:t>
            </a:r>
          </a:p>
          <a:p>
            <a:pPr fontAlgn="base"/>
            <a:r>
              <a:rPr lang="en-IN" sz="2000" dirty="0"/>
              <a:t>​</a:t>
            </a:r>
          </a:p>
          <a:p>
            <a:pPr fontAlgn="base"/>
            <a:r>
              <a:rPr lang="en-IN" sz="2000" dirty="0">
                <a:latin typeface="Arial Black" panose="020B0A04020102020204" pitchFamily="34" charset="0"/>
              </a:rPr>
              <a:t>3. Add/Upload Question Paper Module</a:t>
            </a:r>
            <a:r>
              <a:rPr lang="en-US" sz="2000" dirty="0">
                <a:latin typeface="Arial Black" panose="020B0A04020102020204" pitchFamily="34" charset="0"/>
              </a:rPr>
              <a:t>​</a:t>
            </a:r>
          </a:p>
          <a:p>
            <a:pPr fontAlgn="base"/>
            <a:r>
              <a:rPr lang="en-IN" sz="2000" dirty="0"/>
              <a:t>​</a:t>
            </a:r>
          </a:p>
          <a:p>
            <a:pPr fontAlgn="base"/>
            <a:r>
              <a:rPr lang="en-IN" sz="2000" dirty="0"/>
              <a:t>&gt;Allows admin to enter a new paper’s details.</a:t>
            </a:r>
            <a:r>
              <a:rPr lang="en-US" sz="2000" dirty="0"/>
              <a:t>​</a:t>
            </a:r>
          </a:p>
          <a:p>
            <a:pPr fontAlgn="base"/>
            <a:r>
              <a:rPr lang="en-IN" sz="2000" dirty="0"/>
              <a:t>&gt;Validates fields (</a:t>
            </a:r>
            <a:r>
              <a:rPr lang="en-IN" sz="2000" dirty="0" err="1"/>
              <a:t>tear,ID</a:t>
            </a:r>
            <a:r>
              <a:rPr lang="en-IN" sz="2000" dirty="0"/>
              <a:t> format, department, etc.).</a:t>
            </a:r>
            <a:r>
              <a:rPr lang="en-US" sz="2000" dirty="0"/>
              <a:t>​</a:t>
            </a:r>
          </a:p>
          <a:p>
            <a:pPr fontAlgn="base"/>
            <a:r>
              <a:rPr lang="en-IN" sz="2000" dirty="0"/>
              <a:t>&gt;Stores the file name of the paper uploaded.</a:t>
            </a:r>
            <a:r>
              <a:rPr lang="en-US" sz="2000" dirty="0"/>
              <a:t>​</a:t>
            </a:r>
          </a:p>
          <a:p>
            <a:pPr fontAlgn="base"/>
            <a:r>
              <a:rPr lang="en-US" sz="2000" dirty="0"/>
              <a:t>​</a:t>
            </a:r>
          </a:p>
          <a:p>
            <a:endParaRPr lang="en-IN" dirty="0"/>
          </a:p>
        </p:txBody>
      </p:sp>
    </p:spTree>
    <p:extLst>
      <p:ext uri="{BB962C8B-B14F-4D97-AF65-F5344CB8AC3E}">
        <p14:creationId xmlns:p14="http://schemas.microsoft.com/office/powerpoint/2010/main" val="1270832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A2F1B5-357D-6E7A-659A-57301360A38D}"/>
              </a:ext>
            </a:extLst>
          </p:cNvPr>
          <p:cNvSpPr txBox="1"/>
          <p:nvPr/>
        </p:nvSpPr>
        <p:spPr>
          <a:xfrm>
            <a:off x="81023" y="138896"/>
            <a:ext cx="11898774" cy="5078313"/>
          </a:xfrm>
          <a:prstGeom prst="rect">
            <a:avLst/>
          </a:prstGeom>
          <a:noFill/>
        </p:spPr>
        <p:txBody>
          <a:bodyPr wrap="square" rtlCol="0">
            <a:spAutoFit/>
          </a:bodyPr>
          <a:lstStyle/>
          <a:p>
            <a:pPr fontAlgn="base"/>
            <a:r>
              <a:rPr lang="en-IN" dirty="0">
                <a:latin typeface="Arial Black" panose="020B0A04020102020204" pitchFamily="34" charset="0"/>
              </a:rPr>
              <a:t>4.Search &amp; Filter Module</a:t>
            </a:r>
            <a:r>
              <a:rPr lang="en-US" dirty="0"/>
              <a:t>​</a:t>
            </a:r>
          </a:p>
          <a:p>
            <a:pPr fontAlgn="base"/>
            <a:r>
              <a:rPr lang="en-IN" dirty="0"/>
              <a:t>​</a:t>
            </a:r>
          </a:p>
          <a:p>
            <a:pPr fontAlgn="base"/>
            <a:r>
              <a:rPr lang="en-IN" dirty="0"/>
              <a:t>&gt;Subject</a:t>
            </a:r>
            <a:r>
              <a:rPr lang="en-US" dirty="0"/>
              <a:t>​</a:t>
            </a:r>
          </a:p>
          <a:p>
            <a:pPr fontAlgn="base"/>
            <a:r>
              <a:rPr lang="en-IN" dirty="0"/>
              <a:t>&gt;Year</a:t>
            </a:r>
            <a:r>
              <a:rPr lang="en-US" dirty="0"/>
              <a:t>​</a:t>
            </a:r>
          </a:p>
          <a:p>
            <a:pPr fontAlgn="base"/>
            <a:r>
              <a:rPr lang="en-IN" dirty="0"/>
              <a:t>&gt;Department</a:t>
            </a:r>
            <a:r>
              <a:rPr lang="en-US" dirty="0"/>
              <a:t>​</a:t>
            </a:r>
          </a:p>
          <a:p>
            <a:pPr fontAlgn="base"/>
            <a:r>
              <a:rPr lang="en-IN" dirty="0"/>
              <a:t>&gt;Regulation</a:t>
            </a:r>
            <a:r>
              <a:rPr lang="en-US" dirty="0"/>
              <a:t>​</a:t>
            </a:r>
          </a:p>
          <a:p>
            <a:pPr fontAlgn="base"/>
            <a:r>
              <a:rPr lang="en-IN" dirty="0"/>
              <a:t>&gt;exam type</a:t>
            </a:r>
            <a:r>
              <a:rPr lang="en-US" dirty="0"/>
              <a:t>​</a:t>
            </a:r>
          </a:p>
          <a:p>
            <a:pPr fontAlgn="base"/>
            <a:r>
              <a:rPr lang="en-IN" dirty="0"/>
              <a:t>&gt;semester</a:t>
            </a:r>
            <a:r>
              <a:rPr lang="en-US" dirty="0"/>
              <a:t>​</a:t>
            </a:r>
          </a:p>
          <a:p>
            <a:pPr fontAlgn="base"/>
            <a:r>
              <a:rPr lang="en-IN" dirty="0"/>
              <a:t>provides fast access to required paper.</a:t>
            </a:r>
            <a:r>
              <a:rPr lang="en-US" dirty="0"/>
              <a:t>​</a:t>
            </a:r>
          </a:p>
          <a:p>
            <a:pPr fontAlgn="base"/>
            <a:r>
              <a:rPr lang="en-IN" dirty="0"/>
              <a:t>​</a:t>
            </a:r>
          </a:p>
          <a:p>
            <a:pPr fontAlgn="base"/>
            <a:r>
              <a:rPr lang="en-IN" dirty="0">
                <a:latin typeface="Arial Black" panose="020B0A04020102020204" pitchFamily="34" charset="0"/>
              </a:rPr>
              <a:t>5.Display Question Paper List Module</a:t>
            </a:r>
            <a:r>
              <a:rPr lang="en-US" dirty="0"/>
              <a:t>​</a:t>
            </a:r>
          </a:p>
          <a:p>
            <a:pPr fontAlgn="base"/>
            <a:r>
              <a:rPr lang="en-IN" dirty="0"/>
              <a:t>​</a:t>
            </a:r>
          </a:p>
          <a:p>
            <a:pPr fontAlgn="base"/>
            <a:r>
              <a:rPr lang="en-IN" dirty="0"/>
              <a:t>&gt;Shows all papers in a proper table format.</a:t>
            </a:r>
            <a:r>
              <a:rPr lang="en-US" dirty="0"/>
              <a:t>​</a:t>
            </a:r>
          </a:p>
          <a:p>
            <a:pPr fontAlgn="base"/>
            <a:r>
              <a:rPr lang="en-IN" dirty="0"/>
              <a:t>&gt;Can show papers sorted by:</a:t>
            </a:r>
            <a:r>
              <a:rPr lang="en-US" dirty="0"/>
              <a:t>​</a:t>
            </a:r>
          </a:p>
          <a:p>
            <a:pPr fontAlgn="base"/>
            <a:r>
              <a:rPr lang="en-IN" dirty="0"/>
              <a:t>&gt;year</a:t>
            </a:r>
            <a:r>
              <a:rPr lang="en-US" dirty="0"/>
              <a:t>​</a:t>
            </a:r>
          </a:p>
          <a:p>
            <a:pPr fontAlgn="base"/>
            <a:r>
              <a:rPr lang="en-IN" dirty="0"/>
              <a:t>&gt;Subject alphabetically</a:t>
            </a:r>
            <a:r>
              <a:rPr lang="en-US" dirty="0"/>
              <a:t>​</a:t>
            </a:r>
          </a:p>
          <a:p>
            <a:pPr fontAlgn="base"/>
            <a:r>
              <a:rPr lang="en-IN" dirty="0"/>
              <a:t>&gt;Department</a:t>
            </a:r>
            <a:r>
              <a:rPr lang="en-US" dirty="0"/>
              <a:t>​</a:t>
            </a:r>
          </a:p>
          <a:p>
            <a:endParaRPr lang="en-IN" dirty="0"/>
          </a:p>
        </p:txBody>
      </p:sp>
    </p:spTree>
    <p:extLst>
      <p:ext uri="{BB962C8B-B14F-4D97-AF65-F5344CB8AC3E}">
        <p14:creationId xmlns:p14="http://schemas.microsoft.com/office/powerpoint/2010/main" val="4064041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E80134-D15A-58F0-42C0-83A1FABD2C54}"/>
              </a:ext>
            </a:extLst>
          </p:cNvPr>
          <p:cNvSpPr txBox="1"/>
          <p:nvPr/>
        </p:nvSpPr>
        <p:spPr>
          <a:xfrm>
            <a:off x="304800" y="231494"/>
            <a:ext cx="11702005" cy="6217087"/>
          </a:xfrm>
          <a:prstGeom prst="rect">
            <a:avLst/>
          </a:prstGeom>
          <a:noFill/>
        </p:spPr>
        <p:txBody>
          <a:bodyPr wrap="square" rtlCol="0">
            <a:spAutoFit/>
          </a:bodyPr>
          <a:lstStyle/>
          <a:p>
            <a:pPr fontAlgn="base"/>
            <a:r>
              <a:rPr lang="en-IN" sz="2000" dirty="0">
                <a:latin typeface="Arial Black" panose="020B0A04020102020204" pitchFamily="34" charset="0"/>
              </a:rPr>
              <a:t>6. Download Question Paper Module</a:t>
            </a:r>
            <a:r>
              <a:rPr lang="en-US" sz="2000" dirty="0">
                <a:latin typeface="Arial Black" panose="020B0A04020102020204" pitchFamily="34" charset="0"/>
              </a:rPr>
              <a:t>​</a:t>
            </a:r>
          </a:p>
          <a:p>
            <a:pPr fontAlgn="base"/>
            <a:r>
              <a:rPr lang="en-IN" sz="2000" dirty="0">
                <a:latin typeface="Arial Black" panose="020B0A04020102020204" pitchFamily="34" charset="0"/>
              </a:rPr>
              <a:t>​</a:t>
            </a:r>
          </a:p>
          <a:p>
            <a:pPr fontAlgn="base"/>
            <a:r>
              <a:rPr lang="en-IN" sz="2000" dirty="0"/>
              <a:t>&gt;Manages downloading paper files.</a:t>
            </a:r>
            <a:r>
              <a:rPr lang="en-US" sz="2000" dirty="0"/>
              <a:t>​</a:t>
            </a:r>
          </a:p>
          <a:p>
            <a:pPr fontAlgn="base"/>
            <a:r>
              <a:rPr lang="en-IN" sz="2000" dirty="0"/>
              <a:t>&gt;Increases the download count for each paper.</a:t>
            </a:r>
            <a:r>
              <a:rPr lang="en-US" sz="2000" dirty="0"/>
              <a:t>​</a:t>
            </a:r>
          </a:p>
          <a:p>
            <a:pPr fontAlgn="base"/>
            <a:r>
              <a:rPr lang="en-IN" sz="2000" dirty="0"/>
              <a:t>&gt;Tracks how many time each paper is accessed.</a:t>
            </a:r>
            <a:r>
              <a:rPr lang="en-US" sz="2000" dirty="0"/>
              <a:t>​</a:t>
            </a:r>
          </a:p>
          <a:p>
            <a:pPr fontAlgn="base"/>
            <a:r>
              <a:rPr lang="en-IN" sz="2000" dirty="0"/>
              <a:t>​</a:t>
            </a:r>
          </a:p>
          <a:p>
            <a:pPr fontAlgn="base"/>
            <a:r>
              <a:rPr lang="en-IN" sz="2000" dirty="0">
                <a:latin typeface="Arial Black" panose="020B0A04020102020204" pitchFamily="34" charset="0"/>
              </a:rPr>
              <a:t>7.Download Count Analytics Module</a:t>
            </a:r>
            <a:r>
              <a:rPr lang="en-US" sz="2000" dirty="0">
                <a:latin typeface="Arial Black" panose="020B0A04020102020204" pitchFamily="34" charset="0"/>
              </a:rPr>
              <a:t>​</a:t>
            </a:r>
          </a:p>
          <a:p>
            <a:pPr fontAlgn="base"/>
            <a:r>
              <a:rPr lang="en-IN" sz="2000" dirty="0"/>
              <a:t>​</a:t>
            </a:r>
          </a:p>
          <a:p>
            <a:pPr fontAlgn="base"/>
            <a:r>
              <a:rPr lang="en-IN" sz="2000" dirty="0"/>
              <a:t>&gt;Displays:</a:t>
            </a:r>
            <a:r>
              <a:rPr lang="en-US" sz="2000" dirty="0"/>
              <a:t>​</a:t>
            </a:r>
          </a:p>
          <a:p>
            <a:pPr fontAlgn="base"/>
            <a:r>
              <a:rPr lang="en-IN" sz="2000" dirty="0"/>
              <a:t>&gt;Most downloaded paper</a:t>
            </a:r>
            <a:r>
              <a:rPr lang="en-US" sz="2000" dirty="0"/>
              <a:t>​</a:t>
            </a:r>
          </a:p>
          <a:p>
            <a:pPr fontAlgn="base"/>
            <a:r>
              <a:rPr lang="en-IN" sz="2000" dirty="0"/>
              <a:t>&gt;Least downloaded paper</a:t>
            </a:r>
            <a:r>
              <a:rPr lang="en-US" sz="2000" dirty="0"/>
              <a:t>​</a:t>
            </a:r>
          </a:p>
          <a:p>
            <a:pPr fontAlgn="base"/>
            <a:r>
              <a:rPr lang="en-IN" sz="2000" dirty="0"/>
              <a:t>&gt;Department-wise download statistics</a:t>
            </a:r>
            <a:r>
              <a:rPr lang="en-US" sz="2000" dirty="0"/>
              <a:t>​</a:t>
            </a:r>
          </a:p>
          <a:p>
            <a:pPr fontAlgn="base"/>
            <a:r>
              <a:rPr lang="en-IN" sz="2000" dirty="0"/>
              <a:t>​</a:t>
            </a:r>
          </a:p>
          <a:p>
            <a:pPr fontAlgn="base"/>
            <a:r>
              <a:rPr lang="en-IN" sz="2000" dirty="0">
                <a:latin typeface="Arial Black" panose="020B0A04020102020204" pitchFamily="34" charset="0"/>
              </a:rPr>
              <a:t>8. File Handling Module</a:t>
            </a:r>
            <a:r>
              <a:rPr lang="en-IN" sz="2000" dirty="0"/>
              <a:t>​</a:t>
            </a:r>
          </a:p>
          <a:p>
            <a:pPr fontAlgn="base"/>
            <a:r>
              <a:rPr lang="en-IN" sz="2000" dirty="0"/>
              <a:t>​</a:t>
            </a:r>
          </a:p>
          <a:p>
            <a:pPr fontAlgn="base"/>
            <a:r>
              <a:rPr lang="en-IN" sz="2000" dirty="0"/>
              <a:t>Handles saving and loading data into txt or </a:t>
            </a:r>
            <a:r>
              <a:rPr lang="en-IN" sz="2000" dirty="0" err="1"/>
              <a:t>dat</a:t>
            </a:r>
            <a:r>
              <a:rPr lang="en-IN" sz="2000" dirty="0"/>
              <a:t> files:</a:t>
            </a:r>
            <a:r>
              <a:rPr lang="en-US" sz="2000" dirty="0"/>
              <a:t>​</a:t>
            </a:r>
          </a:p>
          <a:p>
            <a:pPr fontAlgn="base"/>
            <a:r>
              <a:rPr lang="en-IN" sz="2000" dirty="0"/>
              <a:t>&gt;Store all question paper records.</a:t>
            </a:r>
            <a:r>
              <a:rPr lang="en-US" sz="2000" dirty="0"/>
              <a:t>​</a:t>
            </a:r>
          </a:p>
          <a:p>
            <a:pPr fontAlgn="base"/>
            <a:r>
              <a:rPr lang="en-IN" sz="2000" dirty="0"/>
              <a:t>&gt;Store user information.</a:t>
            </a:r>
            <a:r>
              <a:rPr lang="en-US" sz="2000" dirty="0"/>
              <a:t>​</a:t>
            </a:r>
          </a:p>
          <a:p>
            <a:pPr fontAlgn="base"/>
            <a:r>
              <a:rPr lang="en-IN" sz="2000" dirty="0"/>
              <a:t>&gt;Update download counts.</a:t>
            </a:r>
            <a:r>
              <a:rPr lang="en-US" sz="2000" dirty="0"/>
              <a:t>​</a:t>
            </a:r>
          </a:p>
          <a:p>
            <a:endParaRPr lang="en-IN" dirty="0"/>
          </a:p>
        </p:txBody>
      </p:sp>
    </p:spTree>
    <p:extLst>
      <p:ext uri="{BB962C8B-B14F-4D97-AF65-F5344CB8AC3E}">
        <p14:creationId xmlns:p14="http://schemas.microsoft.com/office/powerpoint/2010/main" val="1496262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449EB7-3C52-6313-9BD7-63F8089185E9}"/>
              </a:ext>
            </a:extLst>
          </p:cNvPr>
          <p:cNvSpPr txBox="1"/>
          <p:nvPr/>
        </p:nvSpPr>
        <p:spPr>
          <a:xfrm>
            <a:off x="92597" y="231494"/>
            <a:ext cx="11991373" cy="5355312"/>
          </a:xfrm>
          <a:prstGeom prst="rect">
            <a:avLst/>
          </a:prstGeom>
          <a:noFill/>
        </p:spPr>
        <p:txBody>
          <a:bodyPr wrap="square" rtlCol="0">
            <a:spAutoFit/>
          </a:bodyPr>
          <a:lstStyle/>
          <a:p>
            <a:pPr fontAlgn="base"/>
            <a:r>
              <a:rPr lang="en-IN" dirty="0">
                <a:latin typeface="Arial Black" panose="020B0A04020102020204" pitchFamily="34" charset="0"/>
              </a:rPr>
              <a:t>9. Error Handling &amp; Validation Module</a:t>
            </a:r>
            <a:r>
              <a:rPr lang="en-IN" dirty="0"/>
              <a:t>​</a:t>
            </a:r>
          </a:p>
          <a:p>
            <a:pPr fontAlgn="base"/>
            <a:r>
              <a:rPr lang="en-IN" dirty="0"/>
              <a:t>​</a:t>
            </a:r>
          </a:p>
          <a:p>
            <a:pPr fontAlgn="base"/>
            <a:r>
              <a:rPr lang="en-IN" dirty="0"/>
              <a:t>Manages:</a:t>
            </a:r>
            <a:r>
              <a:rPr lang="en-US" dirty="0"/>
              <a:t>​</a:t>
            </a:r>
          </a:p>
          <a:p>
            <a:pPr fontAlgn="base"/>
            <a:r>
              <a:rPr lang="en-IN" dirty="0"/>
              <a:t>&gt;Invalid inputs </a:t>
            </a:r>
            <a:r>
              <a:rPr lang="en-US" dirty="0"/>
              <a:t>​</a:t>
            </a:r>
          </a:p>
          <a:p>
            <a:pPr fontAlgn="base"/>
            <a:r>
              <a:rPr lang="en-IN" dirty="0"/>
              <a:t>&gt;Missing files</a:t>
            </a:r>
            <a:r>
              <a:rPr lang="en-US" dirty="0"/>
              <a:t>​</a:t>
            </a:r>
          </a:p>
          <a:p>
            <a:pPr fontAlgn="base"/>
            <a:r>
              <a:rPr lang="en-IN" dirty="0"/>
              <a:t>&gt;Duplicate paper IDs</a:t>
            </a:r>
            <a:r>
              <a:rPr lang="en-US" dirty="0"/>
              <a:t>​</a:t>
            </a:r>
          </a:p>
          <a:p>
            <a:pPr fontAlgn="base"/>
            <a:r>
              <a:rPr lang="en-IN" dirty="0"/>
              <a:t>&gt;Incomplete fields</a:t>
            </a:r>
            <a:r>
              <a:rPr lang="en-US" dirty="0"/>
              <a:t>​</a:t>
            </a:r>
          </a:p>
          <a:p>
            <a:pPr fontAlgn="base"/>
            <a:r>
              <a:rPr lang="en-IN" dirty="0"/>
              <a:t>​</a:t>
            </a:r>
          </a:p>
          <a:p>
            <a:pPr fontAlgn="base"/>
            <a:r>
              <a:rPr lang="en-IN" dirty="0">
                <a:latin typeface="Arial Black" panose="020B0A04020102020204" pitchFamily="34" charset="0"/>
              </a:rPr>
              <a:t>10. Main Menu/User Interface Module​</a:t>
            </a:r>
          </a:p>
          <a:p>
            <a:pPr fontAlgn="base"/>
            <a:r>
              <a:rPr lang="en-IN" dirty="0">
                <a:latin typeface="Arial Black" panose="020B0A04020102020204" pitchFamily="34" charset="0"/>
              </a:rPr>
              <a:t>​</a:t>
            </a:r>
          </a:p>
          <a:p>
            <a:pPr fontAlgn="base"/>
            <a:r>
              <a:rPr lang="en-IN" dirty="0"/>
              <a:t>&gt;Provides the user with:</a:t>
            </a:r>
            <a:r>
              <a:rPr lang="en-US" dirty="0"/>
              <a:t>​</a:t>
            </a:r>
          </a:p>
          <a:p>
            <a:pPr fontAlgn="base"/>
            <a:r>
              <a:rPr lang="en-IN" dirty="0"/>
              <a:t>&gt;Login</a:t>
            </a:r>
            <a:r>
              <a:rPr lang="en-US" dirty="0"/>
              <a:t>​</a:t>
            </a:r>
          </a:p>
          <a:p>
            <a:pPr fontAlgn="base"/>
            <a:r>
              <a:rPr lang="en-IN" dirty="0"/>
              <a:t>&gt;Add question paper</a:t>
            </a:r>
            <a:r>
              <a:rPr lang="en-US" dirty="0"/>
              <a:t>​</a:t>
            </a:r>
          </a:p>
          <a:p>
            <a:pPr fontAlgn="base"/>
            <a:r>
              <a:rPr lang="en-IN" dirty="0"/>
              <a:t>&gt;Search paper</a:t>
            </a:r>
            <a:r>
              <a:rPr lang="en-US" dirty="0"/>
              <a:t>​</a:t>
            </a:r>
          </a:p>
          <a:p>
            <a:pPr fontAlgn="base"/>
            <a:r>
              <a:rPr lang="en-IN" dirty="0"/>
              <a:t>&gt;Download</a:t>
            </a:r>
            <a:r>
              <a:rPr lang="en-US" dirty="0"/>
              <a:t>​</a:t>
            </a:r>
          </a:p>
          <a:p>
            <a:pPr fontAlgn="base"/>
            <a:r>
              <a:rPr lang="en-IN" dirty="0"/>
              <a:t>&gt;View statistics</a:t>
            </a:r>
            <a:r>
              <a:rPr lang="en-US" dirty="0"/>
              <a:t>​</a:t>
            </a:r>
          </a:p>
          <a:p>
            <a:pPr fontAlgn="base"/>
            <a:r>
              <a:rPr lang="en-IN" dirty="0"/>
              <a:t>&gt;Exit</a:t>
            </a:r>
            <a:r>
              <a:rPr lang="en-US" dirty="0"/>
              <a:t>​</a:t>
            </a:r>
          </a:p>
          <a:p>
            <a:pPr fontAlgn="base"/>
            <a:r>
              <a:rPr lang="en-IN" dirty="0"/>
              <a:t>&gt;Connects all modules together</a:t>
            </a:r>
            <a:r>
              <a:rPr lang="en-US" dirty="0"/>
              <a:t>​</a:t>
            </a:r>
          </a:p>
          <a:p>
            <a:endParaRPr lang="en-IN" dirty="0"/>
          </a:p>
        </p:txBody>
      </p:sp>
    </p:spTree>
    <p:extLst>
      <p:ext uri="{BB962C8B-B14F-4D97-AF65-F5344CB8AC3E}">
        <p14:creationId xmlns:p14="http://schemas.microsoft.com/office/powerpoint/2010/main" val="2292620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596F8-3189-2AA4-AACF-19EF4D3232E5}"/>
              </a:ext>
            </a:extLst>
          </p:cNvPr>
          <p:cNvSpPr>
            <a:spLocks noGrp="1"/>
          </p:cNvSpPr>
          <p:nvPr>
            <p:ph type="title"/>
          </p:nvPr>
        </p:nvSpPr>
        <p:spPr/>
        <p:txBody>
          <a:bodyPr/>
          <a:lstStyle/>
          <a:p>
            <a:r>
              <a:rPr lang="en-US" dirty="0">
                <a:latin typeface="Algerian" panose="04020705040A02060702" pitchFamily="82" charset="0"/>
              </a:rPr>
              <a:t>MODULE WISE LOGIC </a:t>
            </a:r>
            <a:r>
              <a:rPr lang="en-US" dirty="0"/>
              <a:t>:</a:t>
            </a:r>
            <a:endParaRPr lang="en-IN" dirty="0"/>
          </a:p>
        </p:txBody>
      </p:sp>
      <p:sp>
        <p:nvSpPr>
          <p:cNvPr id="3" name="Content Placeholder 2">
            <a:extLst>
              <a:ext uri="{FF2B5EF4-FFF2-40B4-BE49-F238E27FC236}">
                <a16:creationId xmlns:a16="http://schemas.microsoft.com/office/drawing/2014/main" id="{A04502F3-21BC-BD38-89E8-D395E30DDA53}"/>
              </a:ext>
            </a:extLst>
          </p:cNvPr>
          <p:cNvSpPr>
            <a:spLocks noGrp="1"/>
          </p:cNvSpPr>
          <p:nvPr>
            <p:ph idx="1"/>
          </p:nvPr>
        </p:nvSpPr>
        <p:spPr/>
        <p:txBody>
          <a:bodyPr>
            <a:normAutofit fontScale="85000" lnSpcReduction="20000"/>
          </a:bodyPr>
          <a:lstStyle/>
          <a:p>
            <a:r>
              <a:rPr lang="en-US" dirty="0">
                <a:latin typeface="Arial Black" panose="020B0A04020102020204" pitchFamily="34" charset="0"/>
              </a:rPr>
              <a:t>1. Authentication Module – Logic</a:t>
            </a:r>
          </a:p>
          <a:p>
            <a:r>
              <a:rPr lang="en-US" dirty="0"/>
              <a:t> &gt; Admin Login Logic Display message asking for admin username and password.</a:t>
            </a:r>
          </a:p>
          <a:p>
            <a:r>
              <a:rPr lang="en-US" dirty="0"/>
              <a:t> &gt; Accept user input.</a:t>
            </a:r>
          </a:p>
          <a:p>
            <a:r>
              <a:rPr lang="en-US" dirty="0"/>
              <a:t> &gt; Compare input with stored admin credentials.</a:t>
            </a:r>
          </a:p>
          <a:p>
            <a:r>
              <a:rPr lang="en-US" dirty="0"/>
              <a:t> &gt; If both match, allow admin to access the admin menu.</a:t>
            </a:r>
          </a:p>
          <a:p>
            <a:r>
              <a:rPr lang="en-US" dirty="0"/>
              <a:t> &gt; If they do not match, show an “Invalid Login” message and allow retry.</a:t>
            </a:r>
          </a:p>
          <a:p>
            <a:r>
              <a:rPr lang="en-US" dirty="0"/>
              <a:t> &gt; Student Login Logic</a:t>
            </a:r>
          </a:p>
          <a:p>
            <a:r>
              <a:rPr lang="en-US" dirty="0"/>
              <a:t> &gt; Ask the student to enter roll number and password.</a:t>
            </a:r>
          </a:p>
          <a:p>
            <a:r>
              <a:rPr lang="en-US" dirty="0"/>
              <a:t> &gt; Search for the roll number in the student database.</a:t>
            </a:r>
          </a:p>
          <a:p>
            <a:r>
              <a:rPr lang="en-US" dirty="0"/>
              <a:t> &gt; If the roll number exists, compare the stored password with the entered password.  </a:t>
            </a:r>
          </a:p>
          <a:p>
            <a:r>
              <a:rPr lang="en-US" dirty="0"/>
              <a:t> &gt; If both match, open the student menu.</a:t>
            </a:r>
            <a:endParaRPr lang="en-IN" dirty="0"/>
          </a:p>
        </p:txBody>
      </p:sp>
    </p:spTree>
    <p:extLst>
      <p:ext uri="{BB962C8B-B14F-4D97-AF65-F5344CB8AC3E}">
        <p14:creationId xmlns:p14="http://schemas.microsoft.com/office/powerpoint/2010/main" val="2067601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678D20-855D-819C-9067-BF971BCD76A0}"/>
              </a:ext>
            </a:extLst>
          </p:cNvPr>
          <p:cNvSpPr txBox="1"/>
          <p:nvPr/>
        </p:nvSpPr>
        <p:spPr>
          <a:xfrm>
            <a:off x="76199" y="49695"/>
            <a:ext cx="11996531" cy="6247864"/>
          </a:xfrm>
          <a:prstGeom prst="rect">
            <a:avLst/>
          </a:prstGeom>
          <a:noFill/>
        </p:spPr>
        <p:txBody>
          <a:bodyPr wrap="square" rtlCol="0">
            <a:spAutoFit/>
          </a:bodyPr>
          <a:lstStyle/>
          <a:p>
            <a:r>
              <a:rPr lang="en-US" sz="2000" dirty="0"/>
              <a:t>     &gt; If not, display an error message and deny access.</a:t>
            </a:r>
          </a:p>
          <a:p>
            <a:r>
              <a:rPr lang="en-US" sz="2000" dirty="0"/>
              <a:t>     &gt; Student Registration Logic</a:t>
            </a:r>
          </a:p>
          <a:p>
            <a:r>
              <a:rPr lang="en-US" sz="2000" dirty="0"/>
              <a:t>     &gt; Ask for student details: name, roll number, email, and password.</a:t>
            </a:r>
          </a:p>
          <a:p>
            <a:r>
              <a:rPr lang="en-US" sz="2000" dirty="0"/>
              <a:t>     &gt; Check whether the roll number already exists in the system.</a:t>
            </a:r>
          </a:p>
          <a:p>
            <a:r>
              <a:rPr lang="en-US" sz="2000" dirty="0"/>
              <a:t>    &gt;  If it exists, display an error message.</a:t>
            </a:r>
          </a:p>
          <a:p>
            <a:r>
              <a:rPr lang="en-US" sz="2000" dirty="0"/>
              <a:t>     &gt; If it does not exist, save the details to the student database.</a:t>
            </a:r>
          </a:p>
          <a:p>
            <a:r>
              <a:rPr lang="en-US" sz="2000" dirty="0"/>
              <a:t>     &gt; Show a “Registration Successful” message. </a:t>
            </a:r>
          </a:p>
          <a:p>
            <a:endParaRPr lang="en-US" sz="2000" dirty="0"/>
          </a:p>
          <a:p>
            <a:r>
              <a:rPr lang="en-US" sz="2000" dirty="0">
                <a:latin typeface="Arial Black" panose="020B0A04020102020204" pitchFamily="34" charset="0"/>
              </a:rPr>
              <a:t>2. Admin Operations Module – Logic</a:t>
            </a:r>
            <a:br>
              <a:rPr lang="en-US" sz="2000" dirty="0"/>
            </a:br>
            <a:endParaRPr lang="en-US" sz="2000" dirty="0"/>
          </a:p>
          <a:p>
            <a:r>
              <a:rPr lang="en-US" sz="2000" dirty="0"/>
              <a:t>        &gt; Upload Question Paper Ask admin to enter subject, year, semester, exam type, department, regulation, and file name.</a:t>
            </a:r>
          </a:p>
          <a:p>
            <a:r>
              <a:rPr lang="en-US" sz="2000" dirty="0"/>
              <a:t>        &gt;Check whether the file has a valid PDF extension.</a:t>
            </a:r>
          </a:p>
          <a:p>
            <a:r>
              <a:rPr lang="en-US" sz="2000" dirty="0"/>
              <a:t>        &gt; Generate a unique paper ID</a:t>
            </a:r>
          </a:p>
          <a:p>
            <a:r>
              <a:rPr lang="en-US" sz="2000" dirty="0"/>
              <a:t>        &gt; Store all entered details in the paper database.</a:t>
            </a:r>
          </a:p>
          <a:p>
            <a:r>
              <a:rPr lang="en-US" sz="2000" dirty="0"/>
              <a:t>        &gt; Save the updated database to file.</a:t>
            </a:r>
          </a:p>
          <a:p>
            <a:r>
              <a:rPr lang="en-US" sz="2000" dirty="0"/>
              <a:t>        &gt; Display a success message.</a:t>
            </a:r>
          </a:p>
          <a:p>
            <a:r>
              <a:rPr lang="en-US" sz="2000" dirty="0"/>
              <a:t>       &gt;  Delete Question Paper</a:t>
            </a:r>
          </a:p>
          <a:p>
            <a:r>
              <a:rPr lang="en-US" sz="2000" dirty="0"/>
              <a:t>        &gt; Display a list of all available question papers along with their IDs.</a:t>
            </a:r>
          </a:p>
          <a:p>
            <a:r>
              <a:rPr lang="en-US" sz="2000" dirty="0"/>
              <a:t>        &gt; Ask the admin to enter the Paper ID to delete.</a:t>
            </a:r>
            <a:endParaRPr lang="en-IN" sz="2000" dirty="0"/>
          </a:p>
        </p:txBody>
      </p:sp>
    </p:spTree>
    <p:extLst>
      <p:ext uri="{BB962C8B-B14F-4D97-AF65-F5344CB8AC3E}">
        <p14:creationId xmlns:p14="http://schemas.microsoft.com/office/powerpoint/2010/main" val="282135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2F1C4D-8D35-D454-95BB-CD35AC39E0D0}"/>
              </a:ext>
            </a:extLst>
          </p:cNvPr>
          <p:cNvSpPr txBox="1"/>
          <p:nvPr/>
        </p:nvSpPr>
        <p:spPr>
          <a:xfrm>
            <a:off x="139148" y="149087"/>
            <a:ext cx="11718235" cy="5940088"/>
          </a:xfrm>
          <a:prstGeom prst="rect">
            <a:avLst/>
          </a:prstGeom>
          <a:noFill/>
        </p:spPr>
        <p:txBody>
          <a:bodyPr wrap="square" rtlCol="0">
            <a:spAutoFit/>
          </a:bodyPr>
          <a:lstStyle/>
          <a:p>
            <a:r>
              <a:rPr lang="en-US" dirty="0"/>
              <a:t>      </a:t>
            </a:r>
            <a:r>
              <a:rPr lang="en-US" sz="2000" dirty="0"/>
              <a:t>&gt;  Search for the ID in the papers list.</a:t>
            </a:r>
          </a:p>
          <a:p>
            <a:r>
              <a:rPr lang="en-US" sz="2000" dirty="0"/>
              <a:t>      &gt;  If found, remove that record by shifting the array elements.</a:t>
            </a:r>
          </a:p>
          <a:p>
            <a:r>
              <a:rPr lang="en-US" sz="2000" dirty="0"/>
              <a:t>      &gt;  Save the updated data.</a:t>
            </a:r>
          </a:p>
          <a:p>
            <a:r>
              <a:rPr lang="en-US" sz="2000" dirty="0"/>
              <a:t>      &gt;  Display a “Paper Deleted” confirmation message.</a:t>
            </a:r>
          </a:p>
          <a:p>
            <a:r>
              <a:rPr lang="en-US" sz="2000" dirty="0"/>
              <a:t>       &gt; Update Question Paper</a:t>
            </a:r>
          </a:p>
          <a:p>
            <a:r>
              <a:rPr lang="en-US" sz="2000" dirty="0"/>
              <a:t>       &gt; Show all question papers to the admin.</a:t>
            </a:r>
          </a:p>
          <a:p>
            <a:r>
              <a:rPr lang="en-US" sz="2000" dirty="0"/>
              <a:t>       &gt; Ask for the Paper ID that needs to be updated.</a:t>
            </a:r>
          </a:p>
          <a:p>
            <a:r>
              <a:rPr lang="en-US" sz="2000" dirty="0"/>
              <a:t>       &gt; Search for the given ID.</a:t>
            </a:r>
          </a:p>
          <a:p>
            <a:r>
              <a:rPr lang="en-US" sz="2000" dirty="0"/>
              <a:t>       &gt; If found, ask which field needs to be updated (subject, year, semester, etc.).</a:t>
            </a:r>
          </a:p>
          <a:p>
            <a:r>
              <a:rPr lang="en-US" sz="2000" dirty="0"/>
              <a:t>       &gt; Replace the old value with the new one.</a:t>
            </a:r>
          </a:p>
          <a:p>
            <a:r>
              <a:rPr lang="en-US" sz="2000" dirty="0"/>
              <a:t>      &gt;  Save the updated data.</a:t>
            </a:r>
          </a:p>
          <a:p>
            <a:r>
              <a:rPr lang="en-US" sz="2000" dirty="0"/>
              <a:t>      &gt;  Display an “Update Successful” message.</a:t>
            </a:r>
          </a:p>
          <a:p>
            <a:r>
              <a:rPr lang="en-US" sz="2000" dirty="0"/>
              <a:t>      &gt;  View All Question Papers</a:t>
            </a:r>
          </a:p>
          <a:p>
            <a:r>
              <a:rPr lang="en-US" sz="2000" dirty="0"/>
              <a:t>      &gt;  Loop through the paper database.</a:t>
            </a:r>
          </a:p>
          <a:p>
            <a:r>
              <a:rPr lang="en-US" sz="2000" dirty="0"/>
              <a:t>      &gt;  Display each paper’s ID, subject, year, semester, department, and exam type.</a:t>
            </a:r>
          </a:p>
          <a:p>
            <a:r>
              <a:rPr lang="en-US" sz="2000" dirty="0"/>
              <a:t>       &gt; If the database is empty, show “No Papers Uploaded”.</a:t>
            </a:r>
          </a:p>
          <a:p>
            <a:r>
              <a:rPr lang="en-US" sz="2000" dirty="0"/>
              <a:t>       &gt; View Download Statistics</a:t>
            </a:r>
          </a:p>
          <a:p>
            <a:r>
              <a:rPr lang="en-US" sz="2000" dirty="0"/>
              <a:t>       &gt; Loop through the paper database.</a:t>
            </a:r>
          </a:p>
          <a:p>
            <a:r>
              <a:rPr lang="en-US" sz="2000" dirty="0"/>
              <a:t>       &gt; Display each paper’s ID, subject, and download count.</a:t>
            </a:r>
            <a:endParaRPr lang="en-IN" sz="2000" dirty="0"/>
          </a:p>
        </p:txBody>
      </p:sp>
    </p:spTree>
    <p:extLst>
      <p:ext uri="{BB962C8B-B14F-4D97-AF65-F5344CB8AC3E}">
        <p14:creationId xmlns:p14="http://schemas.microsoft.com/office/powerpoint/2010/main" val="146785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EFCDAD-B3D7-542D-97F9-986BEB3BF49D}"/>
              </a:ext>
            </a:extLst>
          </p:cNvPr>
          <p:cNvSpPr txBox="1"/>
          <p:nvPr/>
        </p:nvSpPr>
        <p:spPr>
          <a:xfrm>
            <a:off x="0" y="168965"/>
            <a:ext cx="11857383" cy="646331"/>
          </a:xfrm>
          <a:prstGeom prst="rect">
            <a:avLst/>
          </a:prstGeom>
          <a:noFill/>
        </p:spPr>
        <p:txBody>
          <a:bodyPr wrap="square" rtlCol="0">
            <a:spAutoFit/>
          </a:bodyPr>
          <a:lstStyle/>
          <a:p>
            <a:r>
              <a:rPr lang="en-US" dirty="0"/>
              <a:t>       &gt;  Identify the paper with the highest downloads.</a:t>
            </a:r>
          </a:p>
          <a:p>
            <a:r>
              <a:rPr lang="en-US" dirty="0"/>
              <a:t>       &gt;  Display the most downloaded paper details.</a:t>
            </a:r>
            <a:endParaRPr lang="en-IN" dirty="0"/>
          </a:p>
        </p:txBody>
      </p:sp>
      <p:sp>
        <p:nvSpPr>
          <p:cNvPr id="3" name="TextBox 2">
            <a:extLst>
              <a:ext uri="{FF2B5EF4-FFF2-40B4-BE49-F238E27FC236}">
                <a16:creationId xmlns:a16="http://schemas.microsoft.com/office/drawing/2014/main" id="{BD7E217F-B133-2AB7-0492-507D706BE1B4}"/>
              </a:ext>
            </a:extLst>
          </p:cNvPr>
          <p:cNvSpPr txBox="1"/>
          <p:nvPr/>
        </p:nvSpPr>
        <p:spPr>
          <a:xfrm>
            <a:off x="64604" y="168965"/>
            <a:ext cx="12062791" cy="6247864"/>
          </a:xfrm>
          <a:prstGeom prst="rect">
            <a:avLst/>
          </a:prstGeom>
          <a:noFill/>
        </p:spPr>
        <p:txBody>
          <a:bodyPr wrap="square" rtlCol="0">
            <a:spAutoFit/>
          </a:bodyPr>
          <a:lstStyle/>
          <a:p>
            <a:r>
              <a:rPr lang="en-IN" sz="2000" dirty="0"/>
              <a:t>                                                                                             </a:t>
            </a:r>
          </a:p>
          <a:p>
            <a:r>
              <a:rPr lang="en-IN" sz="2000" dirty="0"/>
              <a:t>      </a:t>
            </a:r>
          </a:p>
          <a:p>
            <a:endParaRPr lang="en-IN" sz="2000" dirty="0"/>
          </a:p>
          <a:p>
            <a:r>
              <a:rPr lang="en-US" sz="2000" dirty="0">
                <a:latin typeface="Arial Black" panose="020B0A04020102020204" pitchFamily="34" charset="0"/>
              </a:rPr>
              <a:t>3. Student Operations Module – Logic</a:t>
            </a:r>
          </a:p>
          <a:p>
            <a:endParaRPr lang="en-US" sz="2000" dirty="0">
              <a:latin typeface="Arial Black" panose="020B0A04020102020204" pitchFamily="34" charset="0"/>
            </a:endParaRPr>
          </a:p>
          <a:p>
            <a:r>
              <a:rPr lang="en-US" sz="2000" dirty="0"/>
              <a:t>         &gt; Search Question Papers</a:t>
            </a:r>
          </a:p>
          <a:p>
            <a:r>
              <a:rPr lang="en-US" sz="2000" dirty="0"/>
              <a:t>         &gt;   Ask the student to enter a keyword, subject, year, department, or semester.</a:t>
            </a:r>
          </a:p>
          <a:p>
            <a:r>
              <a:rPr lang="en-US" sz="2000" dirty="0"/>
              <a:t>        &gt;  Loop through all papers and check for matches.</a:t>
            </a:r>
          </a:p>
          <a:p>
            <a:r>
              <a:rPr lang="en-US" sz="2000" dirty="0"/>
              <a:t>        &gt;  If a match is found, display the paper details.</a:t>
            </a:r>
          </a:p>
          <a:p>
            <a:r>
              <a:rPr lang="en-US" sz="2000" dirty="0"/>
              <a:t>        &gt;  If no matches exist, show “No Results Found”.</a:t>
            </a:r>
          </a:p>
          <a:p>
            <a:r>
              <a:rPr lang="en-US" sz="2000" dirty="0"/>
              <a:t>        &gt;  Browse by Subject Extract all unique subjects from the paper list.</a:t>
            </a:r>
          </a:p>
          <a:p>
            <a:r>
              <a:rPr lang="en-US" sz="2000" dirty="0"/>
              <a:t>        &gt;  Display the list of subjects.</a:t>
            </a:r>
          </a:p>
          <a:p>
            <a:r>
              <a:rPr lang="en-US" sz="2000" dirty="0"/>
              <a:t>        &gt;  Ask the student to choose one subject.</a:t>
            </a:r>
          </a:p>
          <a:p>
            <a:r>
              <a:rPr lang="en-US" sz="2000" dirty="0"/>
              <a:t>        &gt;  Display all papers belonging to that subject.</a:t>
            </a:r>
          </a:p>
          <a:p>
            <a:r>
              <a:rPr lang="en-US" sz="2000" dirty="0"/>
              <a:t>        &gt;  Browse by Year List all available years from the database.</a:t>
            </a:r>
          </a:p>
          <a:p>
            <a:r>
              <a:rPr lang="en-US" sz="2000" dirty="0"/>
              <a:t>        &gt;  Ask the student to select a year.</a:t>
            </a:r>
          </a:p>
          <a:p>
            <a:r>
              <a:rPr lang="en-US" sz="2000" dirty="0"/>
              <a:t>        &gt;  Display all papers uploaded in that year.</a:t>
            </a:r>
          </a:p>
          <a:p>
            <a:r>
              <a:rPr lang="en-US" sz="2000" dirty="0"/>
              <a:t>        &gt;  Browse by Department Show the list of departments.</a:t>
            </a:r>
          </a:p>
          <a:p>
            <a:r>
              <a:rPr lang="en-US" sz="2000" dirty="0"/>
              <a:t>        &gt;  Let the student select a department.</a:t>
            </a:r>
          </a:p>
          <a:p>
            <a:r>
              <a:rPr lang="en-US" sz="2000" dirty="0"/>
              <a:t>       &gt;  Display all papers related to that department.</a:t>
            </a:r>
            <a:endParaRPr lang="en-IN" sz="2000" dirty="0"/>
          </a:p>
        </p:txBody>
      </p:sp>
    </p:spTree>
    <p:extLst>
      <p:ext uri="{BB962C8B-B14F-4D97-AF65-F5344CB8AC3E}">
        <p14:creationId xmlns:p14="http://schemas.microsoft.com/office/powerpoint/2010/main" val="2353422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040DB1-6F46-FD5C-8238-C733DDAC66D5}"/>
              </a:ext>
            </a:extLst>
          </p:cNvPr>
          <p:cNvSpPr txBox="1"/>
          <p:nvPr/>
        </p:nvSpPr>
        <p:spPr>
          <a:xfrm>
            <a:off x="235226" y="318052"/>
            <a:ext cx="11956774" cy="2862322"/>
          </a:xfrm>
          <a:prstGeom prst="rect">
            <a:avLst/>
          </a:prstGeom>
          <a:noFill/>
        </p:spPr>
        <p:txBody>
          <a:bodyPr wrap="square" rtlCol="0">
            <a:spAutoFit/>
          </a:bodyPr>
          <a:lstStyle/>
          <a:p>
            <a:r>
              <a:rPr lang="en-US" dirty="0"/>
              <a:t>      &gt;   Download Question Paper</a:t>
            </a:r>
          </a:p>
          <a:p>
            <a:r>
              <a:rPr lang="en-US" dirty="0"/>
              <a:t>      &gt;   Ask the student to enter the Paper ID to download.</a:t>
            </a:r>
          </a:p>
          <a:p>
            <a:r>
              <a:rPr lang="en-US" dirty="0"/>
              <a:t>      &gt;  Search for the given ID.</a:t>
            </a:r>
          </a:p>
          <a:p>
            <a:r>
              <a:rPr lang="en-US" dirty="0"/>
              <a:t>      &gt;  If found, increase the download count for that paper.</a:t>
            </a:r>
          </a:p>
          <a:p>
            <a:r>
              <a:rPr lang="en-US" dirty="0"/>
              <a:t>      &gt;  Record the download in the student’s download history along with the date.</a:t>
            </a:r>
          </a:p>
          <a:p>
            <a:r>
              <a:rPr lang="en-US" dirty="0"/>
              <a:t>      &gt;  Save the updated data.</a:t>
            </a:r>
          </a:p>
          <a:p>
            <a:r>
              <a:rPr lang="en-US" dirty="0"/>
              <a:t>      &gt;  Display a “Download Successful” message.</a:t>
            </a:r>
          </a:p>
          <a:p>
            <a:r>
              <a:rPr lang="en-US" dirty="0"/>
              <a:t>      &gt;  View Download History Retrieve the download history of the logged-in student.</a:t>
            </a:r>
          </a:p>
          <a:p>
            <a:r>
              <a:rPr lang="en-US" dirty="0"/>
              <a:t>      &gt;  If download records exist, display them with dates.</a:t>
            </a:r>
          </a:p>
          <a:p>
            <a:r>
              <a:rPr lang="en-US" dirty="0"/>
              <a:t>      &gt;  If no history exists, show “No Downloads Yet”. </a:t>
            </a:r>
            <a:endParaRPr lang="en-IN" dirty="0"/>
          </a:p>
        </p:txBody>
      </p:sp>
      <p:sp>
        <p:nvSpPr>
          <p:cNvPr id="3" name="TextBox 2">
            <a:extLst>
              <a:ext uri="{FF2B5EF4-FFF2-40B4-BE49-F238E27FC236}">
                <a16:creationId xmlns:a16="http://schemas.microsoft.com/office/drawing/2014/main" id="{687869B7-7450-B7B3-5A69-03B7BCC5E445}"/>
              </a:ext>
            </a:extLst>
          </p:cNvPr>
          <p:cNvSpPr txBox="1"/>
          <p:nvPr/>
        </p:nvSpPr>
        <p:spPr>
          <a:xfrm>
            <a:off x="172278" y="87219"/>
            <a:ext cx="12082670" cy="6463308"/>
          </a:xfrm>
          <a:prstGeom prst="rect">
            <a:avLst/>
          </a:prstGeom>
          <a:noFill/>
        </p:spPr>
        <p:txBody>
          <a:bodyPr wrap="square" rtlCol="0">
            <a:spAutoFit/>
          </a:bodyPr>
          <a:lstStyle/>
          <a:p>
            <a:r>
              <a:rPr lang="en-IN" dirty="0"/>
              <a:t> </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US" dirty="0"/>
              <a:t>                                                                                              </a:t>
            </a:r>
          </a:p>
          <a:p>
            <a:endParaRPr lang="en-US" dirty="0"/>
          </a:p>
          <a:p>
            <a:r>
              <a:rPr lang="en-US" dirty="0"/>
              <a:t>4. </a:t>
            </a:r>
            <a:r>
              <a:rPr lang="en-US" dirty="0">
                <a:latin typeface="Arial Black" panose="020B0A04020102020204" pitchFamily="34" charset="0"/>
              </a:rPr>
              <a:t>File Handling Module – Logic</a:t>
            </a:r>
          </a:p>
          <a:p>
            <a:endParaRPr lang="en-US" dirty="0">
              <a:latin typeface="Arial Black" panose="020B0A04020102020204" pitchFamily="34" charset="0"/>
            </a:endParaRPr>
          </a:p>
          <a:p>
            <a:r>
              <a:rPr lang="en-US" dirty="0"/>
              <a:t>       &gt;  Load Data()</a:t>
            </a:r>
          </a:p>
          <a:p>
            <a:r>
              <a:rPr lang="en-US" dirty="0"/>
              <a:t>       &gt;  Open the student database file and load all student records.</a:t>
            </a:r>
          </a:p>
          <a:p>
            <a:r>
              <a:rPr lang="en-US" dirty="0"/>
              <a:t>       &gt;  Open the papers database file and load all paper records.</a:t>
            </a:r>
          </a:p>
          <a:p>
            <a:r>
              <a:rPr lang="en-US" dirty="0"/>
              <a:t>       &gt;  Open the download history file and load download data.</a:t>
            </a:r>
          </a:p>
          <a:p>
            <a:r>
              <a:rPr lang="en-US" dirty="0"/>
              <a:t>       &gt;  Close all files after reading.</a:t>
            </a:r>
          </a:p>
          <a:p>
            <a:r>
              <a:rPr lang="en-US" dirty="0"/>
              <a:t>       &gt;  Save Data()</a:t>
            </a:r>
          </a:p>
          <a:p>
            <a:r>
              <a:rPr lang="en-US" dirty="0"/>
              <a:t>       &gt;  Open the data files for writing.</a:t>
            </a:r>
          </a:p>
          <a:p>
            <a:r>
              <a:rPr lang="en-US" dirty="0"/>
              <a:t>       &gt;  Save all student records, paper records, and download history to the respective files.</a:t>
            </a:r>
          </a:p>
          <a:p>
            <a:r>
              <a:rPr lang="en-US" dirty="0"/>
              <a:t>       </a:t>
            </a:r>
          </a:p>
        </p:txBody>
      </p:sp>
    </p:spTree>
    <p:extLst>
      <p:ext uri="{BB962C8B-B14F-4D97-AF65-F5344CB8AC3E}">
        <p14:creationId xmlns:p14="http://schemas.microsoft.com/office/powerpoint/2010/main" val="3705575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E5D0E0-A10E-247F-1BF9-A0D9EC8F7D35}"/>
              </a:ext>
            </a:extLst>
          </p:cNvPr>
          <p:cNvSpPr txBox="1"/>
          <p:nvPr/>
        </p:nvSpPr>
        <p:spPr>
          <a:xfrm>
            <a:off x="119270" y="208722"/>
            <a:ext cx="11956773" cy="4247317"/>
          </a:xfrm>
          <a:prstGeom prst="rect">
            <a:avLst/>
          </a:prstGeom>
          <a:noFill/>
        </p:spPr>
        <p:txBody>
          <a:bodyPr wrap="square" rtlCol="0">
            <a:spAutoFit/>
          </a:bodyPr>
          <a:lstStyle/>
          <a:p>
            <a:r>
              <a:rPr lang="en-US" dirty="0"/>
              <a:t>         Close the files.</a:t>
            </a:r>
          </a:p>
          <a:p>
            <a:r>
              <a:rPr lang="en-US" dirty="0"/>
              <a:t>         Display a “Data Saved” confirmation message.</a:t>
            </a:r>
          </a:p>
          <a:p>
            <a:endParaRPr lang="en-US" dirty="0"/>
          </a:p>
          <a:p>
            <a:r>
              <a:rPr lang="en-US" dirty="0">
                <a:latin typeface="Arial Black" panose="020B0A04020102020204" pitchFamily="34" charset="0"/>
              </a:rPr>
              <a:t> 5. Utility Module – Logic</a:t>
            </a:r>
          </a:p>
          <a:p>
            <a:endParaRPr lang="en-US" dirty="0"/>
          </a:p>
          <a:p>
            <a:r>
              <a:rPr lang="en-US" dirty="0"/>
              <a:t>         &gt;  Clear Input Buffer()</a:t>
            </a:r>
          </a:p>
          <a:p>
            <a:r>
              <a:rPr lang="en-US" dirty="0"/>
              <a:t>         &gt;  Continuously read characters until a newline is detected.</a:t>
            </a:r>
          </a:p>
          <a:p>
            <a:r>
              <a:rPr lang="en-US" dirty="0"/>
              <a:t>         &gt;  Helps prevent unwanted leftover input in the buffer.</a:t>
            </a:r>
          </a:p>
          <a:p>
            <a:r>
              <a:rPr lang="en-US" dirty="0"/>
              <a:t>         &gt;  Generate Paper  ID()</a:t>
            </a:r>
          </a:p>
          <a:p>
            <a:r>
              <a:rPr lang="en-US" dirty="0"/>
              <a:t>         &gt;  Maintain a counter that increases with each new paper entry.</a:t>
            </a:r>
          </a:p>
          <a:p>
            <a:r>
              <a:rPr lang="en-US" dirty="0"/>
              <a:t>         &gt;  Return the counter value as the new Paper ID.</a:t>
            </a:r>
          </a:p>
          <a:p>
            <a:r>
              <a:rPr lang="en-US" dirty="0"/>
              <a:t>         &gt;  Get Current Date()</a:t>
            </a:r>
          </a:p>
          <a:p>
            <a:r>
              <a:rPr lang="en-US" dirty="0"/>
              <a:t>         &gt;  Retrieve the current system date.</a:t>
            </a:r>
          </a:p>
          <a:p>
            <a:r>
              <a:rPr lang="en-US" dirty="0"/>
              <a:t>         &gt;  Convert it into a readable format (e.g., DD-MM-YYYY).</a:t>
            </a:r>
          </a:p>
          <a:p>
            <a:r>
              <a:rPr lang="en-US" dirty="0"/>
              <a:t>         &gt;  Return the date as a string.</a:t>
            </a:r>
            <a:endParaRPr lang="en-IN" dirty="0"/>
          </a:p>
        </p:txBody>
      </p:sp>
    </p:spTree>
    <p:extLst>
      <p:ext uri="{BB962C8B-B14F-4D97-AF65-F5344CB8AC3E}">
        <p14:creationId xmlns:p14="http://schemas.microsoft.com/office/powerpoint/2010/main" val="2343330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A645D-8909-DDF3-6068-69BC7C34E62D}"/>
              </a:ext>
            </a:extLst>
          </p:cNvPr>
          <p:cNvSpPr>
            <a:spLocks noGrp="1"/>
          </p:cNvSpPr>
          <p:nvPr>
            <p:ph type="title"/>
          </p:nvPr>
        </p:nvSpPr>
        <p:spPr/>
        <p:txBody>
          <a:bodyPr/>
          <a:lstStyle/>
          <a:p>
            <a:r>
              <a:rPr lang="en-US" dirty="0">
                <a:latin typeface="Algerian" panose="04020705040A02060702" pitchFamily="82" charset="0"/>
              </a:rPr>
              <a:t>MODULE PROGRAM </a:t>
            </a:r>
            <a:r>
              <a:rPr lang="en-US" dirty="0"/>
              <a:t>:</a:t>
            </a:r>
            <a:endParaRPr lang="en-IN" dirty="0"/>
          </a:p>
        </p:txBody>
      </p:sp>
      <p:sp>
        <p:nvSpPr>
          <p:cNvPr id="5" name="TextBox 4">
            <a:extLst>
              <a:ext uri="{FF2B5EF4-FFF2-40B4-BE49-F238E27FC236}">
                <a16:creationId xmlns:a16="http://schemas.microsoft.com/office/drawing/2014/main" id="{7188367B-8121-1E85-916F-65C33454CA6C}"/>
              </a:ext>
            </a:extLst>
          </p:cNvPr>
          <p:cNvSpPr txBox="1"/>
          <p:nvPr/>
        </p:nvSpPr>
        <p:spPr>
          <a:xfrm>
            <a:off x="844825" y="1737360"/>
            <a:ext cx="10455965" cy="4401205"/>
          </a:xfrm>
          <a:prstGeom prst="rect">
            <a:avLst/>
          </a:prstGeom>
          <a:noFill/>
        </p:spPr>
        <p:txBody>
          <a:bodyPr wrap="square">
            <a:spAutoFit/>
          </a:bodyPr>
          <a:lstStyle/>
          <a:p>
            <a:pPr marL="342900" indent="-342900">
              <a:buAutoNum type="arabicPeriod"/>
            </a:pPr>
            <a:r>
              <a:rPr lang="en-IN" sz="2000" dirty="0">
                <a:latin typeface="Arial Black" panose="020B0A04020102020204" pitchFamily="34" charset="0"/>
              </a:rPr>
              <a:t>Main Module</a:t>
            </a:r>
          </a:p>
          <a:p>
            <a:r>
              <a:rPr lang="en-IN" sz="2000" dirty="0"/>
              <a:t>        1.1 main() – Logic Call load Data() to load existing data (question papers, students, downloads).</a:t>
            </a:r>
          </a:p>
          <a:p>
            <a:r>
              <a:rPr lang="en-IN" sz="2000" dirty="0"/>
              <a:t>         Repeat forever:</a:t>
            </a:r>
          </a:p>
          <a:p>
            <a:r>
              <a:rPr lang="en-IN" sz="2000" dirty="0"/>
              <a:t>         Call display Main Menu() to show main options.</a:t>
            </a:r>
          </a:p>
          <a:p>
            <a:r>
              <a:rPr lang="en-IN" sz="2000" dirty="0"/>
              <a:t>         Read user choice.</a:t>
            </a:r>
          </a:p>
          <a:p>
            <a:r>
              <a:rPr lang="en-IN" sz="2000" dirty="0"/>
              <a:t>Switch on choice:</a:t>
            </a:r>
          </a:p>
          <a:p>
            <a:r>
              <a:rPr lang="en-IN" sz="2000" dirty="0"/>
              <a:t>      1 → call admin Login().</a:t>
            </a:r>
          </a:p>
          <a:p>
            <a:r>
              <a:rPr lang="en-IN" sz="2000" dirty="0"/>
              <a:t>      2 → call student Login().</a:t>
            </a:r>
          </a:p>
          <a:p>
            <a:r>
              <a:rPr lang="en-IN" sz="2000" dirty="0"/>
              <a:t>      3 → call register New Student().</a:t>
            </a:r>
          </a:p>
          <a:p>
            <a:r>
              <a:rPr lang="en-IN" sz="2000" dirty="0"/>
              <a:t>      4 →Print exit message .</a:t>
            </a:r>
          </a:p>
          <a:p>
            <a:r>
              <a:rPr lang="en-IN" sz="2000" dirty="0"/>
              <a:t>Call save Data().</a:t>
            </a:r>
          </a:p>
          <a:p>
            <a:r>
              <a:rPr lang="en-IN" sz="2000" dirty="0"/>
              <a:t>Exit the program.</a:t>
            </a:r>
          </a:p>
          <a:p>
            <a:r>
              <a:rPr lang="en-IN" sz="2000" dirty="0"/>
              <a:t>Default → print “Invalid choice” and continue loop.</a:t>
            </a:r>
          </a:p>
          <a:p>
            <a:r>
              <a:rPr lang="en-IN" sz="2000" dirty="0"/>
              <a:t> 1.2 display Main Menu() – Logic</a:t>
            </a:r>
          </a:p>
        </p:txBody>
      </p:sp>
    </p:spTree>
    <p:extLst>
      <p:ext uri="{BB962C8B-B14F-4D97-AF65-F5344CB8AC3E}">
        <p14:creationId xmlns:p14="http://schemas.microsoft.com/office/powerpoint/2010/main" val="2741249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EA1524-782D-7F64-D64B-9BC33BD97003}"/>
              </a:ext>
            </a:extLst>
          </p:cNvPr>
          <p:cNvSpPr txBox="1"/>
          <p:nvPr/>
        </p:nvSpPr>
        <p:spPr>
          <a:xfrm>
            <a:off x="187186" y="35299"/>
            <a:ext cx="11817627" cy="6186309"/>
          </a:xfrm>
          <a:prstGeom prst="rect">
            <a:avLst/>
          </a:prstGeom>
          <a:noFill/>
        </p:spPr>
        <p:txBody>
          <a:bodyPr wrap="square" rtlCol="0">
            <a:spAutoFit/>
          </a:bodyPr>
          <a:lstStyle/>
          <a:p>
            <a:r>
              <a:rPr lang="en-IN" dirty="0"/>
              <a:t>      Print system title and decorative lines.</a:t>
            </a:r>
          </a:p>
          <a:p>
            <a:r>
              <a:rPr lang="en-IN" dirty="0"/>
              <a:t>      Print:</a:t>
            </a:r>
          </a:p>
          <a:p>
            <a:r>
              <a:rPr lang="en-IN" dirty="0"/>
              <a:t>      Admin Login</a:t>
            </a:r>
          </a:p>
          <a:p>
            <a:r>
              <a:rPr lang="en-IN" dirty="0"/>
              <a:t>      Student Login</a:t>
            </a:r>
          </a:p>
          <a:p>
            <a:r>
              <a:rPr lang="en-IN" dirty="0"/>
              <a:t>      Register New Student</a:t>
            </a:r>
          </a:p>
          <a:p>
            <a:r>
              <a:rPr lang="en-IN" dirty="0"/>
              <a:t>      Exit</a:t>
            </a:r>
          </a:p>
          <a:p>
            <a:r>
              <a:rPr lang="en-IN" dirty="0">
                <a:latin typeface="Arial Black" panose="020B0A04020102020204" pitchFamily="34" charset="0"/>
              </a:rPr>
              <a:t>2. Admin Module</a:t>
            </a:r>
          </a:p>
          <a:p>
            <a:r>
              <a:rPr lang="en-IN" dirty="0"/>
              <a:t>     2.1 admin Login() – Logic</a:t>
            </a:r>
          </a:p>
          <a:p>
            <a:r>
              <a:rPr lang="en-IN" dirty="0"/>
              <a:t>     Prompt admin to enter username.</a:t>
            </a:r>
          </a:p>
          <a:p>
            <a:r>
              <a:rPr lang="en-IN" dirty="0"/>
              <a:t>     Prompt admin to enter password.</a:t>
            </a:r>
          </a:p>
          <a:p>
            <a:r>
              <a:rPr lang="en-IN" dirty="0"/>
              <a:t>     Remove newline characters from both strings.</a:t>
            </a:r>
          </a:p>
          <a:p>
            <a:r>
              <a:rPr lang="en-IN" dirty="0"/>
              <a:t>     If username is "admin" and password is "admin123":</a:t>
            </a:r>
          </a:p>
          <a:p>
            <a:r>
              <a:rPr lang="en-IN" dirty="0"/>
              <a:t>     Print “Login Successful”.</a:t>
            </a:r>
          </a:p>
          <a:p>
            <a:r>
              <a:rPr lang="en-IN" dirty="0"/>
              <a:t>     Call admin Menu(username).</a:t>
            </a:r>
          </a:p>
          <a:p>
            <a:r>
              <a:rPr lang="en-IN" dirty="0"/>
              <a:t>     Else:</a:t>
            </a:r>
          </a:p>
          <a:p>
            <a:r>
              <a:rPr lang="en-IN" dirty="0"/>
              <a:t>     Print “Invalid Credentials”.</a:t>
            </a:r>
          </a:p>
          <a:p>
            <a:r>
              <a:rPr lang="en-IN" dirty="0"/>
              <a:t>     Return to main menu. </a:t>
            </a:r>
          </a:p>
          <a:p>
            <a:r>
              <a:rPr lang="en-IN" dirty="0"/>
              <a:t>     2.2 admin Menu(char *admin Username) – Logic</a:t>
            </a:r>
          </a:p>
          <a:p>
            <a:r>
              <a:rPr lang="en-IN" dirty="0"/>
              <a:t>     Repeat until admin chooses logout:</a:t>
            </a:r>
          </a:p>
          <a:p>
            <a:r>
              <a:rPr lang="en-IN" dirty="0"/>
              <a:t>     Display admin menu with options:</a:t>
            </a:r>
          </a:p>
          <a:p>
            <a:r>
              <a:rPr lang="en-IN" dirty="0"/>
              <a:t>     Upload Question Paper</a:t>
            </a:r>
          </a:p>
          <a:p>
            <a:endParaRPr lang="en-IN" dirty="0"/>
          </a:p>
        </p:txBody>
      </p:sp>
    </p:spTree>
    <p:extLst>
      <p:ext uri="{BB962C8B-B14F-4D97-AF65-F5344CB8AC3E}">
        <p14:creationId xmlns:p14="http://schemas.microsoft.com/office/powerpoint/2010/main" val="2945919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51F8E3-8BDC-773C-7089-C87608A1995A}"/>
              </a:ext>
            </a:extLst>
          </p:cNvPr>
          <p:cNvSpPr txBox="1"/>
          <p:nvPr/>
        </p:nvSpPr>
        <p:spPr>
          <a:xfrm>
            <a:off x="268357" y="298174"/>
            <a:ext cx="11686760" cy="5909310"/>
          </a:xfrm>
          <a:prstGeom prst="rect">
            <a:avLst/>
          </a:prstGeom>
          <a:noFill/>
        </p:spPr>
        <p:txBody>
          <a:bodyPr wrap="square" rtlCol="0">
            <a:spAutoFit/>
          </a:bodyPr>
          <a:lstStyle/>
          <a:p>
            <a:r>
              <a:rPr lang="en-IN" dirty="0"/>
              <a:t>       Delete Question Paper</a:t>
            </a:r>
          </a:p>
          <a:p>
            <a:r>
              <a:rPr lang="en-IN" dirty="0"/>
              <a:t>       Update Question Paper</a:t>
            </a:r>
          </a:p>
          <a:p>
            <a:r>
              <a:rPr lang="en-IN" dirty="0"/>
              <a:t>       View All Question Papers</a:t>
            </a:r>
          </a:p>
          <a:p>
            <a:r>
              <a:rPr lang="en-IN" dirty="0"/>
              <a:t>       Manage Categories/Subjects</a:t>
            </a:r>
          </a:p>
          <a:p>
            <a:r>
              <a:rPr lang="en-IN" dirty="0"/>
              <a:t>       View Download Statistics</a:t>
            </a:r>
          </a:p>
          <a:p>
            <a:r>
              <a:rPr lang="en-IN" dirty="0"/>
              <a:t>       Logout</a:t>
            </a:r>
          </a:p>
          <a:p>
            <a:r>
              <a:rPr lang="en-IN" dirty="0"/>
              <a:t>      Read admin choice.</a:t>
            </a:r>
          </a:p>
          <a:p>
            <a:r>
              <a:rPr lang="en-IN" dirty="0"/>
              <a:t>Switch on choice:</a:t>
            </a:r>
          </a:p>
          <a:p>
            <a:r>
              <a:rPr lang="en-IN" dirty="0"/>
              <a:t>       1 → upload Question Paper()</a:t>
            </a:r>
          </a:p>
          <a:p>
            <a:r>
              <a:rPr lang="en-IN" dirty="0"/>
              <a:t>       2 → delete Question Paper()</a:t>
            </a:r>
          </a:p>
          <a:p>
            <a:r>
              <a:rPr lang="en-IN" dirty="0"/>
              <a:t>       3 → update Question Paper()</a:t>
            </a:r>
          </a:p>
          <a:p>
            <a:r>
              <a:rPr lang="en-IN" dirty="0"/>
              <a:t>       4 → view All Question Papers()</a:t>
            </a:r>
          </a:p>
          <a:p>
            <a:r>
              <a:rPr lang="en-IN" dirty="0"/>
              <a:t>       5 → manage Categories()</a:t>
            </a:r>
          </a:p>
          <a:p>
            <a:r>
              <a:rPr lang="en-IN" dirty="0"/>
              <a:t>       6 → view Download Statistics()</a:t>
            </a:r>
          </a:p>
          <a:p>
            <a:r>
              <a:rPr lang="en-IN" dirty="0"/>
              <a:t>       7 → print “Logging out…” and return.</a:t>
            </a:r>
          </a:p>
          <a:p>
            <a:r>
              <a:rPr lang="en-IN" dirty="0"/>
              <a:t>       Default → print “Invalid choice”.</a:t>
            </a:r>
          </a:p>
          <a:p>
            <a:r>
              <a:rPr lang="en-IN" dirty="0">
                <a:latin typeface="Arial Black" panose="020B0A04020102020204" pitchFamily="34" charset="0"/>
              </a:rPr>
              <a:t>3. Question Paper Management Module</a:t>
            </a:r>
          </a:p>
          <a:p>
            <a:r>
              <a:rPr lang="en-IN" dirty="0"/>
              <a:t>       3.1 upload Question Paper() – Logic</a:t>
            </a:r>
          </a:p>
          <a:p>
            <a:r>
              <a:rPr lang="en-IN" dirty="0"/>
              <a:t>       Declare a new Question </a:t>
            </a:r>
          </a:p>
          <a:p>
            <a:r>
              <a:rPr lang="en-US" dirty="0"/>
              <a:t>       Prompt admin to enter:</a:t>
            </a:r>
          </a:p>
          <a:p>
            <a:r>
              <a:rPr lang="en-US" dirty="0"/>
              <a:t>        &gt; Subject </a:t>
            </a:r>
            <a:endParaRPr lang="en-IN" dirty="0"/>
          </a:p>
        </p:txBody>
      </p:sp>
    </p:spTree>
    <p:extLst>
      <p:ext uri="{BB962C8B-B14F-4D97-AF65-F5344CB8AC3E}">
        <p14:creationId xmlns:p14="http://schemas.microsoft.com/office/powerpoint/2010/main" val="1156523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2F7B7E-85A0-68FB-1189-BA9FE88AD726}"/>
              </a:ext>
            </a:extLst>
          </p:cNvPr>
          <p:cNvSpPr txBox="1"/>
          <p:nvPr/>
        </p:nvSpPr>
        <p:spPr>
          <a:xfrm>
            <a:off x="324678" y="119269"/>
            <a:ext cx="11867322" cy="6186309"/>
          </a:xfrm>
          <a:prstGeom prst="rect">
            <a:avLst/>
          </a:prstGeom>
          <a:noFill/>
        </p:spPr>
        <p:txBody>
          <a:bodyPr wrap="square" rtlCol="0">
            <a:spAutoFit/>
          </a:bodyPr>
          <a:lstStyle/>
          <a:p>
            <a:r>
              <a:rPr lang="en-IN" dirty="0"/>
              <a:t>       &gt; Year</a:t>
            </a:r>
          </a:p>
          <a:p>
            <a:r>
              <a:rPr lang="en-IN" dirty="0"/>
              <a:t>       &gt; Semester</a:t>
            </a:r>
          </a:p>
          <a:p>
            <a:r>
              <a:rPr lang="en-IN" dirty="0"/>
              <a:t>       &gt; Exam type (Mid/Final/Model)</a:t>
            </a:r>
          </a:p>
          <a:p>
            <a:r>
              <a:rPr lang="en-IN" dirty="0"/>
              <a:t>        &gt; Department</a:t>
            </a:r>
          </a:p>
          <a:p>
            <a:r>
              <a:rPr lang="en-IN" dirty="0"/>
              <a:t>       &gt; Regulation</a:t>
            </a:r>
          </a:p>
          <a:p>
            <a:r>
              <a:rPr lang="en-IN" dirty="0"/>
              <a:t>       &gt; PDF filename</a:t>
            </a:r>
          </a:p>
          <a:p>
            <a:r>
              <a:rPr lang="en-IN" dirty="0"/>
              <a:t>      Check if filename contains “.pdf”:</a:t>
            </a:r>
          </a:p>
          <a:p>
            <a:r>
              <a:rPr lang="en-IN" dirty="0"/>
              <a:t>      If not, print “Invalid file format” and return.</a:t>
            </a:r>
          </a:p>
          <a:p>
            <a:r>
              <a:rPr lang="en-IN" dirty="0"/>
              <a:t>      Call generate Paper ID(new Paper . paper ID) to generate unique ID.</a:t>
            </a:r>
          </a:p>
          <a:p>
            <a:r>
              <a:rPr lang="en-IN" dirty="0"/>
              <a:t>      Set new Paper . download Count = 0.</a:t>
            </a:r>
          </a:p>
          <a:p>
            <a:r>
              <a:rPr lang="en-IN" dirty="0"/>
              <a:t>      Store new Paper in papers[paper Count].</a:t>
            </a:r>
          </a:p>
          <a:p>
            <a:r>
              <a:rPr lang="en-IN" dirty="0"/>
              <a:t>      Increment paper Count.</a:t>
            </a:r>
          </a:p>
          <a:p>
            <a:r>
              <a:rPr lang="en-IN" dirty="0"/>
              <a:t>      Print upload success message and generated Paper ID.</a:t>
            </a:r>
          </a:p>
          <a:p>
            <a:r>
              <a:rPr lang="en-IN" dirty="0"/>
              <a:t>      Call save Data().</a:t>
            </a:r>
          </a:p>
          <a:p>
            <a:r>
              <a:rPr lang="en-IN" dirty="0"/>
              <a:t>3.2 delete Question Paper() – Logic</a:t>
            </a:r>
          </a:p>
          <a:p>
            <a:r>
              <a:rPr lang="en-IN" dirty="0"/>
              <a:t>      If paper Count == 0:</a:t>
            </a:r>
          </a:p>
          <a:p>
            <a:r>
              <a:rPr lang="en-IN" dirty="0"/>
              <a:t>      Print “No question papers available”.</a:t>
            </a:r>
          </a:p>
          <a:p>
            <a:r>
              <a:rPr lang="en-IN" dirty="0"/>
              <a:t>      Return.</a:t>
            </a:r>
          </a:p>
          <a:p>
            <a:r>
              <a:rPr lang="en-IN" dirty="0"/>
              <a:t>      Call view All Question Papers() to show list.</a:t>
            </a:r>
          </a:p>
          <a:p>
            <a:r>
              <a:rPr lang="en-IN" dirty="0"/>
              <a:t>      Prompt admin to enter paper ID to delete.</a:t>
            </a:r>
          </a:p>
          <a:p>
            <a:r>
              <a:rPr lang="en-IN" dirty="0"/>
              <a:t>      Search in papers[]:</a:t>
            </a:r>
          </a:p>
          <a:p>
            <a:r>
              <a:rPr lang="en-IN" dirty="0"/>
              <a:t>      If found, store index in found . If not found, print “Paper ID not found” and return . </a:t>
            </a:r>
          </a:p>
        </p:txBody>
      </p:sp>
    </p:spTree>
    <p:extLst>
      <p:ext uri="{BB962C8B-B14F-4D97-AF65-F5344CB8AC3E}">
        <p14:creationId xmlns:p14="http://schemas.microsoft.com/office/powerpoint/2010/main" val="3200845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8D7E74-A4A2-D76F-F845-9ACA48FBE333}"/>
              </a:ext>
            </a:extLst>
          </p:cNvPr>
          <p:cNvSpPr txBox="1"/>
          <p:nvPr/>
        </p:nvSpPr>
        <p:spPr>
          <a:xfrm>
            <a:off x="167308" y="238539"/>
            <a:ext cx="11678479" cy="6186309"/>
          </a:xfrm>
          <a:prstGeom prst="rect">
            <a:avLst/>
          </a:prstGeom>
          <a:noFill/>
        </p:spPr>
        <p:txBody>
          <a:bodyPr wrap="square" rtlCol="0">
            <a:spAutoFit/>
          </a:bodyPr>
          <a:lstStyle/>
          <a:p>
            <a:r>
              <a:rPr lang="en-US" dirty="0"/>
              <a:t>       Ask admin for confirmation (y/n).</a:t>
            </a:r>
          </a:p>
          <a:p>
            <a:r>
              <a:rPr lang="en-US" dirty="0"/>
              <a:t>       If confirmed:</a:t>
            </a:r>
          </a:p>
          <a:p>
            <a:r>
              <a:rPr lang="en-US" dirty="0"/>
              <a:t>       Shift elements from found + 1 to end one position left.</a:t>
            </a:r>
          </a:p>
          <a:p>
            <a:r>
              <a:rPr lang="en-US" dirty="0"/>
              <a:t>       Decrement paper Count.</a:t>
            </a:r>
          </a:p>
          <a:p>
            <a:r>
              <a:rPr lang="en-US" dirty="0"/>
              <a:t>       Print “Deletion successful”.</a:t>
            </a:r>
          </a:p>
          <a:p>
            <a:r>
              <a:rPr lang="en-US" dirty="0"/>
              <a:t>       all save Data().</a:t>
            </a:r>
          </a:p>
          <a:p>
            <a:r>
              <a:rPr lang="en-US" dirty="0"/>
              <a:t>       Else:</a:t>
            </a:r>
          </a:p>
          <a:p>
            <a:r>
              <a:rPr lang="en-US" dirty="0"/>
              <a:t>       Print “Deletion cancelled”</a:t>
            </a:r>
          </a:p>
          <a:p>
            <a:r>
              <a:rPr lang="en-US" dirty="0"/>
              <a:t>3.3 update Question Paper() – Logic</a:t>
            </a:r>
          </a:p>
          <a:p>
            <a:r>
              <a:rPr lang="en-US" dirty="0"/>
              <a:t>      If paper Count == 0:</a:t>
            </a:r>
          </a:p>
          <a:p>
            <a:r>
              <a:rPr lang="en-US" dirty="0"/>
              <a:t>      Print “No question papers available”.</a:t>
            </a:r>
          </a:p>
          <a:p>
            <a:r>
              <a:rPr lang="en-US" dirty="0"/>
              <a:t>      Return.</a:t>
            </a:r>
          </a:p>
          <a:p>
            <a:r>
              <a:rPr lang="en-US" dirty="0"/>
              <a:t>      Call view All Question Papers().</a:t>
            </a:r>
          </a:p>
          <a:p>
            <a:r>
              <a:rPr lang="en-US" dirty="0"/>
              <a:t>     Prompt admin to enter paper ID to update.</a:t>
            </a:r>
          </a:p>
          <a:p>
            <a:r>
              <a:rPr lang="en-US" dirty="0"/>
              <a:t>     Search in papers[]:</a:t>
            </a:r>
          </a:p>
          <a:p>
            <a:r>
              <a:rPr lang="en-US" dirty="0"/>
              <a:t>     If not found, print “Paper ID not found” and return.</a:t>
            </a:r>
          </a:p>
          <a:p>
            <a:r>
              <a:rPr lang="en-US" dirty="0"/>
              <a:t>     Display current details of that paper.</a:t>
            </a:r>
          </a:p>
          <a:p>
            <a:r>
              <a:rPr lang="en-US" dirty="0"/>
              <a:t>     Prompt admin to enter new values:</a:t>
            </a:r>
          </a:p>
          <a:p>
            <a:r>
              <a:rPr lang="en-US" dirty="0"/>
              <a:t>     New subject name</a:t>
            </a:r>
          </a:p>
          <a:p>
            <a:r>
              <a:rPr lang="en-US" dirty="0"/>
              <a:t>     New year</a:t>
            </a:r>
          </a:p>
          <a:p>
            <a:r>
              <a:rPr lang="en-US" dirty="0"/>
              <a:t>     New semester</a:t>
            </a:r>
          </a:p>
          <a:p>
            <a:r>
              <a:rPr lang="en-US" dirty="0"/>
              <a:t>     Update these fields in the selected papers[found].   </a:t>
            </a:r>
            <a:endParaRPr lang="en-IN" dirty="0"/>
          </a:p>
        </p:txBody>
      </p:sp>
    </p:spTree>
    <p:extLst>
      <p:ext uri="{BB962C8B-B14F-4D97-AF65-F5344CB8AC3E}">
        <p14:creationId xmlns:p14="http://schemas.microsoft.com/office/powerpoint/2010/main" val="29919701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DE3D58-BBF3-2DF4-4F70-0219EAC713BD}"/>
              </a:ext>
            </a:extLst>
          </p:cNvPr>
          <p:cNvSpPr txBox="1"/>
          <p:nvPr/>
        </p:nvSpPr>
        <p:spPr>
          <a:xfrm>
            <a:off x="278295" y="0"/>
            <a:ext cx="12092609" cy="6186309"/>
          </a:xfrm>
          <a:prstGeom prst="rect">
            <a:avLst/>
          </a:prstGeom>
          <a:noFill/>
        </p:spPr>
        <p:txBody>
          <a:bodyPr wrap="square" rtlCol="0">
            <a:spAutoFit/>
          </a:bodyPr>
          <a:lstStyle/>
          <a:p>
            <a:r>
              <a:rPr lang="en-US" dirty="0"/>
              <a:t>      Print “Update successful</a:t>
            </a:r>
          </a:p>
          <a:p>
            <a:r>
              <a:rPr lang="en-US" dirty="0"/>
              <a:t>     Call save Data().</a:t>
            </a:r>
          </a:p>
          <a:p>
            <a:r>
              <a:rPr lang="en-US" dirty="0"/>
              <a:t>3.4 view All Question Papers() – Logic</a:t>
            </a:r>
          </a:p>
          <a:p>
            <a:r>
              <a:rPr lang="en-US" dirty="0"/>
              <a:t>     Print heading “All Question Papers”.</a:t>
            </a:r>
          </a:p>
          <a:p>
            <a:r>
              <a:rPr lang="en-US" dirty="0"/>
              <a:t>     If paper Count == 0:</a:t>
            </a:r>
          </a:p>
          <a:p>
            <a:r>
              <a:rPr lang="en-US" dirty="0"/>
              <a:t>     Print “No question papers available”.</a:t>
            </a:r>
          </a:p>
          <a:p>
            <a:r>
              <a:rPr lang="en-US" dirty="0"/>
              <a:t>     Return.</a:t>
            </a:r>
          </a:p>
          <a:p>
            <a:r>
              <a:rPr lang="en-US" dirty="0"/>
              <a:t>     Print table header (Paper ID, Subject, Year, Semester, Department).</a:t>
            </a:r>
          </a:p>
          <a:p>
            <a:r>
              <a:rPr lang="en-US" dirty="0"/>
              <a:t>     For </a:t>
            </a:r>
            <a:r>
              <a:rPr lang="en-US" dirty="0" err="1"/>
              <a:t>i</a:t>
            </a:r>
            <a:r>
              <a:rPr lang="en-US" dirty="0"/>
              <a:t> = 0 to paper Count - 1:</a:t>
            </a:r>
          </a:p>
          <a:p>
            <a:r>
              <a:rPr lang="en-US" dirty="0"/>
              <a:t>    Print details of papers[</a:t>
            </a:r>
            <a:r>
              <a:rPr lang="en-US" dirty="0" err="1"/>
              <a:t>i</a:t>
            </a:r>
            <a:r>
              <a:rPr lang="en-US" dirty="0"/>
              <a:t>].</a:t>
            </a:r>
          </a:p>
          <a:p>
            <a:r>
              <a:rPr lang="en-US" dirty="0"/>
              <a:t>3.5 manage Categories() – Logic</a:t>
            </a:r>
          </a:p>
          <a:p>
            <a:r>
              <a:rPr lang="en-US" dirty="0"/>
              <a:t>     Display menu:</a:t>
            </a:r>
          </a:p>
          <a:p>
            <a:r>
              <a:rPr lang="en-US" dirty="0"/>
              <a:t>     Add Subject</a:t>
            </a:r>
          </a:p>
          <a:p>
            <a:r>
              <a:rPr lang="en-US" dirty="0"/>
              <a:t>     Delete Subject</a:t>
            </a:r>
          </a:p>
          <a:p>
            <a:r>
              <a:rPr lang="en-US" dirty="0"/>
              <a:t>     Add Department</a:t>
            </a:r>
          </a:p>
          <a:p>
            <a:r>
              <a:rPr lang="en-US" dirty="0"/>
              <a:t>     Delete Department</a:t>
            </a:r>
          </a:p>
          <a:p>
            <a:r>
              <a:rPr lang="en-US" dirty="0"/>
              <a:t>     Back</a:t>
            </a:r>
          </a:p>
          <a:p>
            <a:r>
              <a:rPr lang="en-US" dirty="0"/>
              <a:t>     Read choice.</a:t>
            </a:r>
          </a:p>
          <a:p>
            <a:r>
              <a:rPr lang="en-US" dirty="0"/>
              <a:t>Switch on choice:</a:t>
            </a:r>
          </a:p>
          <a:p>
            <a:r>
              <a:rPr lang="en-US" dirty="0"/>
              <a:t>   1 → print “Subject management feature (to be implemented)”.</a:t>
            </a:r>
          </a:p>
          <a:p>
            <a:r>
              <a:rPr lang="en-US" dirty="0"/>
              <a:t>   2 → print “Subject deletion feature (to be implemented)”.</a:t>
            </a:r>
          </a:p>
          <a:p>
            <a:r>
              <a:rPr lang="en-US" dirty="0"/>
              <a:t>   3 → print “Department management feature (to be implemented)”.   </a:t>
            </a:r>
            <a:endParaRPr lang="en-IN" dirty="0"/>
          </a:p>
        </p:txBody>
      </p:sp>
    </p:spTree>
    <p:extLst>
      <p:ext uri="{BB962C8B-B14F-4D97-AF65-F5344CB8AC3E}">
        <p14:creationId xmlns:p14="http://schemas.microsoft.com/office/powerpoint/2010/main" val="1155988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6DA5A8-E727-B9B0-515C-03552246EBB7}"/>
              </a:ext>
            </a:extLst>
          </p:cNvPr>
          <p:cNvSpPr txBox="1"/>
          <p:nvPr/>
        </p:nvSpPr>
        <p:spPr>
          <a:xfrm>
            <a:off x="149087" y="166880"/>
            <a:ext cx="12042913" cy="6186309"/>
          </a:xfrm>
          <a:prstGeom prst="rect">
            <a:avLst/>
          </a:prstGeom>
          <a:noFill/>
        </p:spPr>
        <p:txBody>
          <a:bodyPr wrap="square" rtlCol="0">
            <a:spAutoFit/>
          </a:bodyPr>
          <a:lstStyle/>
          <a:p>
            <a:r>
              <a:rPr lang="en-IN" dirty="0"/>
              <a:t>        3 → print “Department management feature (to be implemented)”.</a:t>
            </a:r>
          </a:p>
          <a:p>
            <a:r>
              <a:rPr lang="en-IN" dirty="0"/>
              <a:t>        4 → print “Department deletion feature (to be implemented)”.</a:t>
            </a:r>
          </a:p>
          <a:p>
            <a:r>
              <a:rPr lang="en-IN" dirty="0"/>
              <a:t>        5 → return . Default → print “Invalid choice”.</a:t>
            </a:r>
          </a:p>
          <a:p>
            <a:r>
              <a:rPr lang="en-IN" dirty="0"/>
              <a:t>3.6 view Download Statistics() – Logic</a:t>
            </a:r>
          </a:p>
          <a:p>
            <a:r>
              <a:rPr lang="en-IN" dirty="0"/>
              <a:t>        Print heading “Download Statistics”.</a:t>
            </a:r>
          </a:p>
          <a:p>
            <a:r>
              <a:rPr lang="en-IN" dirty="0"/>
              <a:t>        If paper Count == 0:</a:t>
            </a:r>
          </a:p>
          <a:p>
            <a:r>
              <a:rPr lang="en-IN" dirty="0"/>
              <a:t>        Print “No question papers available”.</a:t>
            </a:r>
          </a:p>
          <a:p>
            <a:r>
              <a:rPr lang="en-IN" dirty="0"/>
              <a:t>        Return.</a:t>
            </a:r>
          </a:p>
          <a:p>
            <a:r>
              <a:rPr lang="en-IN" dirty="0"/>
              <a:t>        Print table header (Paper ID, Subject, Downloads).</a:t>
            </a:r>
          </a:p>
          <a:p>
            <a:r>
              <a:rPr lang="en-IN" dirty="0"/>
              <a:t>        For each paper:</a:t>
            </a:r>
          </a:p>
          <a:p>
            <a:r>
              <a:rPr lang="en-IN" dirty="0"/>
              <a:t>        Print Paper ID, Subject, and download Count.</a:t>
            </a:r>
          </a:p>
          <a:p>
            <a:r>
              <a:rPr lang="en-IN" dirty="0"/>
              <a:t>        Initialize max Downloads = 0, max Index = 0.</a:t>
            </a:r>
          </a:p>
          <a:p>
            <a:r>
              <a:rPr lang="en-IN" dirty="0"/>
              <a:t>        For each paper:</a:t>
            </a:r>
          </a:p>
          <a:p>
            <a:r>
              <a:rPr lang="en-IN" dirty="0"/>
              <a:t>        If papers[</a:t>
            </a:r>
            <a:r>
              <a:rPr lang="en-IN" dirty="0" err="1"/>
              <a:t>i</a:t>
            </a:r>
            <a:r>
              <a:rPr lang="en-IN" dirty="0"/>
              <a:t>].download Count &gt; max Downloads:</a:t>
            </a:r>
          </a:p>
          <a:p>
            <a:r>
              <a:rPr lang="en-IN" dirty="0"/>
              <a:t>        Update max Downloads and max Index.</a:t>
            </a:r>
          </a:p>
          <a:p>
            <a:r>
              <a:rPr lang="en-IN" dirty="0"/>
              <a:t>        If max Downloads &gt; 0:</a:t>
            </a:r>
          </a:p>
          <a:p>
            <a:r>
              <a:rPr lang="en-IN" dirty="0"/>
              <a:t>        Print the most downloaded paper subject and count.</a:t>
            </a:r>
          </a:p>
          <a:p>
            <a:r>
              <a:rPr lang="en-IN" dirty="0">
                <a:latin typeface="Arial Black" panose="020B0A04020102020204" pitchFamily="34" charset="0"/>
              </a:rPr>
              <a:t>4. Student Module</a:t>
            </a:r>
          </a:p>
          <a:p>
            <a:r>
              <a:rPr lang="en-IN" dirty="0"/>
              <a:t>4.1 student Login() – Logic</a:t>
            </a:r>
          </a:p>
          <a:p>
            <a:r>
              <a:rPr lang="en-IN" dirty="0"/>
              <a:t>      Prompt user to enter roll number.</a:t>
            </a:r>
          </a:p>
          <a:p>
            <a:r>
              <a:rPr lang="en-IN" dirty="0"/>
              <a:t>      Prompt user to enter password.</a:t>
            </a:r>
          </a:p>
          <a:p>
            <a:r>
              <a:rPr lang="en-IN" dirty="0"/>
              <a:t>      Initialize found = -1.</a:t>
            </a:r>
          </a:p>
        </p:txBody>
      </p:sp>
    </p:spTree>
    <p:extLst>
      <p:ext uri="{BB962C8B-B14F-4D97-AF65-F5344CB8AC3E}">
        <p14:creationId xmlns:p14="http://schemas.microsoft.com/office/powerpoint/2010/main" val="3705387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CFD052-AA2E-28C2-5D9D-A54827F8B539}"/>
              </a:ext>
            </a:extLst>
          </p:cNvPr>
          <p:cNvSpPr txBox="1"/>
          <p:nvPr/>
        </p:nvSpPr>
        <p:spPr>
          <a:xfrm>
            <a:off x="99391" y="159026"/>
            <a:ext cx="11757992" cy="6186309"/>
          </a:xfrm>
          <a:prstGeom prst="rect">
            <a:avLst/>
          </a:prstGeom>
          <a:noFill/>
        </p:spPr>
        <p:txBody>
          <a:bodyPr wrap="square" rtlCol="0">
            <a:spAutoFit/>
          </a:bodyPr>
          <a:lstStyle/>
          <a:p>
            <a:r>
              <a:rPr lang="en-IN" dirty="0"/>
              <a:t>        Loop from </a:t>
            </a:r>
            <a:r>
              <a:rPr lang="en-IN" dirty="0" err="1"/>
              <a:t>i</a:t>
            </a:r>
            <a:r>
              <a:rPr lang="en-IN" dirty="0"/>
              <a:t> = 0 to student Count - 1:</a:t>
            </a:r>
          </a:p>
          <a:p>
            <a:r>
              <a:rPr lang="en-IN" dirty="0"/>
              <a:t>        If students[</a:t>
            </a:r>
            <a:r>
              <a:rPr lang="en-IN" dirty="0" err="1"/>
              <a:t>i</a:t>
            </a:r>
            <a:r>
              <a:rPr lang="en-IN" dirty="0"/>
              <a:t>].roll Number matches and students[</a:t>
            </a:r>
            <a:r>
              <a:rPr lang="en-IN" dirty="0" err="1"/>
              <a:t>i</a:t>
            </a:r>
            <a:r>
              <a:rPr lang="en-IN" dirty="0"/>
              <a:t>].password matches:</a:t>
            </a:r>
          </a:p>
          <a:p>
            <a:r>
              <a:rPr lang="en-IN" dirty="0"/>
              <a:t>        Set found = </a:t>
            </a:r>
            <a:r>
              <a:rPr lang="en-IN" dirty="0" err="1"/>
              <a:t>i</a:t>
            </a:r>
            <a:r>
              <a:rPr lang="en-IN" dirty="0"/>
              <a:t> and break.</a:t>
            </a:r>
          </a:p>
          <a:p>
            <a:r>
              <a:rPr lang="en-IN" dirty="0"/>
              <a:t>        If found != -1:</a:t>
            </a:r>
          </a:p>
          <a:p>
            <a:r>
              <a:rPr lang="en-IN" dirty="0"/>
              <a:t>        Print “Login successful” and greet with student name.</a:t>
            </a:r>
          </a:p>
          <a:p>
            <a:r>
              <a:rPr lang="en-IN" dirty="0"/>
              <a:t>        Call student Menu(roll Number).</a:t>
            </a:r>
          </a:p>
          <a:p>
            <a:r>
              <a:rPr lang="en-IN" dirty="0"/>
              <a:t>        Else:</a:t>
            </a:r>
          </a:p>
          <a:p>
            <a:r>
              <a:rPr lang="en-IN" dirty="0"/>
              <a:t>        Print “Invalid credentials”.</a:t>
            </a:r>
          </a:p>
          <a:p>
            <a:r>
              <a:rPr lang="en-IN" dirty="0"/>
              <a:t>4.2 register New Student() – Typical Logic</a:t>
            </a:r>
          </a:p>
          <a:p>
            <a:r>
              <a:rPr lang="en-IN" dirty="0"/>
              <a:t>       Prompt for student details : Roll number, name, department, semester, email, password.</a:t>
            </a:r>
          </a:p>
          <a:p>
            <a:r>
              <a:rPr lang="en-IN" dirty="0"/>
              <a:t>       Check that roll number is not already present.</a:t>
            </a:r>
          </a:p>
          <a:p>
            <a:r>
              <a:rPr lang="en-IN" dirty="0"/>
              <a:t>       Create a Student structure with entered data.</a:t>
            </a:r>
          </a:p>
          <a:p>
            <a:r>
              <a:rPr lang="en-IN" dirty="0"/>
              <a:t>       Store in students[student Count].</a:t>
            </a:r>
          </a:p>
          <a:p>
            <a:r>
              <a:rPr lang="en-IN" dirty="0"/>
              <a:t>       Increment student Count.</a:t>
            </a:r>
          </a:p>
          <a:p>
            <a:r>
              <a:rPr lang="en-IN" dirty="0"/>
              <a:t>       Call save Data().</a:t>
            </a:r>
          </a:p>
          <a:p>
            <a:r>
              <a:rPr lang="en-IN" dirty="0"/>
              <a:t>4.3 student Menu(char *roll Number) – Logic</a:t>
            </a:r>
          </a:p>
          <a:p>
            <a:r>
              <a:rPr lang="en-IN" dirty="0"/>
              <a:t>      Repeat until student logs out:</a:t>
            </a:r>
          </a:p>
          <a:p>
            <a:r>
              <a:rPr lang="en-IN" dirty="0"/>
              <a:t>      Display Student Menu:</a:t>
            </a:r>
          </a:p>
          <a:p>
            <a:r>
              <a:rPr lang="en-IN" dirty="0"/>
              <a:t>      Search Question Papers</a:t>
            </a:r>
          </a:p>
          <a:p>
            <a:r>
              <a:rPr lang="en-IN" dirty="0"/>
              <a:t>      Browse by Subject</a:t>
            </a:r>
          </a:p>
          <a:p>
            <a:r>
              <a:rPr lang="en-US" dirty="0"/>
              <a:t>      Browse by Year</a:t>
            </a:r>
          </a:p>
          <a:p>
            <a:r>
              <a:rPr lang="en-US" dirty="0"/>
              <a:t>      Browse by Department</a:t>
            </a:r>
            <a:endParaRPr lang="en-IN" dirty="0"/>
          </a:p>
        </p:txBody>
      </p:sp>
    </p:spTree>
    <p:extLst>
      <p:ext uri="{BB962C8B-B14F-4D97-AF65-F5344CB8AC3E}">
        <p14:creationId xmlns:p14="http://schemas.microsoft.com/office/powerpoint/2010/main" val="1634358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972F5A-1E58-CF34-1902-432E86AC6A96}"/>
              </a:ext>
            </a:extLst>
          </p:cNvPr>
          <p:cNvSpPr txBox="1"/>
          <p:nvPr/>
        </p:nvSpPr>
        <p:spPr>
          <a:xfrm>
            <a:off x="109330" y="178904"/>
            <a:ext cx="11956774" cy="6186309"/>
          </a:xfrm>
          <a:prstGeom prst="rect">
            <a:avLst/>
          </a:prstGeom>
          <a:noFill/>
        </p:spPr>
        <p:txBody>
          <a:bodyPr wrap="square" rtlCol="0">
            <a:spAutoFit/>
          </a:bodyPr>
          <a:lstStyle/>
          <a:p>
            <a:r>
              <a:rPr lang="en-IN" dirty="0"/>
              <a:t>         View My Downloads</a:t>
            </a:r>
          </a:p>
          <a:p>
            <a:r>
              <a:rPr lang="en-IN" dirty="0"/>
              <a:t>         Download Question Paper</a:t>
            </a:r>
          </a:p>
          <a:p>
            <a:r>
              <a:rPr lang="en-IN" dirty="0"/>
              <a:t>         Logout</a:t>
            </a:r>
          </a:p>
          <a:p>
            <a:r>
              <a:rPr lang="en-IN" dirty="0"/>
              <a:t>         Read student choice.</a:t>
            </a:r>
          </a:p>
          <a:p>
            <a:r>
              <a:rPr lang="en-IN" dirty="0"/>
              <a:t>Switch on choice:</a:t>
            </a:r>
          </a:p>
          <a:p>
            <a:r>
              <a:rPr lang="en-IN" dirty="0"/>
              <a:t>         1 → search Question Papers (roll Number)</a:t>
            </a:r>
          </a:p>
          <a:p>
            <a:r>
              <a:rPr lang="en-IN" dirty="0"/>
              <a:t>         2 → browse By Subject(roll Number)</a:t>
            </a:r>
          </a:p>
          <a:p>
            <a:r>
              <a:rPr lang="en-IN" dirty="0"/>
              <a:t>         3 → browse By Year(roll Number)</a:t>
            </a:r>
          </a:p>
          <a:p>
            <a:r>
              <a:rPr lang="en-IN" dirty="0"/>
              <a:t>         4 → browse By Department(roll Number)</a:t>
            </a:r>
          </a:p>
          <a:p>
            <a:r>
              <a:rPr lang="en-IN" dirty="0"/>
              <a:t>         5 → view My Downloads(roll Number)</a:t>
            </a:r>
          </a:p>
          <a:p>
            <a:r>
              <a:rPr lang="en-IN" dirty="0"/>
              <a:t>         6 → download Question Paper(roll Number)</a:t>
            </a:r>
          </a:p>
          <a:p>
            <a:r>
              <a:rPr lang="en-IN" dirty="0"/>
              <a:t>         7 → print “Logging out…” and return.</a:t>
            </a:r>
          </a:p>
          <a:p>
            <a:r>
              <a:rPr lang="en-IN" dirty="0"/>
              <a:t>         Default → print “Invalid choice”.</a:t>
            </a:r>
          </a:p>
          <a:p>
            <a:r>
              <a:rPr lang="en-IN" dirty="0">
                <a:latin typeface="Arial Black" panose="020B0A04020102020204" pitchFamily="34" charset="0"/>
              </a:rPr>
              <a:t>5. Search and Browse Module</a:t>
            </a:r>
          </a:p>
          <a:p>
            <a:r>
              <a:rPr lang="en-IN" dirty="0"/>
              <a:t>5.1 search Question Papers(char *roll Number) – Logic</a:t>
            </a:r>
          </a:p>
          <a:p>
            <a:r>
              <a:rPr lang="en-IN" dirty="0"/>
              <a:t>         Prompt for search criteria:</a:t>
            </a:r>
          </a:p>
          <a:p>
            <a:r>
              <a:rPr lang="en-IN" dirty="0"/>
              <a:t>         Keyword (can be part of subject, optional)</a:t>
            </a:r>
          </a:p>
          <a:p>
            <a:r>
              <a:rPr lang="en-IN" dirty="0"/>
              <a:t>         Subject (exact, optional)</a:t>
            </a:r>
          </a:p>
          <a:p>
            <a:r>
              <a:rPr lang="en-IN" dirty="0"/>
              <a:t>         Year (0 to skip)</a:t>
            </a:r>
          </a:p>
          <a:p>
            <a:r>
              <a:rPr lang="en-IN" dirty="0"/>
              <a:t>         Semester (optional)</a:t>
            </a:r>
          </a:p>
          <a:p>
            <a:r>
              <a:rPr lang="en-IN" dirty="0"/>
              <a:t>         Department (optional)</a:t>
            </a:r>
          </a:p>
          <a:p>
            <a:r>
              <a:rPr lang="en-IN" dirty="0"/>
              <a:t>         Initialize found = 0.</a:t>
            </a:r>
          </a:p>
        </p:txBody>
      </p:sp>
    </p:spTree>
    <p:extLst>
      <p:ext uri="{BB962C8B-B14F-4D97-AF65-F5344CB8AC3E}">
        <p14:creationId xmlns:p14="http://schemas.microsoft.com/office/powerpoint/2010/main" val="3715052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E7DFFD-732E-61A4-728F-AB5A5B35B8CE}"/>
              </a:ext>
            </a:extLst>
          </p:cNvPr>
          <p:cNvSpPr txBox="1"/>
          <p:nvPr/>
        </p:nvSpPr>
        <p:spPr>
          <a:xfrm>
            <a:off x="69574" y="188843"/>
            <a:ext cx="12026348" cy="6186309"/>
          </a:xfrm>
          <a:prstGeom prst="rect">
            <a:avLst/>
          </a:prstGeom>
          <a:noFill/>
        </p:spPr>
        <p:txBody>
          <a:bodyPr wrap="square" rtlCol="0">
            <a:spAutoFit/>
          </a:bodyPr>
          <a:lstStyle/>
          <a:p>
            <a:r>
              <a:rPr lang="en-US" dirty="0"/>
              <a:t>For each paper:</a:t>
            </a:r>
          </a:p>
          <a:p>
            <a:r>
              <a:rPr lang="en-US" dirty="0"/>
              <a:t>Assume match = 1.</a:t>
            </a:r>
          </a:p>
          <a:p>
            <a:r>
              <a:rPr lang="en-US" dirty="0"/>
              <a:t>If keyword is not empty and subject does not contain keyword → match = 0.</a:t>
            </a:r>
          </a:p>
          <a:p>
            <a:r>
              <a:rPr lang="en-US" dirty="0"/>
              <a:t>If subject is not empty and unequal → match = 0.</a:t>
            </a:r>
          </a:p>
          <a:p>
            <a:r>
              <a:rPr lang="en-US" dirty="0"/>
              <a:t>If year &gt; 0 and not equal → match = 0.</a:t>
            </a:r>
          </a:p>
          <a:p>
            <a:r>
              <a:rPr lang="en-US" dirty="0"/>
              <a:t>If semester is not empty and unequal → match = 0.</a:t>
            </a:r>
          </a:p>
          <a:p>
            <a:r>
              <a:rPr lang="en-US" dirty="0"/>
              <a:t>If department is not empty and unequal → match = 0.</a:t>
            </a:r>
          </a:p>
          <a:p>
            <a:r>
              <a:rPr lang="en-US" dirty="0"/>
              <a:t>If match == 1:</a:t>
            </a:r>
          </a:p>
          <a:p>
            <a:r>
              <a:rPr lang="en-US" dirty="0"/>
              <a:t>Print details of that paper.</a:t>
            </a:r>
          </a:p>
          <a:p>
            <a:r>
              <a:rPr lang="en-US" dirty="0"/>
              <a:t>     Increment found.</a:t>
            </a:r>
          </a:p>
          <a:p>
            <a:r>
              <a:rPr lang="en-US" dirty="0"/>
              <a:t>      After loop:</a:t>
            </a:r>
          </a:p>
          <a:p>
            <a:r>
              <a:rPr lang="en-US" dirty="0"/>
              <a:t>If found == 0: print “No matching results found”.</a:t>
            </a:r>
          </a:p>
          <a:p>
            <a:r>
              <a:rPr lang="en-US" dirty="0"/>
              <a:t>Else: print total number of results.</a:t>
            </a:r>
          </a:p>
          <a:p>
            <a:r>
              <a:rPr lang="en-US" dirty="0"/>
              <a:t>5.2 browse By Subject(char *roll Number) – Logic</a:t>
            </a:r>
          </a:p>
          <a:p>
            <a:r>
              <a:rPr lang="en-US" dirty="0"/>
              <a:t>      If paper Count == 0:</a:t>
            </a:r>
          </a:p>
          <a:p>
            <a:r>
              <a:rPr lang="en-US" dirty="0"/>
              <a:t>      Print “No question papers available”.</a:t>
            </a:r>
          </a:p>
          <a:p>
            <a:r>
              <a:rPr lang="en-US" dirty="0"/>
              <a:t>      Return.</a:t>
            </a:r>
          </a:p>
          <a:p>
            <a:r>
              <a:rPr lang="en-US" dirty="0"/>
              <a:t>     Build a list of unique subjects:</a:t>
            </a:r>
          </a:p>
          <a:p>
            <a:r>
              <a:rPr lang="en-US" dirty="0"/>
              <a:t>     For each paper, check if its subject already exists in subjects[].</a:t>
            </a:r>
          </a:p>
          <a:p>
            <a:r>
              <a:rPr lang="en-US" dirty="0"/>
              <a:t>     If not, add it and increment subject Count. Display all subjects with numbers (1 to </a:t>
            </a:r>
            <a:r>
              <a:rPr lang="en-US" dirty="0" err="1"/>
              <a:t>subjectCount</a:t>
            </a:r>
            <a:r>
              <a:rPr lang="en-US" dirty="0"/>
              <a:t>).</a:t>
            </a:r>
          </a:p>
          <a:p>
            <a:r>
              <a:rPr lang="en-US" dirty="0"/>
              <a:t>     Prompt user to select subject number.</a:t>
            </a:r>
          </a:p>
          <a:p>
            <a:r>
              <a:rPr lang="en-US" dirty="0"/>
              <a:t>     If invalid number : Print “Invalid choice” and return.</a:t>
            </a:r>
            <a:endParaRPr lang="en-IN" dirty="0"/>
          </a:p>
        </p:txBody>
      </p:sp>
    </p:spTree>
    <p:extLst>
      <p:ext uri="{BB962C8B-B14F-4D97-AF65-F5344CB8AC3E}">
        <p14:creationId xmlns:p14="http://schemas.microsoft.com/office/powerpoint/2010/main" val="1894330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E337A8-36E8-B80A-68CE-C571625421A6}"/>
              </a:ext>
            </a:extLst>
          </p:cNvPr>
          <p:cNvSpPr txBox="1"/>
          <p:nvPr/>
        </p:nvSpPr>
        <p:spPr>
          <a:xfrm>
            <a:off x="347869" y="228600"/>
            <a:ext cx="10575234" cy="5632311"/>
          </a:xfrm>
          <a:prstGeom prst="rect">
            <a:avLst/>
          </a:prstGeom>
          <a:noFill/>
        </p:spPr>
        <p:txBody>
          <a:bodyPr wrap="square" rtlCol="0">
            <a:spAutoFit/>
          </a:bodyPr>
          <a:lstStyle/>
          <a:p>
            <a:r>
              <a:rPr lang="en-US" dirty="0"/>
              <a:t>       Else, for each paper:</a:t>
            </a:r>
          </a:p>
          <a:p>
            <a:r>
              <a:rPr lang="en-US" dirty="0"/>
              <a:t>       If paper’s subject matches selected subject:</a:t>
            </a:r>
          </a:p>
          <a:p>
            <a:r>
              <a:rPr lang="en-US" dirty="0"/>
              <a:t>       Print Paper ID, Year, Semester, etc.</a:t>
            </a:r>
          </a:p>
          <a:p>
            <a:r>
              <a:rPr lang="en-US" dirty="0"/>
              <a:t>5.3 browse By Year(char *roll Number) – Logic</a:t>
            </a:r>
          </a:p>
          <a:p>
            <a:r>
              <a:rPr lang="en-US" dirty="0"/>
              <a:t>       If paper Count == 0:</a:t>
            </a:r>
          </a:p>
          <a:p>
            <a:r>
              <a:rPr lang="en-US" dirty="0"/>
              <a:t>       Print “No question papers available”.</a:t>
            </a:r>
          </a:p>
          <a:p>
            <a:r>
              <a:rPr lang="en-US" dirty="0"/>
              <a:t>       Return.</a:t>
            </a:r>
          </a:p>
          <a:p>
            <a:r>
              <a:rPr lang="en-US" dirty="0"/>
              <a:t>       Build a list of unique years:</a:t>
            </a:r>
          </a:p>
          <a:p>
            <a:r>
              <a:rPr lang="en-US" dirty="0"/>
              <a:t>       For each paper, if its year is not already in years[], add it.</a:t>
            </a:r>
          </a:p>
          <a:p>
            <a:r>
              <a:rPr lang="en-US" dirty="0"/>
              <a:t>       Display all years with numbers.</a:t>
            </a:r>
          </a:p>
          <a:p>
            <a:r>
              <a:rPr lang="en-US" dirty="0"/>
              <a:t>       Prompt user to select year number.</a:t>
            </a:r>
          </a:p>
          <a:p>
            <a:r>
              <a:rPr lang="en-US" dirty="0"/>
              <a:t>       If invalid: Print “Invalid choice” and return.</a:t>
            </a:r>
          </a:p>
          <a:p>
            <a:r>
              <a:rPr lang="en-US" dirty="0"/>
              <a:t>       Else, for each paper:</a:t>
            </a:r>
          </a:p>
          <a:p>
            <a:r>
              <a:rPr lang="en-US" dirty="0"/>
              <a:t>       If paper’s year equals selected year:</a:t>
            </a:r>
          </a:p>
          <a:p>
            <a:r>
              <a:rPr lang="en-US" dirty="0"/>
              <a:t>       Print Paper ID, Subject, Semester, etc.</a:t>
            </a:r>
          </a:p>
          <a:p>
            <a:r>
              <a:rPr lang="en-US" dirty="0"/>
              <a:t>5.4 browse By Department(char *roll Number) – Logic</a:t>
            </a:r>
          </a:p>
          <a:p>
            <a:r>
              <a:rPr lang="en-US" dirty="0"/>
              <a:t>      If paper Count == 0:</a:t>
            </a:r>
          </a:p>
          <a:p>
            <a:r>
              <a:rPr lang="en-US" dirty="0"/>
              <a:t>      Print “No question papers available”.</a:t>
            </a:r>
          </a:p>
          <a:p>
            <a:r>
              <a:rPr lang="en-US" dirty="0"/>
              <a:t>      Return . Build a list of unique departments:</a:t>
            </a:r>
          </a:p>
          <a:p>
            <a:r>
              <a:rPr lang="en-US" dirty="0"/>
              <a:t>      For each paper, if department not already in departments[], add it.  </a:t>
            </a:r>
            <a:endParaRPr lang="en-IN" dirty="0"/>
          </a:p>
        </p:txBody>
      </p:sp>
    </p:spTree>
    <p:extLst>
      <p:ext uri="{BB962C8B-B14F-4D97-AF65-F5344CB8AC3E}">
        <p14:creationId xmlns:p14="http://schemas.microsoft.com/office/powerpoint/2010/main" val="3212634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785BD0-152A-A0A5-49D3-D0FB5E6F7CF2}"/>
              </a:ext>
            </a:extLst>
          </p:cNvPr>
          <p:cNvSpPr txBox="1"/>
          <p:nvPr/>
        </p:nvSpPr>
        <p:spPr>
          <a:xfrm>
            <a:off x="248478" y="278296"/>
            <a:ext cx="11698357" cy="5909310"/>
          </a:xfrm>
          <a:prstGeom prst="rect">
            <a:avLst/>
          </a:prstGeom>
          <a:noFill/>
        </p:spPr>
        <p:txBody>
          <a:bodyPr wrap="square" rtlCol="0">
            <a:spAutoFit/>
          </a:bodyPr>
          <a:lstStyle/>
          <a:p>
            <a:r>
              <a:rPr lang="en-US" dirty="0"/>
              <a:t>      Display departments with numbers.</a:t>
            </a:r>
          </a:p>
          <a:p>
            <a:r>
              <a:rPr lang="en-US" dirty="0"/>
              <a:t>      Prompt user to select department number.</a:t>
            </a:r>
          </a:p>
          <a:p>
            <a:r>
              <a:rPr lang="en-US" dirty="0"/>
              <a:t>      If invalid:</a:t>
            </a:r>
          </a:p>
          <a:p>
            <a:r>
              <a:rPr lang="en-US" dirty="0"/>
              <a:t>      Print “Invalid choice” and return.</a:t>
            </a:r>
          </a:p>
          <a:p>
            <a:r>
              <a:rPr lang="en-US" dirty="0"/>
              <a:t>      Else, for each paper:</a:t>
            </a:r>
          </a:p>
          <a:p>
            <a:r>
              <a:rPr lang="en-US" dirty="0"/>
              <a:t>      If paper’s department matches selected one:</a:t>
            </a:r>
          </a:p>
          <a:p>
            <a:r>
              <a:rPr lang="en-US" dirty="0"/>
              <a:t>      Print Paper ID, Subject, Year, Semester.</a:t>
            </a:r>
          </a:p>
          <a:p>
            <a:r>
              <a:rPr lang="en-US" dirty="0">
                <a:latin typeface="Arial Black" panose="020B0A04020102020204" pitchFamily="34" charset="0"/>
              </a:rPr>
              <a:t>6. Download and History Module</a:t>
            </a:r>
          </a:p>
          <a:p>
            <a:r>
              <a:rPr lang="en-US" dirty="0"/>
              <a:t>6.1 download Question Paper(char *roll Number) – Logic</a:t>
            </a:r>
          </a:p>
          <a:p>
            <a:r>
              <a:rPr lang="en-US" dirty="0"/>
              <a:t>      Prompt student to enter Paper ID to download (optionally after showing/searching list).</a:t>
            </a:r>
          </a:p>
          <a:p>
            <a:r>
              <a:rPr lang="en-US" dirty="0"/>
              <a:t>      Search for this Paper ID in papers[]:</a:t>
            </a:r>
          </a:p>
          <a:p>
            <a:r>
              <a:rPr lang="en-US" dirty="0"/>
              <a:t>      If not found, print “Paper ID not found” and return.</a:t>
            </a:r>
          </a:p>
          <a:p>
            <a:r>
              <a:rPr lang="en-US" dirty="0"/>
              <a:t>      If found : Increment papers[index].download Count.</a:t>
            </a:r>
          </a:p>
          <a:p>
            <a:r>
              <a:rPr lang="en-US" dirty="0"/>
              <a:t>      Create a new Download History record:</a:t>
            </a:r>
          </a:p>
          <a:p>
            <a:r>
              <a:rPr lang="en-US" dirty="0"/>
              <a:t>      Roll Number = given roll number.</a:t>
            </a:r>
          </a:p>
          <a:p>
            <a:r>
              <a:rPr lang="en-US" dirty="0"/>
              <a:t>      Paper ID   = selected paper ID.</a:t>
            </a:r>
          </a:p>
          <a:p>
            <a:r>
              <a:rPr lang="en-US" dirty="0"/>
              <a:t>      Download Date = current date string from get Current Date().</a:t>
            </a:r>
          </a:p>
          <a:p>
            <a:r>
              <a:rPr lang="en-US" dirty="0"/>
              <a:t>      Store it in downloads[download Count]. Increment download Count.</a:t>
            </a:r>
          </a:p>
          <a:p>
            <a:r>
              <a:rPr lang="en-US" dirty="0"/>
              <a:t>      Print a message simulating successful download, with filename.</a:t>
            </a:r>
          </a:p>
          <a:p>
            <a:r>
              <a:rPr lang="en-US" dirty="0"/>
              <a:t>      Call save Data().</a:t>
            </a:r>
          </a:p>
          <a:p>
            <a:r>
              <a:rPr lang="en-US" dirty="0"/>
              <a:t>6.2 view My Downloads(char *roll Number) – Logic</a:t>
            </a:r>
            <a:endParaRPr lang="en-IN" dirty="0"/>
          </a:p>
        </p:txBody>
      </p:sp>
    </p:spTree>
    <p:extLst>
      <p:ext uri="{BB962C8B-B14F-4D97-AF65-F5344CB8AC3E}">
        <p14:creationId xmlns:p14="http://schemas.microsoft.com/office/powerpoint/2010/main" val="1398232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162F68-3AAC-EFD9-326D-4A0128576536}"/>
              </a:ext>
            </a:extLst>
          </p:cNvPr>
          <p:cNvSpPr txBox="1"/>
          <p:nvPr/>
        </p:nvSpPr>
        <p:spPr>
          <a:xfrm>
            <a:off x="139148" y="188843"/>
            <a:ext cx="11648661" cy="5909310"/>
          </a:xfrm>
          <a:prstGeom prst="rect">
            <a:avLst/>
          </a:prstGeom>
          <a:noFill/>
        </p:spPr>
        <p:txBody>
          <a:bodyPr wrap="square" rtlCol="0">
            <a:spAutoFit/>
          </a:bodyPr>
          <a:lstStyle/>
          <a:p>
            <a:r>
              <a:rPr lang="en-IN" dirty="0"/>
              <a:t>       Print heading “My Downloads”.</a:t>
            </a:r>
          </a:p>
          <a:p>
            <a:r>
              <a:rPr lang="en-IN" dirty="0"/>
              <a:t>       Initialize found = 0.</a:t>
            </a:r>
          </a:p>
          <a:p>
            <a:r>
              <a:rPr lang="en-IN" dirty="0"/>
              <a:t>       Loop through all entries in downloads[]:</a:t>
            </a:r>
          </a:p>
          <a:p>
            <a:r>
              <a:rPr lang="en-IN" dirty="0"/>
              <a:t>       If downloads[</a:t>
            </a:r>
            <a:r>
              <a:rPr lang="en-IN" dirty="0" err="1"/>
              <a:t>i</a:t>
            </a:r>
            <a:r>
              <a:rPr lang="en-IN" dirty="0"/>
              <a:t>].roll Number equals given roll Number:</a:t>
            </a:r>
          </a:p>
          <a:p>
            <a:r>
              <a:rPr lang="en-IN" dirty="0"/>
              <a:t>       Print Paper ID and Download Date.</a:t>
            </a:r>
          </a:p>
          <a:p>
            <a:r>
              <a:rPr lang="en-IN" dirty="0"/>
              <a:t>       Optionally, look up subject from papers[].</a:t>
            </a:r>
          </a:p>
          <a:p>
            <a:r>
              <a:rPr lang="en-IN" dirty="0"/>
              <a:t>       Increment found . If found == 0:</a:t>
            </a:r>
          </a:p>
          <a:p>
            <a:r>
              <a:rPr lang="en-IN" dirty="0"/>
              <a:t>       Print “You have not downloaded any papers yet”.</a:t>
            </a:r>
          </a:p>
          <a:p>
            <a:endParaRPr lang="en-IN" dirty="0"/>
          </a:p>
          <a:p>
            <a:r>
              <a:rPr lang="en-IN" dirty="0">
                <a:latin typeface="Arial Black" panose="020B0A04020102020204" pitchFamily="34" charset="0"/>
              </a:rPr>
              <a:t>7. Utility and Data Handling Module</a:t>
            </a:r>
          </a:p>
          <a:p>
            <a:endParaRPr lang="en-IN" dirty="0">
              <a:latin typeface="Arial Black" panose="020B0A04020102020204" pitchFamily="34" charset="0"/>
            </a:endParaRPr>
          </a:p>
          <a:p>
            <a:r>
              <a:rPr lang="en-IN" dirty="0"/>
              <a:t>7.1 clear Input Buffer() – Logic</a:t>
            </a:r>
          </a:p>
          <a:p>
            <a:r>
              <a:rPr lang="en-IN" dirty="0"/>
              <a:t>       Loop : Read a character using get char().</a:t>
            </a:r>
          </a:p>
          <a:p>
            <a:r>
              <a:rPr lang="en-IN" dirty="0"/>
              <a:t>       If character is newline '\n' or EOF, break loop.</a:t>
            </a:r>
          </a:p>
          <a:p>
            <a:r>
              <a:rPr lang="en-IN" dirty="0"/>
              <a:t>       Used after </a:t>
            </a:r>
            <a:r>
              <a:rPr lang="en-IN" dirty="0" err="1"/>
              <a:t>scanf</a:t>
            </a:r>
            <a:r>
              <a:rPr lang="en-IN" dirty="0"/>
              <a:t> to remove leftover newline characters.</a:t>
            </a:r>
          </a:p>
          <a:p>
            <a:r>
              <a:rPr lang="en-IN" dirty="0"/>
              <a:t>7.2 generate Paper ID(char *id) – Typical Logic</a:t>
            </a:r>
          </a:p>
          <a:p>
            <a:r>
              <a:rPr lang="en-IN" dirty="0"/>
              <a:t>       Use current paper Count + 1 as numeric part.</a:t>
            </a:r>
          </a:p>
          <a:p>
            <a:r>
              <a:rPr lang="en-IN" dirty="0"/>
              <a:t>       Format paper ID string, e.g. "P001", "P002", etc.</a:t>
            </a:r>
          </a:p>
          <a:p>
            <a:r>
              <a:rPr lang="en-IN" dirty="0"/>
              <a:t>       Store formatted ID into id using sprint</a:t>
            </a:r>
          </a:p>
          <a:p>
            <a:r>
              <a:rPr lang="en-IN" dirty="0"/>
              <a:t>7.3 get Current Date(char *date) – Typical Logic</a:t>
            </a:r>
          </a:p>
          <a:p>
            <a:r>
              <a:rPr lang="en-IN" dirty="0"/>
              <a:t>       Get current system time using time() and local time(). </a:t>
            </a:r>
          </a:p>
        </p:txBody>
      </p:sp>
    </p:spTree>
    <p:extLst>
      <p:ext uri="{BB962C8B-B14F-4D97-AF65-F5344CB8AC3E}">
        <p14:creationId xmlns:p14="http://schemas.microsoft.com/office/powerpoint/2010/main" val="1011726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B1C6B2-D50C-BC63-9B8D-053950B82B9C}"/>
              </a:ext>
            </a:extLst>
          </p:cNvPr>
          <p:cNvSpPr txBox="1"/>
          <p:nvPr/>
        </p:nvSpPr>
        <p:spPr>
          <a:xfrm>
            <a:off x="139148" y="327991"/>
            <a:ext cx="11728174" cy="3970318"/>
          </a:xfrm>
          <a:prstGeom prst="rect">
            <a:avLst/>
          </a:prstGeom>
          <a:noFill/>
        </p:spPr>
        <p:txBody>
          <a:bodyPr wrap="square" rtlCol="0">
            <a:spAutoFit/>
          </a:bodyPr>
          <a:lstStyle/>
          <a:p>
            <a:r>
              <a:rPr lang="en-US" dirty="0"/>
              <a:t>        Format it into a readable string using </a:t>
            </a:r>
            <a:r>
              <a:rPr lang="en-US" dirty="0" err="1"/>
              <a:t>strftime</a:t>
            </a:r>
            <a:r>
              <a:rPr lang="en-US" dirty="0"/>
              <a:t>,</a:t>
            </a:r>
          </a:p>
          <a:p>
            <a:r>
              <a:rPr lang="en-US" dirty="0"/>
              <a:t>       e.g. "dd-mm-</a:t>
            </a:r>
            <a:r>
              <a:rPr lang="en-US" dirty="0" err="1"/>
              <a:t>yyyy</a:t>
            </a:r>
            <a:r>
              <a:rPr lang="en-US" dirty="0"/>
              <a:t>  </a:t>
            </a:r>
            <a:r>
              <a:rPr lang="en-US" dirty="0" err="1"/>
              <a:t>hh</a:t>
            </a:r>
            <a:r>
              <a:rPr lang="en-US" dirty="0"/>
              <a:t>: mm: ss".</a:t>
            </a:r>
          </a:p>
          <a:p>
            <a:r>
              <a:rPr lang="en-US" dirty="0"/>
              <a:t>       Store formatted string in date.</a:t>
            </a:r>
          </a:p>
          <a:p>
            <a:r>
              <a:rPr lang="en-US" dirty="0"/>
              <a:t>7.4 load Data() – Logic</a:t>
            </a:r>
          </a:p>
          <a:p>
            <a:r>
              <a:rPr lang="en-US" dirty="0"/>
              <a:t>       Open data files (for papers, students, downloads) if they exist.</a:t>
            </a:r>
          </a:p>
          <a:p>
            <a:r>
              <a:rPr lang="en-US" dirty="0"/>
              <a:t>        Read counts (paper Count, student Count, download Count).</a:t>
            </a:r>
          </a:p>
          <a:p>
            <a:r>
              <a:rPr lang="en-US" dirty="0"/>
              <a:t>       Read corresponding arrays (papers[], students[], downloads[]).</a:t>
            </a:r>
          </a:p>
          <a:p>
            <a:r>
              <a:rPr lang="en-US" dirty="0"/>
              <a:t>       If files do not exist, initialize counts to 0.Close all files.</a:t>
            </a:r>
          </a:p>
          <a:p>
            <a:r>
              <a:rPr lang="en-US" dirty="0"/>
              <a:t>7.5 save Data() – Logic</a:t>
            </a:r>
          </a:p>
          <a:p>
            <a:r>
              <a:rPr lang="en-US" dirty="0"/>
              <a:t>       Open data files for writing.</a:t>
            </a:r>
          </a:p>
          <a:p>
            <a:r>
              <a:rPr lang="en-US" dirty="0"/>
              <a:t>       Write paper Count and all papers[] to file.</a:t>
            </a:r>
          </a:p>
          <a:p>
            <a:r>
              <a:rPr lang="en-US" dirty="0"/>
              <a:t>       Write student Count and all students[].</a:t>
            </a:r>
          </a:p>
          <a:p>
            <a:r>
              <a:rPr lang="en-US" dirty="0"/>
              <a:t>       </a:t>
            </a:r>
            <a:r>
              <a:rPr lang="en-US"/>
              <a:t>Write download Count </a:t>
            </a:r>
            <a:r>
              <a:rPr lang="en-US" dirty="0"/>
              <a:t>and all downloads[].</a:t>
            </a:r>
          </a:p>
          <a:p>
            <a:r>
              <a:rPr lang="en-US" dirty="0"/>
              <a:t>       Close all files.</a:t>
            </a:r>
            <a:endParaRPr lang="en-IN" dirty="0"/>
          </a:p>
        </p:txBody>
      </p:sp>
    </p:spTree>
    <p:extLst>
      <p:ext uri="{BB962C8B-B14F-4D97-AF65-F5344CB8AC3E}">
        <p14:creationId xmlns:p14="http://schemas.microsoft.com/office/powerpoint/2010/main" val="21807821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9170D-8D75-35FA-39D6-00D4B96C3222}"/>
              </a:ext>
            </a:extLst>
          </p:cNvPr>
          <p:cNvSpPr>
            <a:spLocks noGrp="1"/>
          </p:cNvSpPr>
          <p:nvPr>
            <p:ph type="title"/>
          </p:nvPr>
        </p:nvSpPr>
        <p:spPr/>
        <p:txBody>
          <a:bodyPr/>
          <a:lstStyle/>
          <a:p>
            <a:r>
              <a:rPr lang="en-IN" dirty="0">
                <a:latin typeface="Algerian" panose="04020705040A02060702" pitchFamily="82" charset="0"/>
              </a:rPr>
              <a:t>MODULE INTEGERATION </a:t>
            </a:r>
            <a:r>
              <a:rPr lang="en-IN" dirty="0"/>
              <a:t>:</a:t>
            </a:r>
          </a:p>
        </p:txBody>
      </p:sp>
      <p:sp>
        <p:nvSpPr>
          <p:cNvPr id="5" name="TextBox 4">
            <a:extLst>
              <a:ext uri="{FF2B5EF4-FFF2-40B4-BE49-F238E27FC236}">
                <a16:creationId xmlns:a16="http://schemas.microsoft.com/office/drawing/2014/main" id="{3D97611B-5701-6AA8-51A8-ACA740B62E5F}"/>
              </a:ext>
            </a:extLst>
          </p:cNvPr>
          <p:cNvSpPr txBox="1"/>
          <p:nvPr/>
        </p:nvSpPr>
        <p:spPr>
          <a:xfrm>
            <a:off x="1269723" y="1974421"/>
            <a:ext cx="6097656" cy="3585020"/>
          </a:xfrm>
          <a:prstGeom prst="rect">
            <a:avLst/>
          </a:prstGeom>
          <a:noFill/>
        </p:spPr>
        <p:txBody>
          <a:bodyPr wrap="square">
            <a:spAutoFit/>
          </a:bodyPr>
          <a:lstStyle/>
          <a:p>
            <a:pPr algn="l" rtl="0" fontAlgn="base">
              <a:lnSpc>
                <a:spcPts val="1650"/>
              </a:lnSpc>
              <a:buNone/>
            </a:pPr>
            <a:r>
              <a:rPr lang="en-IN" sz="1800" b="0" i="0" u="none" strike="noStrike" dirty="0">
                <a:solidFill>
                  <a:srgbClr val="000000"/>
                </a:solidFill>
                <a:effectLst/>
                <a:latin typeface="Calibri Light" panose="020F0302020204030204" pitchFamily="34" charset="0"/>
              </a:rPr>
              <a:t>#include &lt;</a:t>
            </a:r>
            <a:r>
              <a:rPr lang="en-IN" sz="1800" b="0" i="0" u="none" strike="noStrike" dirty="0" err="1">
                <a:solidFill>
                  <a:srgbClr val="000000"/>
                </a:solidFill>
                <a:effectLst/>
                <a:latin typeface="Calibri Light" panose="020F0302020204030204" pitchFamily="34" charset="0"/>
              </a:rPr>
              <a:t>stdio.h</a:t>
            </a:r>
            <a:r>
              <a:rPr lang="en-IN" sz="1800" b="0" i="0" u="none" strike="noStrike" dirty="0">
                <a:solidFill>
                  <a:srgbClr val="000000"/>
                </a:solidFill>
                <a:effectLst/>
                <a:latin typeface="Calibri Light" panose="020F0302020204030204" pitchFamily="34" charset="0"/>
              </a:rPr>
              <a:t>&gt;</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#include &lt;</a:t>
            </a:r>
            <a:r>
              <a:rPr lang="en-IN" sz="1800" b="0" i="0" u="none" strike="noStrike" dirty="0" err="1">
                <a:solidFill>
                  <a:srgbClr val="000000"/>
                </a:solidFill>
                <a:effectLst/>
                <a:latin typeface="Calibri Light" panose="020F0302020204030204" pitchFamily="34" charset="0"/>
              </a:rPr>
              <a:t>stdlib.h</a:t>
            </a:r>
            <a:r>
              <a:rPr lang="en-IN" sz="1800" b="0" i="0" u="none" strike="noStrike" dirty="0">
                <a:solidFill>
                  <a:srgbClr val="000000"/>
                </a:solidFill>
                <a:effectLst/>
                <a:latin typeface="Calibri Light" panose="020F0302020204030204" pitchFamily="34" charset="0"/>
              </a:rPr>
              <a:t>&gt;</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#include &lt;</a:t>
            </a:r>
            <a:r>
              <a:rPr lang="en-IN" sz="1800" b="0" i="0" u="none" strike="noStrike" dirty="0" err="1">
                <a:solidFill>
                  <a:srgbClr val="000000"/>
                </a:solidFill>
                <a:effectLst/>
                <a:latin typeface="Calibri Light" panose="020F0302020204030204" pitchFamily="34" charset="0"/>
              </a:rPr>
              <a:t>string.h</a:t>
            </a:r>
            <a:r>
              <a:rPr lang="en-IN" sz="1800" b="0" i="0" u="none" strike="noStrike" dirty="0">
                <a:solidFill>
                  <a:srgbClr val="000000"/>
                </a:solidFill>
                <a:effectLst/>
                <a:latin typeface="Calibri Light" panose="020F0302020204030204" pitchFamily="34" charset="0"/>
              </a:rPr>
              <a:t>&gt;</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#include &lt;</a:t>
            </a:r>
            <a:r>
              <a:rPr lang="en-IN" sz="1800" b="0" i="0" u="none" strike="noStrike" dirty="0" err="1">
                <a:solidFill>
                  <a:srgbClr val="000000"/>
                </a:solidFill>
                <a:effectLst/>
                <a:latin typeface="Calibri Light" panose="020F0302020204030204" pitchFamily="34" charset="0"/>
              </a:rPr>
              <a:t>ctype.h</a:t>
            </a:r>
            <a:r>
              <a:rPr lang="en-IN" sz="1800" b="0" i="0" u="none" strike="noStrike" dirty="0">
                <a:solidFill>
                  <a:srgbClr val="000000"/>
                </a:solidFill>
                <a:effectLst/>
                <a:latin typeface="Calibri Light" panose="020F0302020204030204" pitchFamily="34" charset="0"/>
              </a:rPr>
              <a:t>&gt;</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dirty="0">
                <a:solidFill>
                  <a:srgbClr val="000000"/>
                </a:solidFill>
                <a:effectLst/>
                <a:latin typeface="Calibri Light" panose="020F0302020204030204" pitchFamily="34" charset="0"/>
              </a:rPr>
              <a:t>​</a:t>
            </a:r>
            <a:endParaRPr lang="en-IN"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 Structure Definitions type def struct {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char paper ID[20];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char subject[50];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int year;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char semester[20];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char exam Type[20];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char department[50];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char regulation[30];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char filename[100];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int download Count;</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a:p>
            <a:pPr algn="l" rtl="0" fontAlgn="base">
              <a:lnSpc>
                <a:spcPts val="1650"/>
              </a:lnSpc>
              <a:buNone/>
            </a:pPr>
            <a:r>
              <a:rPr lang="en-IN" sz="1800" b="0" i="0" u="none" strike="noStrike" dirty="0">
                <a:solidFill>
                  <a:srgbClr val="000000"/>
                </a:solidFill>
                <a:effectLst/>
                <a:latin typeface="Calibri Light" panose="020F0302020204030204" pitchFamily="34" charset="0"/>
              </a:rPr>
              <a:t>} </a:t>
            </a:r>
            <a:r>
              <a:rPr lang="en-US" sz="1800" b="0" i="0" dirty="0">
                <a:solidFill>
                  <a:srgbClr val="000000"/>
                </a:solidFill>
                <a:effectLst/>
                <a:latin typeface="Calibri Light" panose="020F0302020204030204" pitchFamily="34" charset="0"/>
              </a:rPr>
              <a:t>​</a:t>
            </a:r>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30772673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AD5A7F-99BC-6773-1DC4-8F4436C09E62}"/>
              </a:ext>
            </a:extLst>
          </p:cNvPr>
          <p:cNvSpPr txBox="1"/>
          <p:nvPr/>
        </p:nvSpPr>
        <p:spPr>
          <a:xfrm>
            <a:off x="139148" y="218661"/>
            <a:ext cx="11887200" cy="5909310"/>
          </a:xfrm>
          <a:prstGeom prst="rect">
            <a:avLst/>
          </a:prstGeom>
          <a:noFill/>
        </p:spPr>
        <p:txBody>
          <a:bodyPr wrap="square" rtlCol="0">
            <a:spAutoFit/>
          </a:bodyPr>
          <a:lstStyle/>
          <a:p>
            <a:pPr fontAlgn="base"/>
            <a:r>
              <a:rPr lang="en-IN" dirty="0"/>
              <a:t>Question Paper;</a:t>
            </a:r>
            <a:r>
              <a:rPr lang="en-US" dirty="0"/>
              <a:t>​</a:t>
            </a:r>
          </a:p>
          <a:p>
            <a:pPr fontAlgn="base"/>
            <a:r>
              <a:rPr lang="en-IN" dirty="0"/>
              <a:t>typedef struct { </a:t>
            </a:r>
            <a:r>
              <a:rPr lang="en-US" dirty="0"/>
              <a:t>​</a:t>
            </a:r>
          </a:p>
          <a:p>
            <a:pPr fontAlgn="base"/>
            <a:r>
              <a:rPr lang="en-IN" dirty="0"/>
              <a:t>char roll Number[20]; </a:t>
            </a:r>
            <a:r>
              <a:rPr lang="en-US" dirty="0"/>
              <a:t>​</a:t>
            </a:r>
          </a:p>
          <a:p>
            <a:pPr fontAlgn="base"/>
            <a:r>
              <a:rPr lang="en-IN" dirty="0"/>
              <a:t>char name[50]; </a:t>
            </a:r>
            <a:r>
              <a:rPr lang="en-US" dirty="0"/>
              <a:t>​</a:t>
            </a:r>
          </a:p>
          <a:p>
            <a:pPr fontAlgn="base"/>
            <a:r>
              <a:rPr lang="en-IN" dirty="0"/>
              <a:t>char department[50]; </a:t>
            </a:r>
            <a:r>
              <a:rPr lang="en-US" dirty="0"/>
              <a:t>​</a:t>
            </a:r>
          </a:p>
          <a:p>
            <a:pPr fontAlgn="base"/>
            <a:r>
              <a:rPr lang="en-IN" dirty="0"/>
              <a:t>char semester[20]; </a:t>
            </a:r>
            <a:r>
              <a:rPr lang="en-US" dirty="0"/>
              <a:t>​</a:t>
            </a:r>
          </a:p>
          <a:p>
            <a:pPr fontAlgn="base"/>
            <a:r>
              <a:rPr lang="en-IN" dirty="0"/>
              <a:t>char email[50]; </a:t>
            </a:r>
            <a:r>
              <a:rPr lang="en-US" dirty="0"/>
              <a:t>​</a:t>
            </a:r>
          </a:p>
          <a:p>
            <a:pPr fontAlgn="base"/>
            <a:r>
              <a:rPr lang="en-IN" dirty="0"/>
              <a:t>char password[20];</a:t>
            </a:r>
            <a:r>
              <a:rPr lang="en-US" dirty="0"/>
              <a:t>​</a:t>
            </a:r>
          </a:p>
          <a:p>
            <a:pPr fontAlgn="base"/>
            <a:r>
              <a:rPr lang="en-IN" dirty="0"/>
              <a:t>} </a:t>
            </a:r>
            <a:r>
              <a:rPr lang="en-US" dirty="0"/>
              <a:t>​</a:t>
            </a:r>
          </a:p>
          <a:p>
            <a:pPr fontAlgn="base"/>
            <a:r>
              <a:rPr lang="en-IN" dirty="0"/>
              <a:t>Student;</a:t>
            </a:r>
            <a:r>
              <a:rPr lang="en-US" dirty="0"/>
              <a:t>​</a:t>
            </a:r>
          </a:p>
          <a:p>
            <a:pPr fontAlgn="base"/>
            <a:r>
              <a:rPr lang="en-IN" dirty="0"/>
              <a:t>typedef struct { </a:t>
            </a:r>
            <a:r>
              <a:rPr lang="en-US" dirty="0"/>
              <a:t>​</a:t>
            </a:r>
          </a:p>
          <a:p>
            <a:pPr fontAlgn="base"/>
            <a:r>
              <a:rPr lang="en-IN" dirty="0"/>
              <a:t>char username[30]; </a:t>
            </a:r>
            <a:r>
              <a:rPr lang="en-US" dirty="0"/>
              <a:t>​</a:t>
            </a:r>
          </a:p>
          <a:p>
            <a:pPr fontAlgn="base"/>
            <a:r>
              <a:rPr lang="en-IN" dirty="0"/>
              <a:t>char password[30];</a:t>
            </a:r>
            <a:r>
              <a:rPr lang="en-US" dirty="0"/>
              <a:t>​</a:t>
            </a:r>
          </a:p>
          <a:p>
            <a:pPr fontAlgn="base"/>
            <a:r>
              <a:rPr lang="en-IN" dirty="0"/>
              <a:t>} </a:t>
            </a:r>
            <a:r>
              <a:rPr lang="en-US" dirty="0"/>
              <a:t>​</a:t>
            </a:r>
          </a:p>
          <a:p>
            <a:pPr fontAlgn="base"/>
            <a:r>
              <a:rPr lang="en-IN" dirty="0"/>
              <a:t>Admin;</a:t>
            </a:r>
            <a:r>
              <a:rPr lang="en-US" dirty="0"/>
              <a:t>​</a:t>
            </a:r>
          </a:p>
          <a:p>
            <a:pPr fontAlgn="base"/>
            <a:r>
              <a:rPr lang="en-IN" dirty="0"/>
              <a:t>typedef struct { </a:t>
            </a:r>
            <a:r>
              <a:rPr lang="en-US" dirty="0"/>
              <a:t>​</a:t>
            </a:r>
          </a:p>
          <a:p>
            <a:pPr fontAlgn="base"/>
            <a:r>
              <a:rPr lang="en-IN" dirty="0"/>
              <a:t>char roll Number[20]; </a:t>
            </a:r>
            <a:r>
              <a:rPr lang="en-US" dirty="0"/>
              <a:t>​</a:t>
            </a:r>
          </a:p>
          <a:p>
            <a:pPr fontAlgn="base"/>
            <a:r>
              <a:rPr lang="en-IN" dirty="0"/>
              <a:t>char paper ID[20]; </a:t>
            </a:r>
            <a:r>
              <a:rPr lang="en-US" dirty="0"/>
              <a:t>​</a:t>
            </a:r>
          </a:p>
          <a:p>
            <a:pPr fontAlgn="base"/>
            <a:r>
              <a:rPr lang="en-IN" dirty="0"/>
              <a:t>char download Date[30];</a:t>
            </a:r>
            <a:r>
              <a:rPr lang="en-US" dirty="0"/>
              <a:t>​</a:t>
            </a:r>
          </a:p>
          <a:p>
            <a:pPr fontAlgn="base"/>
            <a:r>
              <a:rPr lang="en-IN" dirty="0"/>
              <a:t>}</a:t>
            </a:r>
            <a:r>
              <a:rPr lang="en-US" dirty="0"/>
              <a:t>​</a:t>
            </a:r>
          </a:p>
          <a:p>
            <a:endParaRPr lang="en-IN" dirty="0"/>
          </a:p>
        </p:txBody>
      </p:sp>
    </p:spTree>
    <p:extLst>
      <p:ext uri="{BB962C8B-B14F-4D97-AF65-F5344CB8AC3E}">
        <p14:creationId xmlns:p14="http://schemas.microsoft.com/office/powerpoint/2010/main" val="16845043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4F3193-B03A-58A8-B55C-BC08569DBF9E}"/>
              </a:ext>
            </a:extLst>
          </p:cNvPr>
          <p:cNvSpPr txBox="1"/>
          <p:nvPr/>
        </p:nvSpPr>
        <p:spPr>
          <a:xfrm>
            <a:off x="89452" y="208722"/>
            <a:ext cx="11897139" cy="5909310"/>
          </a:xfrm>
          <a:prstGeom prst="rect">
            <a:avLst/>
          </a:prstGeom>
          <a:noFill/>
        </p:spPr>
        <p:txBody>
          <a:bodyPr wrap="square" rtlCol="0">
            <a:spAutoFit/>
          </a:bodyPr>
          <a:lstStyle/>
          <a:p>
            <a:pPr fontAlgn="base"/>
            <a:r>
              <a:rPr lang="en-IN" dirty="0"/>
              <a:t>Download History;</a:t>
            </a:r>
            <a:r>
              <a:rPr lang="en-US" dirty="0"/>
              <a:t>​</a:t>
            </a:r>
          </a:p>
          <a:p>
            <a:pPr fontAlgn="base"/>
            <a:r>
              <a:rPr lang="en-IN" dirty="0"/>
              <a:t>​</a:t>
            </a:r>
          </a:p>
          <a:p>
            <a:pPr fontAlgn="base"/>
            <a:r>
              <a:rPr lang="en-IN" dirty="0"/>
              <a:t>// Global Variables Question Paper papers[500];</a:t>
            </a:r>
            <a:r>
              <a:rPr lang="en-US" dirty="0"/>
              <a:t>​</a:t>
            </a:r>
          </a:p>
          <a:p>
            <a:pPr fontAlgn="base"/>
            <a:r>
              <a:rPr lang="en-IN" dirty="0"/>
              <a:t>Student students[200];</a:t>
            </a:r>
            <a:r>
              <a:rPr lang="en-US" dirty="0"/>
              <a:t>​</a:t>
            </a:r>
          </a:p>
          <a:p>
            <a:pPr fontAlgn="base"/>
            <a:r>
              <a:rPr lang="en-IN" dirty="0"/>
              <a:t>Download History downloads[1000];</a:t>
            </a:r>
            <a:r>
              <a:rPr lang="en-US" dirty="0"/>
              <a:t>​</a:t>
            </a:r>
          </a:p>
          <a:p>
            <a:pPr fontAlgn="base"/>
            <a:r>
              <a:rPr lang="en-IN" dirty="0"/>
              <a:t>int paper Count = 0;</a:t>
            </a:r>
            <a:r>
              <a:rPr lang="en-US" dirty="0"/>
              <a:t>​</a:t>
            </a:r>
          </a:p>
          <a:p>
            <a:pPr fontAlgn="base"/>
            <a:r>
              <a:rPr lang="en-IN" dirty="0"/>
              <a:t>int student Count = 0;</a:t>
            </a:r>
            <a:r>
              <a:rPr lang="en-US" dirty="0"/>
              <a:t>​</a:t>
            </a:r>
          </a:p>
          <a:p>
            <a:pPr fontAlgn="base"/>
            <a:r>
              <a:rPr lang="en-IN" dirty="0"/>
              <a:t>int download Count = 0; </a:t>
            </a:r>
            <a:r>
              <a:rPr lang="en-US" dirty="0"/>
              <a:t>​</a:t>
            </a:r>
          </a:p>
          <a:p>
            <a:pPr fontAlgn="base"/>
            <a:r>
              <a:rPr lang="en-IN" dirty="0"/>
              <a:t>​</a:t>
            </a:r>
          </a:p>
          <a:p>
            <a:pPr fontAlgn="base"/>
            <a:r>
              <a:rPr lang="en-IN" dirty="0"/>
              <a:t>// Function Proto types void display Main Menu();</a:t>
            </a:r>
            <a:r>
              <a:rPr lang="en-US" dirty="0"/>
              <a:t>​</a:t>
            </a:r>
          </a:p>
          <a:p>
            <a:pPr fontAlgn="base"/>
            <a:r>
              <a:rPr lang="en-IN" dirty="0"/>
              <a:t>void admin Login();</a:t>
            </a:r>
            <a:r>
              <a:rPr lang="en-US" dirty="0"/>
              <a:t>​</a:t>
            </a:r>
          </a:p>
          <a:p>
            <a:pPr fontAlgn="base"/>
            <a:r>
              <a:rPr lang="en-IN" dirty="0"/>
              <a:t>void student Login();</a:t>
            </a:r>
            <a:r>
              <a:rPr lang="en-US" dirty="0"/>
              <a:t>​</a:t>
            </a:r>
          </a:p>
          <a:p>
            <a:pPr fontAlgn="base"/>
            <a:r>
              <a:rPr lang="en-IN" dirty="0"/>
              <a:t>void register New Student();</a:t>
            </a:r>
            <a:r>
              <a:rPr lang="en-US" dirty="0"/>
              <a:t>​</a:t>
            </a:r>
          </a:p>
          <a:p>
            <a:pPr fontAlgn="base"/>
            <a:r>
              <a:rPr lang="en-IN" dirty="0"/>
              <a:t>void admin Menu(char *admin Username);</a:t>
            </a:r>
            <a:r>
              <a:rPr lang="en-US" dirty="0"/>
              <a:t>​</a:t>
            </a:r>
          </a:p>
          <a:p>
            <a:pPr fontAlgn="base"/>
            <a:r>
              <a:rPr lang="en-IN" dirty="0"/>
              <a:t>void student Menu(char *roll Number);</a:t>
            </a:r>
            <a:r>
              <a:rPr lang="en-US" dirty="0"/>
              <a:t>​</a:t>
            </a:r>
          </a:p>
          <a:p>
            <a:pPr fontAlgn="base"/>
            <a:r>
              <a:rPr lang="en-IN" dirty="0"/>
              <a:t>void upload Question Paper();</a:t>
            </a:r>
            <a:r>
              <a:rPr lang="en-US" dirty="0"/>
              <a:t>​</a:t>
            </a:r>
          </a:p>
          <a:p>
            <a:pPr fontAlgn="base"/>
            <a:r>
              <a:rPr lang="en-IN" dirty="0"/>
              <a:t>void delete Question Paper();</a:t>
            </a:r>
            <a:r>
              <a:rPr lang="en-US" dirty="0"/>
              <a:t>​</a:t>
            </a:r>
          </a:p>
          <a:p>
            <a:pPr fontAlgn="base"/>
            <a:r>
              <a:rPr lang="en-IN" dirty="0"/>
              <a:t>void update Question Paper();</a:t>
            </a:r>
            <a:r>
              <a:rPr lang="en-US" dirty="0"/>
              <a:t>​</a:t>
            </a:r>
          </a:p>
          <a:p>
            <a:pPr fontAlgn="base"/>
            <a:r>
              <a:rPr lang="en-IN" dirty="0"/>
              <a:t>void view All Question Papers(); </a:t>
            </a:r>
            <a:r>
              <a:rPr lang="en-US" dirty="0"/>
              <a:t>​</a:t>
            </a:r>
          </a:p>
          <a:p>
            <a:pPr fontAlgn="base"/>
            <a:r>
              <a:rPr lang="en-IN" dirty="0"/>
              <a:t>void manage Categories();</a:t>
            </a:r>
            <a:r>
              <a:rPr lang="en-US" dirty="0"/>
              <a:t>​</a:t>
            </a:r>
          </a:p>
          <a:p>
            <a:endParaRPr lang="en-IN" dirty="0"/>
          </a:p>
        </p:txBody>
      </p:sp>
    </p:spTree>
    <p:extLst>
      <p:ext uri="{BB962C8B-B14F-4D97-AF65-F5344CB8AC3E}">
        <p14:creationId xmlns:p14="http://schemas.microsoft.com/office/powerpoint/2010/main" val="906015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17F4ED-0090-E4AA-11FD-4ACDAC9B65B6}"/>
              </a:ext>
            </a:extLst>
          </p:cNvPr>
          <p:cNvSpPr txBox="1"/>
          <p:nvPr/>
        </p:nvSpPr>
        <p:spPr>
          <a:xfrm>
            <a:off x="89452" y="208722"/>
            <a:ext cx="11976652" cy="6186309"/>
          </a:xfrm>
          <a:prstGeom prst="rect">
            <a:avLst/>
          </a:prstGeom>
          <a:noFill/>
        </p:spPr>
        <p:txBody>
          <a:bodyPr wrap="square" rtlCol="0">
            <a:spAutoFit/>
          </a:bodyPr>
          <a:lstStyle/>
          <a:p>
            <a:pPr fontAlgn="base"/>
            <a:r>
              <a:rPr lang="en-IN" dirty="0"/>
              <a:t>void view Download Statistics();</a:t>
            </a:r>
            <a:r>
              <a:rPr lang="en-US" dirty="0"/>
              <a:t>​</a:t>
            </a:r>
          </a:p>
          <a:p>
            <a:pPr fontAlgn="base"/>
            <a:r>
              <a:rPr lang="en-IN" dirty="0"/>
              <a:t>void search Question Papers(char *roll Number);</a:t>
            </a:r>
            <a:r>
              <a:rPr lang="en-US" dirty="0"/>
              <a:t>​</a:t>
            </a:r>
          </a:p>
          <a:p>
            <a:pPr fontAlgn="base"/>
            <a:r>
              <a:rPr lang="en-IN" dirty="0"/>
              <a:t>void browse By Subject(char *roll Number);</a:t>
            </a:r>
            <a:r>
              <a:rPr lang="en-US" dirty="0"/>
              <a:t>​</a:t>
            </a:r>
          </a:p>
          <a:p>
            <a:pPr fontAlgn="base"/>
            <a:r>
              <a:rPr lang="en-IN" dirty="0"/>
              <a:t>void browse By Year(char *roll Number);</a:t>
            </a:r>
            <a:r>
              <a:rPr lang="en-US" dirty="0"/>
              <a:t>​</a:t>
            </a:r>
          </a:p>
          <a:p>
            <a:pPr fontAlgn="base"/>
            <a:r>
              <a:rPr lang="en-IN" dirty="0"/>
              <a:t>void browse By Department(char *roll Number);</a:t>
            </a:r>
            <a:r>
              <a:rPr lang="en-US" dirty="0"/>
              <a:t>​</a:t>
            </a:r>
          </a:p>
          <a:p>
            <a:pPr fontAlgn="base"/>
            <a:r>
              <a:rPr lang="en-IN" dirty="0"/>
              <a:t>void view My Downloads(char *roll Number);</a:t>
            </a:r>
            <a:r>
              <a:rPr lang="en-US" dirty="0"/>
              <a:t>​</a:t>
            </a:r>
          </a:p>
          <a:p>
            <a:pPr fontAlgn="base"/>
            <a:r>
              <a:rPr lang="en-IN" dirty="0"/>
              <a:t>void download Question Paper(char *roll Number);</a:t>
            </a:r>
            <a:r>
              <a:rPr lang="en-US" dirty="0"/>
              <a:t>​</a:t>
            </a:r>
          </a:p>
          <a:p>
            <a:pPr fontAlgn="base"/>
            <a:r>
              <a:rPr lang="en-IN" dirty="0"/>
              <a:t>void load Data();</a:t>
            </a:r>
            <a:r>
              <a:rPr lang="en-US" dirty="0"/>
              <a:t>​</a:t>
            </a:r>
          </a:p>
          <a:p>
            <a:pPr fontAlgn="base"/>
            <a:r>
              <a:rPr lang="en-IN" dirty="0"/>
              <a:t>void save Data();</a:t>
            </a:r>
            <a:r>
              <a:rPr lang="en-US" dirty="0"/>
              <a:t>​</a:t>
            </a:r>
          </a:p>
          <a:p>
            <a:pPr fontAlgn="base"/>
            <a:r>
              <a:rPr lang="en-IN" dirty="0"/>
              <a:t>void clear Input Buffer();</a:t>
            </a:r>
            <a:r>
              <a:rPr lang="en-US" dirty="0"/>
              <a:t>​</a:t>
            </a:r>
          </a:p>
          <a:p>
            <a:pPr fontAlgn="base"/>
            <a:r>
              <a:rPr lang="en-IN" dirty="0"/>
              <a:t>void generate Paper ID(char *id);</a:t>
            </a:r>
            <a:r>
              <a:rPr lang="en-US" dirty="0"/>
              <a:t>​</a:t>
            </a:r>
          </a:p>
          <a:p>
            <a:pPr fontAlgn="base"/>
            <a:r>
              <a:rPr lang="en-IN" dirty="0"/>
              <a:t>void get Current Date(char *date);</a:t>
            </a:r>
            <a:r>
              <a:rPr lang="en-US" dirty="0"/>
              <a:t>​</a:t>
            </a:r>
          </a:p>
          <a:p>
            <a:pPr fontAlgn="base"/>
            <a:r>
              <a:rPr lang="en-IN" dirty="0"/>
              <a:t>​</a:t>
            </a:r>
          </a:p>
          <a:p>
            <a:pPr fontAlgn="base"/>
            <a:r>
              <a:rPr lang="en-IN" dirty="0"/>
              <a:t>// Main Function</a:t>
            </a:r>
            <a:r>
              <a:rPr lang="en-US" dirty="0"/>
              <a:t>​</a:t>
            </a:r>
          </a:p>
          <a:p>
            <a:pPr fontAlgn="base"/>
            <a:r>
              <a:rPr lang="en-IN" dirty="0"/>
              <a:t>int main() { </a:t>
            </a:r>
            <a:r>
              <a:rPr lang="en-US" dirty="0"/>
              <a:t>​</a:t>
            </a:r>
          </a:p>
          <a:p>
            <a:pPr fontAlgn="base"/>
            <a:r>
              <a:rPr lang="en-IN" dirty="0"/>
              <a:t>int choice; </a:t>
            </a:r>
            <a:r>
              <a:rPr lang="en-US" dirty="0"/>
              <a:t>​</a:t>
            </a:r>
          </a:p>
          <a:p>
            <a:pPr fontAlgn="base"/>
            <a:r>
              <a:rPr lang="en-IN" dirty="0"/>
              <a:t>Load Data(); </a:t>
            </a:r>
            <a:r>
              <a:rPr lang="en-US" dirty="0"/>
              <a:t>​</a:t>
            </a:r>
          </a:p>
          <a:p>
            <a:pPr fontAlgn="base"/>
            <a:r>
              <a:rPr lang="en-IN" dirty="0"/>
              <a:t>while(1) { </a:t>
            </a:r>
            <a:r>
              <a:rPr lang="en-US" dirty="0"/>
              <a:t>​</a:t>
            </a:r>
          </a:p>
          <a:p>
            <a:pPr fontAlgn="base"/>
            <a:r>
              <a:rPr lang="en-IN" dirty="0"/>
              <a:t>// Step 1: START </a:t>
            </a:r>
            <a:r>
              <a:rPr lang="en-US" dirty="0"/>
              <a:t>​</a:t>
            </a:r>
          </a:p>
          <a:p>
            <a:pPr fontAlgn="base"/>
            <a:r>
              <a:rPr lang="en-IN" dirty="0"/>
              <a:t>// Step 2: Display Main Menu </a:t>
            </a:r>
            <a:r>
              <a:rPr lang="en-US" dirty="0"/>
              <a:t>​</a:t>
            </a:r>
          </a:p>
          <a:p>
            <a:pPr fontAlgn="base"/>
            <a:r>
              <a:rPr lang="en-IN" dirty="0"/>
              <a:t>Display Main Menu();</a:t>
            </a:r>
            <a:r>
              <a:rPr lang="en-US" dirty="0"/>
              <a:t>​</a:t>
            </a:r>
          </a:p>
          <a:p>
            <a:endParaRPr lang="en-IN" dirty="0"/>
          </a:p>
        </p:txBody>
      </p:sp>
    </p:spTree>
    <p:extLst>
      <p:ext uri="{BB962C8B-B14F-4D97-AF65-F5344CB8AC3E}">
        <p14:creationId xmlns:p14="http://schemas.microsoft.com/office/powerpoint/2010/main" val="15294210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5BB6EF-687C-5AB6-A765-6FF0A3FA97C5}"/>
              </a:ext>
            </a:extLst>
          </p:cNvPr>
          <p:cNvSpPr txBox="1"/>
          <p:nvPr/>
        </p:nvSpPr>
        <p:spPr>
          <a:xfrm>
            <a:off x="208722" y="149087"/>
            <a:ext cx="11738113" cy="5909310"/>
          </a:xfrm>
          <a:prstGeom prst="rect">
            <a:avLst/>
          </a:prstGeom>
          <a:noFill/>
        </p:spPr>
        <p:txBody>
          <a:bodyPr wrap="square" rtlCol="0">
            <a:spAutoFit/>
          </a:bodyPr>
          <a:lstStyle/>
          <a:p>
            <a:pPr fontAlgn="base"/>
            <a:r>
              <a:rPr lang="en-IN" dirty="0"/>
              <a:t>// Step 3: INPUT user choice </a:t>
            </a:r>
            <a:r>
              <a:rPr lang="en-US" dirty="0"/>
              <a:t>​</a:t>
            </a:r>
          </a:p>
          <a:p>
            <a:pPr fontAlgn="base"/>
            <a:r>
              <a:rPr lang="en-IN" dirty="0" err="1"/>
              <a:t>Printf</a:t>
            </a:r>
            <a:r>
              <a:rPr lang="en-IN" dirty="0"/>
              <a:t> ("\n Enter your choice: "); </a:t>
            </a:r>
            <a:r>
              <a:rPr lang="en-US" dirty="0"/>
              <a:t>​</a:t>
            </a:r>
          </a:p>
          <a:p>
            <a:pPr fontAlgn="base"/>
            <a:r>
              <a:rPr lang="en-IN" dirty="0" err="1"/>
              <a:t>Scanf</a:t>
            </a:r>
            <a:r>
              <a:rPr lang="en-IN" dirty="0"/>
              <a:t> ("%d", &amp;choice); </a:t>
            </a:r>
            <a:r>
              <a:rPr lang="en-US" dirty="0"/>
              <a:t>​</a:t>
            </a:r>
          </a:p>
          <a:p>
            <a:pPr fontAlgn="base"/>
            <a:r>
              <a:rPr lang="en-IN" dirty="0"/>
              <a:t>Clear Input Buffer(); </a:t>
            </a:r>
            <a:r>
              <a:rPr lang="en-US" dirty="0"/>
              <a:t>​</a:t>
            </a:r>
          </a:p>
          <a:p>
            <a:pPr fontAlgn="base"/>
            <a:r>
              <a:rPr lang="en-IN" dirty="0"/>
              <a:t>​</a:t>
            </a:r>
          </a:p>
          <a:p>
            <a:pPr fontAlgn="base"/>
            <a:r>
              <a:rPr lang="en-IN" dirty="0"/>
              <a:t>// Step 4-23: Process choices </a:t>
            </a:r>
            <a:r>
              <a:rPr lang="en-US" dirty="0"/>
              <a:t>​</a:t>
            </a:r>
          </a:p>
          <a:p>
            <a:pPr fontAlgn="base"/>
            <a:r>
              <a:rPr lang="en-IN" dirty="0"/>
              <a:t>switch(choice) { </a:t>
            </a:r>
            <a:r>
              <a:rPr lang="en-US" dirty="0"/>
              <a:t>​</a:t>
            </a:r>
          </a:p>
          <a:p>
            <a:pPr fontAlgn="base"/>
            <a:r>
              <a:rPr lang="en-IN" dirty="0"/>
              <a:t>case 1: </a:t>
            </a:r>
            <a:r>
              <a:rPr lang="en-US" dirty="0"/>
              <a:t>​</a:t>
            </a:r>
          </a:p>
          <a:p>
            <a:pPr fontAlgn="base"/>
            <a:r>
              <a:rPr lang="en-IN" dirty="0"/>
              <a:t>Admin Login(); </a:t>
            </a:r>
            <a:r>
              <a:rPr lang="en-US" dirty="0"/>
              <a:t>​</a:t>
            </a:r>
          </a:p>
          <a:p>
            <a:pPr fontAlgn="base"/>
            <a:r>
              <a:rPr lang="en-IN" dirty="0"/>
              <a:t>break; </a:t>
            </a:r>
            <a:r>
              <a:rPr lang="en-US" dirty="0"/>
              <a:t>​</a:t>
            </a:r>
          </a:p>
          <a:p>
            <a:pPr fontAlgn="base"/>
            <a:r>
              <a:rPr lang="en-IN" dirty="0"/>
              <a:t>case 2: </a:t>
            </a:r>
            <a:r>
              <a:rPr lang="en-US" dirty="0"/>
              <a:t>​</a:t>
            </a:r>
          </a:p>
          <a:p>
            <a:pPr fontAlgn="base"/>
            <a:r>
              <a:rPr lang="en-IN" dirty="0"/>
              <a:t>Student Login(); </a:t>
            </a:r>
            <a:r>
              <a:rPr lang="en-US" dirty="0"/>
              <a:t>​</a:t>
            </a:r>
          </a:p>
          <a:p>
            <a:pPr fontAlgn="base"/>
            <a:r>
              <a:rPr lang="en-IN" dirty="0"/>
              <a:t>break; </a:t>
            </a:r>
            <a:r>
              <a:rPr lang="en-US" dirty="0"/>
              <a:t>​</a:t>
            </a:r>
          </a:p>
          <a:p>
            <a:pPr fontAlgn="base"/>
            <a:r>
              <a:rPr lang="en-IN" dirty="0"/>
              <a:t>case 3: </a:t>
            </a:r>
            <a:r>
              <a:rPr lang="en-US" dirty="0"/>
              <a:t>​</a:t>
            </a:r>
          </a:p>
          <a:p>
            <a:pPr fontAlgn="base"/>
            <a:r>
              <a:rPr lang="en-IN" dirty="0"/>
              <a:t>Register New Student(); </a:t>
            </a:r>
            <a:r>
              <a:rPr lang="en-US" dirty="0"/>
              <a:t>​</a:t>
            </a:r>
          </a:p>
          <a:p>
            <a:pPr fontAlgn="base"/>
            <a:r>
              <a:rPr lang="en-IN" dirty="0"/>
              <a:t>break; </a:t>
            </a:r>
            <a:r>
              <a:rPr lang="en-US" dirty="0"/>
              <a:t>​</a:t>
            </a:r>
          </a:p>
          <a:p>
            <a:pPr fontAlgn="base"/>
            <a:r>
              <a:rPr lang="en-IN" dirty="0"/>
              <a:t>case 4: </a:t>
            </a:r>
            <a:r>
              <a:rPr lang="en-US" dirty="0"/>
              <a:t>​</a:t>
            </a:r>
          </a:p>
          <a:p>
            <a:pPr fontAlgn="base"/>
            <a:r>
              <a:rPr lang="en-IN" dirty="0"/>
              <a:t>​</a:t>
            </a:r>
          </a:p>
          <a:p>
            <a:pPr fontAlgn="base"/>
            <a:r>
              <a:rPr lang="en-IN" dirty="0"/>
              <a:t>// Step 23: EXIT system</a:t>
            </a:r>
            <a:r>
              <a:rPr lang="en-US" dirty="0"/>
              <a:t> ​</a:t>
            </a:r>
          </a:p>
          <a:p>
            <a:pPr fontAlgn="base"/>
            <a:r>
              <a:rPr lang="en-US" dirty="0" err="1"/>
              <a:t>Printf</a:t>
            </a:r>
            <a:r>
              <a:rPr lang="en-US" dirty="0"/>
              <a:t> ("\n Thank you for using Question Papers Management System!\n"); </a:t>
            </a:r>
            <a:r>
              <a:rPr lang="en-IN" dirty="0"/>
              <a:t>​</a:t>
            </a:r>
          </a:p>
          <a:p>
            <a:endParaRPr lang="en-IN" dirty="0"/>
          </a:p>
        </p:txBody>
      </p:sp>
    </p:spTree>
    <p:extLst>
      <p:ext uri="{BB962C8B-B14F-4D97-AF65-F5344CB8AC3E}">
        <p14:creationId xmlns:p14="http://schemas.microsoft.com/office/powerpoint/2010/main" val="3326378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4E9F9D-A9C0-86AB-BCD5-CCC8F79B144C}"/>
              </a:ext>
            </a:extLst>
          </p:cNvPr>
          <p:cNvSpPr txBox="1"/>
          <p:nvPr/>
        </p:nvSpPr>
        <p:spPr>
          <a:xfrm>
            <a:off x="89452" y="218661"/>
            <a:ext cx="11757991" cy="5632311"/>
          </a:xfrm>
          <a:prstGeom prst="rect">
            <a:avLst/>
          </a:prstGeom>
          <a:noFill/>
        </p:spPr>
        <p:txBody>
          <a:bodyPr wrap="square" rtlCol="0">
            <a:spAutoFit/>
          </a:bodyPr>
          <a:lstStyle/>
          <a:p>
            <a:pPr fontAlgn="base"/>
            <a:r>
              <a:rPr lang="en-IN" dirty="0"/>
              <a:t>Save Data(); </a:t>
            </a:r>
            <a:r>
              <a:rPr lang="en-US" dirty="0"/>
              <a:t>​</a:t>
            </a:r>
          </a:p>
          <a:p>
            <a:pPr fontAlgn="base"/>
            <a:r>
              <a:rPr lang="en-IN" dirty="0"/>
              <a:t>exit(0); </a:t>
            </a:r>
            <a:r>
              <a:rPr lang="en-US" dirty="0"/>
              <a:t>​</a:t>
            </a:r>
          </a:p>
          <a:p>
            <a:pPr fontAlgn="base"/>
            <a:r>
              <a:rPr lang="en-IN" dirty="0"/>
              <a:t>default: </a:t>
            </a:r>
            <a:r>
              <a:rPr lang="en-US" dirty="0"/>
              <a:t>​</a:t>
            </a:r>
          </a:p>
          <a:p>
            <a:pPr fontAlgn="base"/>
            <a:r>
              <a:rPr lang="en-IN" dirty="0" err="1"/>
              <a:t>printf</a:t>
            </a:r>
            <a:r>
              <a:rPr lang="en-IN" dirty="0"/>
              <a:t>("\n Invalid choice! Please try again.\n"); } </a:t>
            </a:r>
            <a:r>
              <a:rPr lang="en-US" dirty="0"/>
              <a:t>​</a:t>
            </a:r>
          </a:p>
          <a:p>
            <a:pPr fontAlgn="base"/>
            <a:r>
              <a:rPr lang="en-IN" dirty="0"/>
              <a:t>} </a:t>
            </a:r>
            <a:r>
              <a:rPr lang="en-US" dirty="0"/>
              <a:t>​</a:t>
            </a:r>
          </a:p>
          <a:p>
            <a:pPr fontAlgn="base"/>
            <a:r>
              <a:rPr lang="en-IN" dirty="0"/>
              <a:t>return 0; }</a:t>
            </a:r>
            <a:r>
              <a:rPr lang="en-US" dirty="0"/>
              <a:t>​</a:t>
            </a:r>
          </a:p>
          <a:p>
            <a:pPr fontAlgn="base"/>
            <a:r>
              <a:rPr lang="en-IN" dirty="0"/>
              <a:t>void display Main Menu() { </a:t>
            </a:r>
            <a:r>
              <a:rPr lang="en-US" dirty="0"/>
              <a:t>​</a:t>
            </a:r>
          </a:p>
          <a:p>
            <a:pPr fontAlgn="base"/>
            <a:r>
              <a:rPr lang="en-IN" dirty="0" err="1"/>
              <a:t>Printf</a:t>
            </a:r>
            <a:r>
              <a:rPr lang="en-IN" dirty="0"/>
              <a:t> ("\n========================================\n");</a:t>
            </a:r>
            <a:r>
              <a:rPr lang="en-US" dirty="0"/>
              <a:t>​</a:t>
            </a:r>
          </a:p>
          <a:p>
            <a:pPr fontAlgn="base"/>
            <a:r>
              <a:rPr lang="en-IN" dirty="0" err="1"/>
              <a:t>Printf</a:t>
            </a:r>
            <a:r>
              <a:rPr lang="en-IN" dirty="0"/>
              <a:t> (" QUESTION PAPERS MANAGEMENT SYSTEM\n"); </a:t>
            </a:r>
            <a:r>
              <a:rPr lang="en-IN" dirty="0" err="1"/>
              <a:t>printf</a:t>
            </a:r>
            <a:r>
              <a:rPr lang="en-IN" dirty="0"/>
              <a:t>("========================================\n"); </a:t>
            </a:r>
            <a:r>
              <a:rPr lang="en-US" dirty="0"/>
              <a:t>​</a:t>
            </a:r>
          </a:p>
          <a:p>
            <a:pPr fontAlgn="base"/>
            <a:r>
              <a:rPr lang="en-IN" dirty="0" err="1"/>
              <a:t>Printf</a:t>
            </a:r>
            <a:r>
              <a:rPr lang="en-IN" dirty="0"/>
              <a:t> ("1. Admin Login\n"); </a:t>
            </a:r>
            <a:r>
              <a:rPr lang="en-US" dirty="0"/>
              <a:t>​</a:t>
            </a:r>
          </a:p>
          <a:p>
            <a:pPr fontAlgn="base"/>
            <a:r>
              <a:rPr lang="en-IN" dirty="0" err="1"/>
              <a:t>Printf</a:t>
            </a:r>
            <a:r>
              <a:rPr lang="en-IN" dirty="0"/>
              <a:t> ("2. Student Login\n"); </a:t>
            </a:r>
            <a:r>
              <a:rPr lang="en-US" dirty="0"/>
              <a:t>​</a:t>
            </a:r>
          </a:p>
          <a:p>
            <a:pPr fontAlgn="base"/>
            <a:r>
              <a:rPr lang="en-IN" dirty="0" err="1"/>
              <a:t>Printf</a:t>
            </a:r>
            <a:r>
              <a:rPr lang="en-IN" dirty="0"/>
              <a:t> ("3. Register New Student\n"); </a:t>
            </a:r>
            <a:r>
              <a:rPr lang="en-US" dirty="0"/>
              <a:t>​</a:t>
            </a:r>
          </a:p>
          <a:p>
            <a:pPr fontAlgn="base"/>
            <a:r>
              <a:rPr lang="en-IN" dirty="0" err="1"/>
              <a:t>Printf</a:t>
            </a:r>
            <a:r>
              <a:rPr lang="en-IN" dirty="0"/>
              <a:t> ("4. Exit\n");</a:t>
            </a:r>
            <a:r>
              <a:rPr lang="en-US" dirty="0"/>
              <a:t>​</a:t>
            </a:r>
          </a:p>
          <a:p>
            <a:pPr fontAlgn="base"/>
            <a:r>
              <a:rPr lang="en-IN" dirty="0" err="1"/>
              <a:t>Printf</a:t>
            </a:r>
            <a:r>
              <a:rPr lang="en-IN" dirty="0"/>
              <a:t> ("========================================\n");}</a:t>
            </a:r>
            <a:r>
              <a:rPr lang="en-US" dirty="0"/>
              <a:t>​</a:t>
            </a:r>
          </a:p>
          <a:p>
            <a:pPr fontAlgn="base"/>
            <a:r>
              <a:rPr lang="en-IN" dirty="0"/>
              <a:t>void admin Login() { </a:t>
            </a:r>
            <a:r>
              <a:rPr lang="en-US" dirty="0"/>
              <a:t>​</a:t>
            </a:r>
          </a:p>
          <a:p>
            <a:pPr fontAlgn="base"/>
            <a:r>
              <a:rPr lang="en-IN" dirty="0"/>
              <a:t>char username[30], password[30]; </a:t>
            </a:r>
            <a:r>
              <a:rPr lang="en-US" dirty="0"/>
              <a:t>​</a:t>
            </a:r>
          </a:p>
          <a:p>
            <a:pPr fontAlgn="base"/>
            <a:r>
              <a:rPr lang="en-IN" dirty="0" err="1"/>
              <a:t>Printf</a:t>
            </a:r>
            <a:r>
              <a:rPr lang="en-IN" dirty="0"/>
              <a:t> ("\n--- ADMIN LOGIN ---\n"); </a:t>
            </a:r>
            <a:r>
              <a:rPr lang="en-US" dirty="0"/>
              <a:t>​</a:t>
            </a:r>
          </a:p>
          <a:p>
            <a:pPr fontAlgn="base"/>
            <a:r>
              <a:rPr lang="en-IN" dirty="0" err="1"/>
              <a:t>Printf</a:t>
            </a:r>
            <a:r>
              <a:rPr lang="en-IN" dirty="0"/>
              <a:t> ("Enter username: ");</a:t>
            </a:r>
            <a:r>
              <a:rPr lang="en-US" dirty="0"/>
              <a:t>​</a:t>
            </a:r>
          </a:p>
          <a:p>
            <a:pPr fontAlgn="base"/>
            <a:r>
              <a:rPr lang="en-IN" dirty="0" err="1"/>
              <a:t>Fgets</a:t>
            </a:r>
            <a:r>
              <a:rPr lang="en-IN" dirty="0"/>
              <a:t> (username, size of(username), stdin); </a:t>
            </a:r>
            <a:r>
              <a:rPr lang="en-US" dirty="0"/>
              <a:t>​</a:t>
            </a:r>
          </a:p>
          <a:p>
            <a:endParaRPr lang="en-IN" dirty="0"/>
          </a:p>
        </p:txBody>
      </p:sp>
    </p:spTree>
    <p:extLst>
      <p:ext uri="{BB962C8B-B14F-4D97-AF65-F5344CB8AC3E}">
        <p14:creationId xmlns:p14="http://schemas.microsoft.com/office/powerpoint/2010/main" val="41078638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21C34F-9878-2BA6-392F-61650BAADC7F}"/>
              </a:ext>
            </a:extLst>
          </p:cNvPr>
          <p:cNvSpPr txBox="1"/>
          <p:nvPr/>
        </p:nvSpPr>
        <p:spPr>
          <a:xfrm>
            <a:off x="198783" y="119270"/>
            <a:ext cx="11857382" cy="5632311"/>
          </a:xfrm>
          <a:prstGeom prst="rect">
            <a:avLst/>
          </a:prstGeom>
          <a:noFill/>
        </p:spPr>
        <p:txBody>
          <a:bodyPr wrap="square" rtlCol="0">
            <a:spAutoFit/>
          </a:bodyPr>
          <a:lstStyle/>
          <a:p>
            <a:pPr fontAlgn="base"/>
            <a:r>
              <a:rPr lang="en-IN" dirty="0"/>
              <a:t>password[</a:t>
            </a:r>
            <a:r>
              <a:rPr lang="en-IN" dirty="0" err="1"/>
              <a:t>strcspn</a:t>
            </a:r>
            <a:r>
              <a:rPr lang="en-IN" dirty="0"/>
              <a:t>(password, "\n")] = 0; </a:t>
            </a:r>
            <a:r>
              <a:rPr lang="en-US" dirty="0"/>
              <a:t>​</a:t>
            </a:r>
          </a:p>
          <a:p>
            <a:pPr fontAlgn="base"/>
            <a:r>
              <a:rPr lang="en-IN" dirty="0"/>
              <a:t>​</a:t>
            </a:r>
          </a:p>
          <a:p>
            <a:pPr fontAlgn="base"/>
            <a:r>
              <a:rPr lang="en-IN" dirty="0"/>
              <a:t>// Simple validation (admin/admin123) </a:t>
            </a:r>
            <a:r>
              <a:rPr lang="en-US" dirty="0"/>
              <a:t>​</a:t>
            </a:r>
          </a:p>
          <a:p>
            <a:pPr fontAlgn="base"/>
            <a:r>
              <a:rPr lang="en-IN" dirty="0"/>
              <a:t>if(</a:t>
            </a:r>
            <a:r>
              <a:rPr lang="en-IN" dirty="0" err="1"/>
              <a:t>strcmp</a:t>
            </a:r>
            <a:r>
              <a:rPr lang="en-IN" dirty="0"/>
              <a:t>(username, "admin") == 0 &amp;&amp; </a:t>
            </a:r>
            <a:r>
              <a:rPr lang="en-IN" dirty="0" err="1"/>
              <a:t>strcmp</a:t>
            </a:r>
            <a:r>
              <a:rPr lang="en-IN" dirty="0"/>
              <a:t>(password, "admin123") == 0) { </a:t>
            </a:r>
            <a:r>
              <a:rPr lang="en-US" dirty="0"/>
              <a:t>​</a:t>
            </a:r>
          </a:p>
          <a:p>
            <a:pPr fontAlgn="base"/>
            <a:r>
              <a:rPr lang="en-IN" dirty="0" err="1"/>
              <a:t>printf</a:t>
            </a:r>
            <a:r>
              <a:rPr lang="en-IN" dirty="0"/>
              <a:t>("\n✓ Login Successful!\n"); </a:t>
            </a:r>
            <a:r>
              <a:rPr lang="en-US" dirty="0"/>
              <a:t>​</a:t>
            </a:r>
          </a:p>
          <a:p>
            <a:pPr fontAlgn="base"/>
            <a:r>
              <a:rPr lang="en-IN" dirty="0"/>
              <a:t>Admin Menu(username); } </a:t>
            </a:r>
            <a:r>
              <a:rPr lang="en-US" dirty="0"/>
              <a:t>​</a:t>
            </a:r>
          </a:p>
          <a:p>
            <a:pPr fontAlgn="base"/>
            <a:r>
              <a:rPr lang="en-IN" dirty="0"/>
              <a:t>else { </a:t>
            </a:r>
            <a:r>
              <a:rPr lang="en-US" dirty="0"/>
              <a:t>​</a:t>
            </a:r>
          </a:p>
          <a:p>
            <a:pPr fontAlgn="base"/>
            <a:r>
              <a:rPr lang="en-IN" dirty="0" err="1"/>
              <a:t>printf</a:t>
            </a:r>
            <a:r>
              <a:rPr lang="en-IN" dirty="0"/>
              <a:t>("\n✗ Invalid Credentials!\n"); </a:t>
            </a:r>
            <a:r>
              <a:rPr lang="en-US" dirty="0"/>
              <a:t>​</a:t>
            </a:r>
          </a:p>
          <a:p>
            <a:pPr fontAlgn="base"/>
            <a:r>
              <a:rPr lang="en-IN" dirty="0" err="1"/>
              <a:t>printf</a:t>
            </a:r>
            <a:r>
              <a:rPr lang="en-IN" dirty="0"/>
              <a:t>("Returning to main menu...\n"); } }</a:t>
            </a:r>
            <a:r>
              <a:rPr lang="en-US" dirty="0"/>
              <a:t>​</a:t>
            </a:r>
          </a:p>
          <a:p>
            <a:pPr fontAlgn="base"/>
            <a:r>
              <a:rPr lang="en-IN" dirty="0"/>
              <a:t>void admin Menu(char *admin Username) { </a:t>
            </a:r>
            <a:r>
              <a:rPr lang="en-US" dirty="0"/>
              <a:t>​</a:t>
            </a:r>
          </a:p>
          <a:p>
            <a:pPr fontAlgn="base"/>
            <a:r>
              <a:rPr lang="en-IN" dirty="0"/>
              <a:t>int choice;</a:t>
            </a:r>
            <a:r>
              <a:rPr lang="en-US" dirty="0"/>
              <a:t>​</a:t>
            </a:r>
          </a:p>
          <a:p>
            <a:pPr fontAlgn="base"/>
            <a:r>
              <a:rPr lang="en-US" dirty="0"/>
              <a:t>while(1) { ​</a:t>
            </a:r>
          </a:p>
          <a:p>
            <a:pPr fontAlgn="base"/>
            <a:r>
              <a:rPr lang="en-US" dirty="0"/>
              <a:t>​</a:t>
            </a:r>
          </a:p>
          <a:p>
            <a:pPr fontAlgn="base"/>
            <a:r>
              <a:rPr lang="en-US" dirty="0"/>
              <a:t>// Step 5: Admin Menu ​</a:t>
            </a:r>
          </a:p>
          <a:p>
            <a:pPr fontAlgn="base"/>
            <a:r>
              <a:rPr lang="en-US" dirty="0" err="1"/>
              <a:t>printf</a:t>
            </a:r>
            <a:r>
              <a:rPr lang="en-US" dirty="0"/>
              <a:t>("\n========================================\n"); ​</a:t>
            </a:r>
          </a:p>
          <a:p>
            <a:pPr fontAlgn="base"/>
            <a:r>
              <a:rPr lang="en-US" dirty="0" err="1"/>
              <a:t>printf</a:t>
            </a:r>
            <a:r>
              <a:rPr lang="en-US" dirty="0"/>
              <a:t>(" ADMIN MENU (Logged in as: %s)\n", </a:t>
            </a:r>
            <a:r>
              <a:rPr lang="en-US" dirty="0" err="1"/>
              <a:t>adminUsername</a:t>
            </a:r>
            <a:r>
              <a:rPr lang="en-US" dirty="0"/>
              <a:t>); </a:t>
            </a:r>
            <a:r>
              <a:rPr lang="en-US" dirty="0" err="1"/>
              <a:t>printf</a:t>
            </a:r>
            <a:r>
              <a:rPr lang="en-US" dirty="0"/>
              <a:t>("========================================\n"); ​</a:t>
            </a:r>
          </a:p>
          <a:p>
            <a:pPr fontAlgn="base"/>
            <a:r>
              <a:rPr lang="en-US" dirty="0" err="1"/>
              <a:t>printf</a:t>
            </a:r>
            <a:r>
              <a:rPr lang="en-US" dirty="0"/>
              <a:t>("1. Upload Question Paper\n"); ​</a:t>
            </a:r>
          </a:p>
          <a:p>
            <a:pPr fontAlgn="base"/>
            <a:r>
              <a:rPr lang="en-US" dirty="0" err="1"/>
              <a:t>printf</a:t>
            </a:r>
            <a:r>
              <a:rPr lang="en-US" dirty="0"/>
              <a:t>("2. Delete Question Paper\n"); ​</a:t>
            </a:r>
          </a:p>
          <a:p>
            <a:pPr fontAlgn="base"/>
            <a:r>
              <a:rPr lang="en-US" dirty="0" err="1"/>
              <a:t>printf</a:t>
            </a:r>
            <a:r>
              <a:rPr lang="en-US" dirty="0"/>
              <a:t>("3. Update Question Paper\n"); </a:t>
            </a:r>
            <a:r>
              <a:rPr lang="en-IN" dirty="0"/>
              <a:t>​</a:t>
            </a:r>
          </a:p>
          <a:p>
            <a:endParaRPr lang="en-IN" dirty="0"/>
          </a:p>
        </p:txBody>
      </p:sp>
    </p:spTree>
    <p:extLst>
      <p:ext uri="{BB962C8B-B14F-4D97-AF65-F5344CB8AC3E}">
        <p14:creationId xmlns:p14="http://schemas.microsoft.com/office/powerpoint/2010/main" val="20158215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59CFC6-3F88-8490-4095-6700417D2A88}"/>
              </a:ext>
            </a:extLst>
          </p:cNvPr>
          <p:cNvSpPr txBox="1"/>
          <p:nvPr/>
        </p:nvSpPr>
        <p:spPr>
          <a:xfrm>
            <a:off x="188843" y="198783"/>
            <a:ext cx="11787809" cy="5632311"/>
          </a:xfrm>
          <a:prstGeom prst="rect">
            <a:avLst/>
          </a:prstGeom>
          <a:noFill/>
        </p:spPr>
        <p:txBody>
          <a:bodyPr wrap="square" rtlCol="0">
            <a:spAutoFit/>
          </a:bodyPr>
          <a:lstStyle/>
          <a:p>
            <a:r>
              <a:rPr lang="en-IN" dirty="0" err="1"/>
              <a:t>printf</a:t>
            </a:r>
            <a:r>
              <a:rPr lang="en-IN" dirty="0"/>
              <a:t>("4. View All Question Papers\n"); ​</a:t>
            </a:r>
          </a:p>
          <a:p>
            <a:pPr fontAlgn="base"/>
            <a:r>
              <a:rPr lang="en-IN" dirty="0" err="1"/>
              <a:t>printf</a:t>
            </a:r>
            <a:r>
              <a:rPr lang="en-IN" dirty="0"/>
              <a:t>("5. Manage Categories/Subjects\n"); </a:t>
            </a:r>
            <a:r>
              <a:rPr lang="en-US" dirty="0"/>
              <a:t>​</a:t>
            </a:r>
          </a:p>
          <a:p>
            <a:pPr fontAlgn="base"/>
            <a:r>
              <a:rPr lang="en-IN" dirty="0" err="1"/>
              <a:t>printf</a:t>
            </a:r>
            <a:r>
              <a:rPr lang="en-IN" dirty="0"/>
              <a:t>("6. View Download Statistics\n"); </a:t>
            </a:r>
            <a:r>
              <a:rPr lang="en-US" dirty="0"/>
              <a:t>​</a:t>
            </a:r>
          </a:p>
          <a:p>
            <a:pPr fontAlgn="base"/>
            <a:r>
              <a:rPr lang="en-IN" dirty="0" err="1"/>
              <a:t>printf</a:t>
            </a:r>
            <a:r>
              <a:rPr lang="en-IN" dirty="0"/>
              <a:t>("7. Logout\n"); </a:t>
            </a:r>
            <a:r>
              <a:rPr lang="en-US" dirty="0"/>
              <a:t>​</a:t>
            </a:r>
          </a:p>
          <a:p>
            <a:pPr fontAlgn="base"/>
            <a:r>
              <a:rPr lang="en-IN" dirty="0" err="1"/>
              <a:t>printf</a:t>
            </a:r>
            <a:r>
              <a:rPr lang="en-IN" dirty="0"/>
              <a:t>("========================================\n"); </a:t>
            </a:r>
            <a:r>
              <a:rPr lang="en-US" dirty="0"/>
              <a:t>​</a:t>
            </a:r>
          </a:p>
          <a:p>
            <a:pPr fontAlgn="base"/>
            <a:r>
              <a:rPr lang="en-IN" dirty="0" err="1"/>
              <a:t>printf</a:t>
            </a:r>
            <a:r>
              <a:rPr lang="en-IN" dirty="0"/>
              <a:t>("\n Enter your choice: "); </a:t>
            </a:r>
            <a:r>
              <a:rPr lang="en-US" dirty="0"/>
              <a:t>​</a:t>
            </a:r>
          </a:p>
          <a:p>
            <a:pPr fontAlgn="base"/>
            <a:r>
              <a:rPr lang="en-IN" dirty="0" err="1"/>
              <a:t>scanf</a:t>
            </a:r>
            <a:r>
              <a:rPr lang="en-IN" dirty="0"/>
              <a:t>("%d", &amp;choice); </a:t>
            </a:r>
            <a:r>
              <a:rPr lang="en-US" dirty="0"/>
              <a:t>​</a:t>
            </a:r>
          </a:p>
          <a:p>
            <a:pPr fontAlgn="base"/>
            <a:r>
              <a:rPr lang="en-IN" dirty="0"/>
              <a:t>Clear Input Buffer(); </a:t>
            </a:r>
            <a:r>
              <a:rPr lang="en-US" dirty="0"/>
              <a:t>​</a:t>
            </a:r>
          </a:p>
          <a:p>
            <a:pPr fontAlgn="base"/>
            <a:r>
              <a:rPr lang="en-IN" dirty="0"/>
              <a:t>​</a:t>
            </a:r>
          </a:p>
          <a:p>
            <a:pPr fontAlgn="base"/>
            <a:r>
              <a:rPr lang="en-US" dirty="0"/>
              <a:t>switch(choice) { ​</a:t>
            </a:r>
          </a:p>
          <a:p>
            <a:pPr fontAlgn="base"/>
            <a:r>
              <a:rPr lang="en-US" dirty="0"/>
              <a:t>case 1: ​</a:t>
            </a:r>
          </a:p>
          <a:p>
            <a:pPr fontAlgn="base"/>
            <a:r>
              <a:rPr lang="en-US" dirty="0"/>
              <a:t>Upload Question Paper(); ​</a:t>
            </a:r>
          </a:p>
          <a:p>
            <a:pPr fontAlgn="base"/>
            <a:r>
              <a:rPr lang="en-US" dirty="0"/>
              <a:t>break; ​</a:t>
            </a:r>
          </a:p>
          <a:p>
            <a:pPr fontAlgn="base"/>
            <a:r>
              <a:rPr lang="en-US" dirty="0"/>
              <a:t>case 2: ​</a:t>
            </a:r>
          </a:p>
          <a:p>
            <a:pPr fontAlgn="base"/>
            <a:r>
              <a:rPr lang="en-US" dirty="0"/>
              <a:t>Delete Question Paper(); ​</a:t>
            </a:r>
          </a:p>
          <a:p>
            <a:pPr fontAlgn="base"/>
            <a:r>
              <a:rPr lang="en-US" dirty="0"/>
              <a:t>break; ​</a:t>
            </a:r>
          </a:p>
          <a:p>
            <a:pPr fontAlgn="base"/>
            <a:r>
              <a:rPr lang="en-US" dirty="0"/>
              <a:t>case 3: ​</a:t>
            </a:r>
          </a:p>
          <a:p>
            <a:pPr fontAlgn="base"/>
            <a:r>
              <a:rPr lang="en-US" dirty="0"/>
              <a:t>Update Question Paper(); ​</a:t>
            </a:r>
          </a:p>
          <a:p>
            <a:pPr fontAlgn="base"/>
            <a:r>
              <a:rPr lang="en-US" dirty="0"/>
              <a:t>break; </a:t>
            </a:r>
            <a:r>
              <a:rPr lang="en-IN" dirty="0"/>
              <a:t>​</a:t>
            </a:r>
          </a:p>
          <a:p>
            <a:endParaRPr lang="en-IN" dirty="0"/>
          </a:p>
        </p:txBody>
      </p:sp>
    </p:spTree>
    <p:extLst>
      <p:ext uri="{BB962C8B-B14F-4D97-AF65-F5344CB8AC3E}">
        <p14:creationId xmlns:p14="http://schemas.microsoft.com/office/powerpoint/2010/main" val="16652634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A7719A-F712-D134-DCAD-4AF2ED94B768}"/>
              </a:ext>
            </a:extLst>
          </p:cNvPr>
          <p:cNvSpPr txBox="1"/>
          <p:nvPr/>
        </p:nvSpPr>
        <p:spPr>
          <a:xfrm>
            <a:off x="109330" y="0"/>
            <a:ext cx="11748053" cy="5909310"/>
          </a:xfrm>
          <a:prstGeom prst="rect">
            <a:avLst/>
          </a:prstGeom>
          <a:noFill/>
        </p:spPr>
        <p:txBody>
          <a:bodyPr wrap="square" rtlCol="0">
            <a:spAutoFit/>
          </a:bodyPr>
          <a:lstStyle/>
          <a:p>
            <a:pPr fontAlgn="base"/>
            <a:r>
              <a:rPr lang="en-IN" dirty="0"/>
              <a:t>case 4: </a:t>
            </a:r>
            <a:r>
              <a:rPr lang="en-US" dirty="0"/>
              <a:t>​</a:t>
            </a:r>
          </a:p>
          <a:p>
            <a:pPr fontAlgn="base"/>
            <a:r>
              <a:rPr lang="en-IN" dirty="0"/>
              <a:t>View All Question Papers(); </a:t>
            </a:r>
            <a:r>
              <a:rPr lang="en-US" dirty="0"/>
              <a:t>​</a:t>
            </a:r>
          </a:p>
          <a:p>
            <a:pPr fontAlgn="base"/>
            <a:r>
              <a:rPr lang="en-IN" dirty="0"/>
              <a:t>break; </a:t>
            </a:r>
            <a:r>
              <a:rPr lang="en-US" dirty="0"/>
              <a:t>​</a:t>
            </a:r>
          </a:p>
          <a:p>
            <a:pPr fontAlgn="base"/>
            <a:r>
              <a:rPr lang="en-IN" dirty="0"/>
              <a:t>case 5: </a:t>
            </a:r>
            <a:r>
              <a:rPr lang="en-US" dirty="0"/>
              <a:t>​</a:t>
            </a:r>
          </a:p>
          <a:p>
            <a:pPr fontAlgn="base"/>
            <a:r>
              <a:rPr lang="en-IN" dirty="0"/>
              <a:t>Manage Categories(); </a:t>
            </a:r>
            <a:r>
              <a:rPr lang="en-US" dirty="0"/>
              <a:t>​</a:t>
            </a:r>
          </a:p>
          <a:p>
            <a:pPr fontAlgn="base"/>
            <a:r>
              <a:rPr lang="en-IN" dirty="0"/>
              <a:t>break; </a:t>
            </a:r>
            <a:r>
              <a:rPr lang="en-US" dirty="0"/>
              <a:t>​</a:t>
            </a:r>
          </a:p>
          <a:p>
            <a:pPr fontAlgn="base"/>
            <a:r>
              <a:rPr lang="en-IN" dirty="0"/>
              <a:t>case 6: </a:t>
            </a:r>
            <a:r>
              <a:rPr lang="en-US" dirty="0"/>
              <a:t>​</a:t>
            </a:r>
          </a:p>
          <a:p>
            <a:pPr fontAlgn="base"/>
            <a:r>
              <a:rPr lang="en-IN" dirty="0"/>
              <a:t>View Download Statistics(); </a:t>
            </a:r>
            <a:r>
              <a:rPr lang="en-US" dirty="0"/>
              <a:t>​</a:t>
            </a:r>
          </a:p>
          <a:p>
            <a:pPr fontAlgn="base"/>
            <a:r>
              <a:rPr lang="en-IN" dirty="0"/>
              <a:t>break; </a:t>
            </a:r>
            <a:r>
              <a:rPr lang="en-US" dirty="0"/>
              <a:t>​</a:t>
            </a:r>
          </a:p>
          <a:p>
            <a:pPr fontAlgn="base"/>
            <a:r>
              <a:rPr lang="en-IN" dirty="0"/>
              <a:t>case 7: </a:t>
            </a:r>
            <a:r>
              <a:rPr lang="en-US" dirty="0"/>
              <a:t>​</a:t>
            </a:r>
          </a:p>
          <a:p>
            <a:pPr fontAlgn="base"/>
            <a:r>
              <a:rPr lang="en-IN" dirty="0" err="1"/>
              <a:t>printf</a:t>
            </a:r>
            <a:r>
              <a:rPr lang="en-IN" dirty="0"/>
              <a:t>("\n Logging out...\n"); </a:t>
            </a:r>
            <a:r>
              <a:rPr lang="en-US" dirty="0"/>
              <a:t>​</a:t>
            </a:r>
          </a:p>
          <a:p>
            <a:pPr fontAlgn="base"/>
            <a:r>
              <a:rPr lang="en-IN" dirty="0"/>
              <a:t>return; </a:t>
            </a:r>
            <a:r>
              <a:rPr lang="en-US" dirty="0"/>
              <a:t>​</a:t>
            </a:r>
          </a:p>
          <a:p>
            <a:pPr fontAlgn="base"/>
            <a:r>
              <a:rPr lang="en-IN" dirty="0"/>
              <a:t>default: </a:t>
            </a:r>
            <a:r>
              <a:rPr lang="en-US" dirty="0"/>
              <a:t>​</a:t>
            </a:r>
          </a:p>
          <a:p>
            <a:pPr fontAlgn="base"/>
            <a:r>
              <a:rPr lang="en-IN" dirty="0" err="1"/>
              <a:t>printf</a:t>
            </a:r>
            <a:r>
              <a:rPr lang="en-IN" dirty="0"/>
              <a:t>("\n Invalid choice!\n"); </a:t>
            </a:r>
            <a:r>
              <a:rPr lang="en-US" dirty="0"/>
              <a:t>​</a:t>
            </a:r>
          </a:p>
          <a:p>
            <a:pPr fontAlgn="base"/>
            <a:r>
              <a:rPr lang="en-IN" dirty="0"/>
              <a:t>} </a:t>
            </a:r>
            <a:r>
              <a:rPr lang="en-US" dirty="0"/>
              <a:t>​</a:t>
            </a:r>
          </a:p>
          <a:p>
            <a:pPr fontAlgn="base"/>
            <a:r>
              <a:rPr lang="en-IN" dirty="0"/>
              <a:t>}</a:t>
            </a:r>
            <a:r>
              <a:rPr lang="en-US" dirty="0"/>
              <a:t>​</a:t>
            </a:r>
          </a:p>
          <a:p>
            <a:pPr fontAlgn="base"/>
            <a:r>
              <a:rPr lang="en-IN" dirty="0"/>
              <a:t>}</a:t>
            </a:r>
            <a:r>
              <a:rPr lang="en-US" dirty="0"/>
              <a:t>​</a:t>
            </a:r>
          </a:p>
          <a:p>
            <a:pPr fontAlgn="base"/>
            <a:r>
              <a:rPr lang="en-IN" dirty="0"/>
              <a:t>void upload Question Paper() {</a:t>
            </a:r>
            <a:r>
              <a:rPr lang="en-US" dirty="0"/>
              <a:t>​</a:t>
            </a:r>
          </a:p>
          <a:p>
            <a:pPr fontAlgn="base"/>
            <a:r>
              <a:rPr lang="en-IN" dirty="0"/>
              <a:t>Question Paper new Paper; </a:t>
            </a:r>
            <a:r>
              <a:rPr lang="en-US" dirty="0"/>
              <a:t>​</a:t>
            </a:r>
          </a:p>
          <a:p>
            <a:pPr fontAlgn="base"/>
            <a:r>
              <a:rPr lang="en-IN" dirty="0" err="1"/>
              <a:t>printf</a:t>
            </a:r>
            <a:r>
              <a:rPr lang="en-IN" dirty="0"/>
              <a:t>("\n--- UPLOAD QUESTION PAPER ---\n"); </a:t>
            </a:r>
            <a:r>
              <a:rPr lang="en-US" dirty="0"/>
              <a:t>​</a:t>
            </a:r>
          </a:p>
          <a:p>
            <a:endParaRPr lang="en-IN" dirty="0"/>
          </a:p>
        </p:txBody>
      </p:sp>
    </p:spTree>
    <p:extLst>
      <p:ext uri="{BB962C8B-B14F-4D97-AF65-F5344CB8AC3E}">
        <p14:creationId xmlns:p14="http://schemas.microsoft.com/office/powerpoint/2010/main" val="5076650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E7DC2A-9271-3E5C-3A2B-8FEBFFD80512}"/>
              </a:ext>
            </a:extLst>
          </p:cNvPr>
          <p:cNvSpPr txBox="1"/>
          <p:nvPr/>
        </p:nvSpPr>
        <p:spPr>
          <a:xfrm>
            <a:off x="218661" y="129209"/>
            <a:ext cx="11827565" cy="5909310"/>
          </a:xfrm>
          <a:prstGeom prst="rect">
            <a:avLst/>
          </a:prstGeom>
          <a:noFill/>
        </p:spPr>
        <p:txBody>
          <a:bodyPr wrap="square" rtlCol="0">
            <a:spAutoFit/>
          </a:bodyPr>
          <a:lstStyle/>
          <a:p>
            <a:pPr fontAlgn="base"/>
            <a:r>
              <a:rPr lang="en-IN" dirty="0" err="1"/>
              <a:t>printf</a:t>
            </a:r>
            <a:r>
              <a:rPr lang="en-IN" dirty="0"/>
              <a:t>("Enter Subject Name: "); </a:t>
            </a:r>
            <a:r>
              <a:rPr lang="en-US" dirty="0"/>
              <a:t>​</a:t>
            </a:r>
          </a:p>
          <a:p>
            <a:pPr fontAlgn="base"/>
            <a:r>
              <a:rPr lang="en-IN" dirty="0"/>
              <a:t>F gets(new Paper. subject, size of(new Paper . subject ), stdin); </a:t>
            </a:r>
            <a:r>
              <a:rPr lang="en-US" dirty="0"/>
              <a:t>​</a:t>
            </a:r>
          </a:p>
          <a:p>
            <a:pPr fontAlgn="base"/>
            <a:r>
              <a:rPr lang="en-IN" dirty="0"/>
              <a:t>New Paper. subject [</a:t>
            </a:r>
            <a:r>
              <a:rPr lang="en-IN" dirty="0" err="1"/>
              <a:t>strcspn</a:t>
            </a:r>
            <a:r>
              <a:rPr lang="en-IN" dirty="0"/>
              <a:t>(new Paper . subject, "\n")] = 0; </a:t>
            </a:r>
            <a:r>
              <a:rPr lang="en-US" dirty="0"/>
              <a:t>​</a:t>
            </a:r>
          </a:p>
          <a:p>
            <a:pPr fontAlgn="base"/>
            <a:r>
              <a:rPr lang="en-US" dirty="0"/>
              <a:t>​</a:t>
            </a:r>
          </a:p>
          <a:p>
            <a:pPr fontAlgn="base"/>
            <a:r>
              <a:rPr lang="en-IN" dirty="0" err="1"/>
              <a:t>printf</a:t>
            </a:r>
            <a:r>
              <a:rPr lang="en-IN" dirty="0"/>
              <a:t>("Enter Year: "); </a:t>
            </a:r>
            <a:r>
              <a:rPr lang="en-US" dirty="0"/>
              <a:t>​</a:t>
            </a:r>
          </a:p>
          <a:p>
            <a:pPr fontAlgn="base"/>
            <a:r>
              <a:rPr lang="en-IN" dirty="0" err="1"/>
              <a:t>scanf</a:t>
            </a:r>
            <a:r>
              <a:rPr lang="en-IN" dirty="0"/>
              <a:t>("%d", &amp;new Paper. year); </a:t>
            </a:r>
            <a:r>
              <a:rPr lang="en-US" dirty="0"/>
              <a:t>​</a:t>
            </a:r>
          </a:p>
          <a:p>
            <a:pPr fontAlgn="base"/>
            <a:r>
              <a:rPr lang="en-IN" dirty="0"/>
              <a:t>Clear Input Buffer(); </a:t>
            </a:r>
            <a:r>
              <a:rPr lang="en-US" dirty="0"/>
              <a:t>​</a:t>
            </a:r>
          </a:p>
          <a:p>
            <a:pPr fontAlgn="base"/>
            <a:r>
              <a:rPr lang="en-IN" dirty="0"/>
              <a:t>​</a:t>
            </a:r>
          </a:p>
          <a:p>
            <a:pPr fontAlgn="base"/>
            <a:r>
              <a:rPr lang="en-IN" dirty="0" err="1"/>
              <a:t>printf</a:t>
            </a:r>
            <a:r>
              <a:rPr lang="en-IN" dirty="0"/>
              <a:t>("Enter Semester: "); </a:t>
            </a:r>
            <a:r>
              <a:rPr lang="en-US" dirty="0"/>
              <a:t>​</a:t>
            </a:r>
          </a:p>
          <a:p>
            <a:pPr fontAlgn="base"/>
            <a:r>
              <a:rPr lang="en-IN" dirty="0"/>
              <a:t>F gets(new Paper . semester, size of (new Paper. semester), stdin); </a:t>
            </a:r>
            <a:r>
              <a:rPr lang="en-US" dirty="0"/>
              <a:t>​</a:t>
            </a:r>
          </a:p>
          <a:p>
            <a:pPr fontAlgn="base"/>
            <a:r>
              <a:rPr lang="en-IN" dirty="0"/>
              <a:t>New Paper .semester [</a:t>
            </a:r>
            <a:r>
              <a:rPr lang="en-IN" dirty="0" err="1"/>
              <a:t>strcspn</a:t>
            </a:r>
            <a:r>
              <a:rPr lang="en-IN" dirty="0"/>
              <a:t> (new Paper. semester, "\n")] = 0;</a:t>
            </a:r>
            <a:r>
              <a:rPr lang="en-US" dirty="0"/>
              <a:t>​</a:t>
            </a:r>
          </a:p>
          <a:p>
            <a:pPr fontAlgn="base"/>
            <a:r>
              <a:rPr lang="en-IN" dirty="0"/>
              <a:t>​</a:t>
            </a:r>
          </a:p>
          <a:p>
            <a:pPr fontAlgn="base"/>
            <a:r>
              <a:rPr lang="en-IN" dirty="0" err="1"/>
              <a:t>printf</a:t>
            </a:r>
            <a:r>
              <a:rPr lang="en-IN" dirty="0"/>
              <a:t>("Enter Exam Type (Mid/Final/Model): "); </a:t>
            </a:r>
            <a:r>
              <a:rPr lang="en-US" dirty="0"/>
              <a:t>​</a:t>
            </a:r>
          </a:p>
          <a:p>
            <a:pPr fontAlgn="base"/>
            <a:r>
              <a:rPr lang="en-IN" dirty="0"/>
              <a:t>F gets(new Paper. Exam Type, </a:t>
            </a:r>
            <a:r>
              <a:rPr lang="en-US" dirty="0"/>
              <a:t>​</a:t>
            </a:r>
          </a:p>
          <a:p>
            <a:pPr fontAlgn="base"/>
            <a:r>
              <a:rPr lang="en-IN" dirty="0"/>
              <a:t>Size of(new Paper. Exam Type), stdin); </a:t>
            </a:r>
            <a:r>
              <a:rPr lang="en-US" dirty="0"/>
              <a:t>​</a:t>
            </a:r>
          </a:p>
          <a:p>
            <a:pPr fontAlgn="base"/>
            <a:r>
              <a:rPr lang="en-IN" dirty="0"/>
              <a:t>New Paper. Exam Type[</a:t>
            </a:r>
            <a:r>
              <a:rPr lang="en-IN" dirty="0" err="1"/>
              <a:t>strcspn</a:t>
            </a:r>
            <a:r>
              <a:rPr lang="en-IN" dirty="0"/>
              <a:t>(new Paper. exam Type, "\n")] = 0;</a:t>
            </a:r>
            <a:r>
              <a:rPr lang="en-US" dirty="0"/>
              <a:t>​</a:t>
            </a:r>
          </a:p>
          <a:p>
            <a:pPr fontAlgn="base"/>
            <a:r>
              <a:rPr lang="en-IN" dirty="0"/>
              <a:t>​</a:t>
            </a:r>
          </a:p>
          <a:p>
            <a:pPr fontAlgn="base"/>
            <a:r>
              <a:rPr lang="en-US" dirty="0" err="1"/>
              <a:t>printf</a:t>
            </a:r>
            <a:r>
              <a:rPr lang="en-US" dirty="0"/>
              <a:t>("Enter Department: "); ​</a:t>
            </a:r>
          </a:p>
          <a:p>
            <a:pPr fontAlgn="base"/>
            <a:r>
              <a:rPr lang="en-US" dirty="0"/>
              <a:t>F gets(new Paper . department, ​</a:t>
            </a:r>
          </a:p>
          <a:p>
            <a:pPr fontAlgn="base"/>
            <a:r>
              <a:rPr lang="en-US" dirty="0"/>
              <a:t>Size of (new Paper . department), stdin); ​</a:t>
            </a:r>
          </a:p>
          <a:p>
            <a:endParaRPr lang="en-IN" dirty="0"/>
          </a:p>
        </p:txBody>
      </p:sp>
    </p:spTree>
    <p:extLst>
      <p:ext uri="{BB962C8B-B14F-4D97-AF65-F5344CB8AC3E}">
        <p14:creationId xmlns:p14="http://schemas.microsoft.com/office/powerpoint/2010/main" val="31760687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BAFB87-1E7C-C62F-BE36-401460827C0C}"/>
              </a:ext>
            </a:extLst>
          </p:cNvPr>
          <p:cNvSpPr txBox="1"/>
          <p:nvPr/>
        </p:nvSpPr>
        <p:spPr>
          <a:xfrm>
            <a:off x="0" y="178904"/>
            <a:ext cx="11926957" cy="5355312"/>
          </a:xfrm>
          <a:prstGeom prst="rect">
            <a:avLst/>
          </a:prstGeom>
          <a:noFill/>
        </p:spPr>
        <p:txBody>
          <a:bodyPr wrap="square" rtlCol="0">
            <a:spAutoFit/>
          </a:bodyPr>
          <a:lstStyle/>
          <a:p>
            <a:pPr fontAlgn="base"/>
            <a:r>
              <a:rPr lang="en-IN" dirty="0"/>
              <a:t>New Paper. department[</a:t>
            </a:r>
            <a:r>
              <a:rPr lang="en-IN" dirty="0" err="1"/>
              <a:t>strcspn</a:t>
            </a:r>
            <a:r>
              <a:rPr lang="en-IN" dirty="0"/>
              <a:t>( new Paper. department, "\n")] = 0; </a:t>
            </a:r>
            <a:r>
              <a:rPr lang="en-US" dirty="0"/>
              <a:t>​</a:t>
            </a:r>
          </a:p>
          <a:p>
            <a:pPr fontAlgn="base"/>
            <a:r>
              <a:rPr lang="en-IN" dirty="0"/>
              <a:t>​</a:t>
            </a:r>
          </a:p>
          <a:p>
            <a:pPr fontAlgn="base"/>
            <a:r>
              <a:rPr lang="en-IN" dirty="0" err="1"/>
              <a:t>printf</a:t>
            </a:r>
            <a:r>
              <a:rPr lang="en-IN" dirty="0"/>
              <a:t>("Enter Regulation: "); </a:t>
            </a:r>
            <a:r>
              <a:rPr lang="en-US" dirty="0"/>
              <a:t>​</a:t>
            </a:r>
          </a:p>
          <a:p>
            <a:pPr fontAlgn="base"/>
            <a:r>
              <a:rPr lang="en-IN" dirty="0"/>
              <a:t>F gets (new Paper. regulation, </a:t>
            </a:r>
            <a:r>
              <a:rPr lang="en-US" dirty="0"/>
              <a:t>​</a:t>
            </a:r>
          </a:p>
          <a:p>
            <a:pPr fontAlgn="base"/>
            <a:r>
              <a:rPr lang="en-IN" dirty="0"/>
              <a:t>Size of(new Paper. regulation), stdin); </a:t>
            </a:r>
            <a:r>
              <a:rPr lang="en-US" dirty="0"/>
              <a:t>​</a:t>
            </a:r>
          </a:p>
          <a:p>
            <a:pPr fontAlgn="base"/>
            <a:r>
              <a:rPr lang="en-IN" dirty="0"/>
              <a:t>New Paper. regulation[</a:t>
            </a:r>
            <a:r>
              <a:rPr lang="en-IN" dirty="0" err="1"/>
              <a:t>strcspn</a:t>
            </a:r>
            <a:r>
              <a:rPr lang="en-IN" dirty="0"/>
              <a:t>(new Paper. regulation, "\n")] = 0;</a:t>
            </a:r>
            <a:r>
              <a:rPr lang="en-US" dirty="0"/>
              <a:t>​</a:t>
            </a:r>
          </a:p>
          <a:p>
            <a:pPr fontAlgn="base"/>
            <a:r>
              <a:rPr lang="en-IN" dirty="0"/>
              <a:t>​</a:t>
            </a:r>
          </a:p>
          <a:p>
            <a:pPr fontAlgn="base"/>
            <a:r>
              <a:rPr lang="en-IN" dirty="0" err="1"/>
              <a:t>printf</a:t>
            </a:r>
            <a:r>
              <a:rPr lang="en-IN" dirty="0"/>
              <a:t>("Enter PDF filename: "); </a:t>
            </a:r>
            <a:r>
              <a:rPr lang="en-US" dirty="0"/>
              <a:t>​</a:t>
            </a:r>
          </a:p>
          <a:p>
            <a:pPr fontAlgn="base"/>
            <a:r>
              <a:rPr lang="en-IN" dirty="0"/>
              <a:t>F gets(new Paper. filename, size of(new Paper. filename), stdin); new Paper . filename[</a:t>
            </a:r>
            <a:r>
              <a:rPr lang="en-IN" dirty="0" err="1"/>
              <a:t>strcspn</a:t>
            </a:r>
            <a:r>
              <a:rPr lang="en-IN" dirty="0"/>
              <a:t>(new Paper. filename, "\n")] = 0;</a:t>
            </a:r>
            <a:r>
              <a:rPr lang="en-US" dirty="0"/>
              <a:t>​</a:t>
            </a:r>
          </a:p>
          <a:p>
            <a:pPr fontAlgn="base"/>
            <a:r>
              <a:rPr lang="en-IN" dirty="0"/>
              <a:t>​</a:t>
            </a:r>
          </a:p>
          <a:p>
            <a:pPr fontAlgn="base"/>
            <a:r>
              <a:rPr lang="en-IN" dirty="0"/>
              <a:t>// Validate file format (PDF) </a:t>
            </a:r>
            <a:r>
              <a:rPr lang="en-US" dirty="0"/>
              <a:t>​</a:t>
            </a:r>
          </a:p>
          <a:p>
            <a:pPr fontAlgn="base"/>
            <a:r>
              <a:rPr lang="en-IN" dirty="0"/>
              <a:t>if(</a:t>
            </a:r>
            <a:r>
              <a:rPr lang="en-IN" dirty="0" err="1"/>
              <a:t>strstr</a:t>
            </a:r>
            <a:r>
              <a:rPr lang="en-IN" dirty="0"/>
              <a:t>(new Paper . file name, ".pdf") == NULL) { </a:t>
            </a:r>
            <a:r>
              <a:rPr lang="en-US" dirty="0"/>
              <a:t>​</a:t>
            </a:r>
          </a:p>
          <a:p>
            <a:pPr fontAlgn="base"/>
            <a:r>
              <a:rPr lang="en-IN" dirty="0" err="1"/>
              <a:t>printf</a:t>
            </a:r>
            <a:r>
              <a:rPr lang="en-IN" dirty="0"/>
              <a:t>("\n✗ Invalid file format! Only PDF files allowed.\n"); </a:t>
            </a:r>
            <a:r>
              <a:rPr lang="en-US" dirty="0"/>
              <a:t>​</a:t>
            </a:r>
          </a:p>
          <a:p>
            <a:pPr fontAlgn="base"/>
            <a:r>
              <a:rPr lang="en-IN" dirty="0"/>
              <a:t>return; } </a:t>
            </a:r>
            <a:r>
              <a:rPr lang="en-US" dirty="0"/>
              <a:t>​</a:t>
            </a:r>
          </a:p>
          <a:p>
            <a:pPr fontAlgn="base"/>
            <a:r>
              <a:rPr lang="en-IN" dirty="0"/>
              <a:t>​</a:t>
            </a:r>
          </a:p>
          <a:p>
            <a:pPr fontAlgn="base"/>
            <a:r>
              <a:rPr lang="en-IN" dirty="0"/>
              <a:t>// Generate unique paper ID </a:t>
            </a:r>
            <a:r>
              <a:rPr lang="en-US" dirty="0"/>
              <a:t>​</a:t>
            </a:r>
          </a:p>
          <a:p>
            <a:pPr fontAlgn="base"/>
            <a:r>
              <a:rPr lang="en-IN" dirty="0"/>
              <a:t>Generate Paper ID(new Paper. paper ID); </a:t>
            </a:r>
            <a:r>
              <a:rPr lang="en-US" dirty="0"/>
              <a:t>​</a:t>
            </a:r>
          </a:p>
          <a:p>
            <a:pPr fontAlgn="base"/>
            <a:r>
              <a:rPr lang="en-IN" dirty="0"/>
              <a:t>New Paper . Download Count = 0;</a:t>
            </a:r>
            <a:r>
              <a:rPr lang="en-US" dirty="0"/>
              <a:t>​</a:t>
            </a:r>
          </a:p>
          <a:p>
            <a:r>
              <a:rPr lang="en-IN" dirty="0"/>
              <a:t> </a:t>
            </a:r>
          </a:p>
        </p:txBody>
      </p:sp>
    </p:spTree>
    <p:extLst>
      <p:ext uri="{BB962C8B-B14F-4D97-AF65-F5344CB8AC3E}">
        <p14:creationId xmlns:p14="http://schemas.microsoft.com/office/powerpoint/2010/main" val="5240375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394681-355A-574D-67CE-1FE111E55BBB}"/>
              </a:ext>
            </a:extLst>
          </p:cNvPr>
          <p:cNvSpPr txBox="1"/>
          <p:nvPr/>
        </p:nvSpPr>
        <p:spPr>
          <a:xfrm>
            <a:off x="218661" y="327991"/>
            <a:ext cx="11698356" cy="5632311"/>
          </a:xfrm>
          <a:prstGeom prst="rect">
            <a:avLst/>
          </a:prstGeom>
          <a:noFill/>
        </p:spPr>
        <p:txBody>
          <a:bodyPr wrap="square" rtlCol="0">
            <a:spAutoFit/>
          </a:bodyPr>
          <a:lstStyle/>
          <a:p>
            <a:pPr fontAlgn="base"/>
            <a:r>
              <a:rPr lang="en-IN" dirty="0"/>
              <a:t>New Paper . department[</a:t>
            </a:r>
            <a:r>
              <a:rPr lang="en-IN" dirty="0" err="1"/>
              <a:t>strcspn</a:t>
            </a:r>
            <a:r>
              <a:rPr lang="en-IN" dirty="0"/>
              <a:t>(new Paper . department, "\n")] = 0; </a:t>
            </a:r>
            <a:r>
              <a:rPr lang="en-US" dirty="0"/>
              <a:t>​</a:t>
            </a:r>
          </a:p>
          <a:p>
            <a:pPr fontAlgn="base"/>
            <a:r>
              <a:rPr lang="en-IN" dirty="0"/>
              <a:t>​</a:t>
            </a:r>
          </a:p>
          <a:p>
            <a:pPr fontAlgn="base"/>
            <a:r>
              <a:rPr lang="en-IN" dirty="0" err="1"/>
              <a:t>printf</a:t>
            </a:r>
            <a:r>
              <a:rPr lang="en-IN" dirty="0"/>
              <a:t>("Enter Regulation: "); </a:t>
            </a:r>
            <a:r>
              <a:rPr lang="en-US" dirty="0"/>
              <a:t>​</a:t>
            </a:r>
          </a:p>
          <a:p>
            <a:pPr fontAlgn="base"/>
            <a:r>
              <a:rPr lang="en-IN" dirty="0" err="1"/>
              <a:t>fgets</a:t>
            </a:r>
            <a:r>
              <a:rPr lang="en-IN" dirty="0"/>
              <a:t>(new Paper. regulation, </a:t>
            </a:r>
            <a:r>
              <a:rPr lang="en-US" dirty="0"/>
              <a:t>​</a:t>
            </a:r>
          </a:p>
          <a:p>
            <a:pPr fontAlgn="base"/>
            <a:r>
              <a:rPr lang="en-IN" dirty="0"/>
              <a:t>Size of(new Paper . regulation), stdin); </a:t>
            </a:r>
            <a:r>
              <a:rPr lang="en-US" dirty="0"/>
              <a:t>​</a:t>
            </a:r>
          </a:p>
          <a:p>
            <a:pPr fontAlgn="base"/>
            <a:r>
              <a:rPr lang="en-IN" dirty="0"/>
              <a:t>New Paper . regulation[</a:t>
            </a:r>
            <a:r>
              <a:rPr lang="en-IN" dirty="0" err="1"/>
              <a:t>strcspn</a:t>
            </a:r>
            <a:r>
              <a:rPr lang="en-IN" dirty="0"/>
              <a:t>(new Paper . regulation, "\n")] = 0;</a:t>
            </a:r>
            <a:r>
              <a:rPr lang="en-US" dirty="0"/>
              <a:t>​</a:t>
            </a:r>
          </a:p>
          <a:p>
            <a:pPr fontAlgn="base"/>
            <a:r>
              <a:rPr lang="en-IN" dirty="0"/>
              <a:t>​</a:t>
            </a:r>
          </a:p>
          <a:p>
            <a:pPr fontAlgn="base"/>
            <a:r>
              <a:rPr lang="en-IN" dirty="0" err="1"/>
              <a:t>printf</a:t>
            </a:r>
            <a:r>
              <a:rPr lang="en-IN" dirty="0"/>
              <a:t>("Enter PDF filename: "); </a:t>
            </a:r>
            <a:r>
              <a:rPr lang="en-US" dirty="0"/>
              <a:t>​</a:t>
            </a:r>
          </a:p>
          <a:p>
            <a:pPr fontAlgn="base"/>
            <a:r>
              <a:rPr lang="en-IN" dirty="0"/>
              <a:t>F gets(new Paper . filename, size of(new Paper . filename), stdin); new Paper . filename[</a:t>
            </a:r>
            <a:r>
              <a:rPr lang="en-IN" dirty="0" err="1"/>
              <a:t>strcspn</a:t>
            </a:r>
            <a:r>
              <a:rPr lang="en-IN" dirty="0"/>
              <a:t>(new Paper . filename, "\n")] = 0;</a:t>
            </a:r>
            <a:r>
              <a:rPr lang="en-US" dirty="0"/>
              <a:t>​</a:t>
            </a:r>
          </a:p>
          <a:p>
            <a:pPr fontAlgn="base"/>
            <a:r>
              <a:rPr lang="en-IN" dirty="0"/>
              <a:t>​</a:t>
            </a:r>
          </a:p>
          <a:p>
            <a:pPr fontAlgn="base"/>
            <a:r>
              <a:rPr lang="en-IN" dirty="0"/>
              <a:t>// Validate file format (PDF) </a:t>
            </a:r>
            <a:r>
              <a:rPr lang="en-US" dirty="0"/>
              <a:t>​</a:t>
            </a:r>
          </a:p>
          <a:p>
            <a:pPr fontAlgn="base"/>
            <a:r>
              <a:rPr lang="en-IN" dirty="0"/>
              <a:t>if(</a:t>
            </a:r>
            <a:r>
              <a:rPr lang="en-IN" dirty="0" err="1"/>
              <a:t>strstr</a:t>
            </a:r>
            <a:r>
              <a:rPr lang="en-IN" dirty="0"/>
              <a:t>(new Paper . filename, ".pdf") == NULL) { </a:t>
            </a:r>
            <a:r>
              <a:rPr lang="en-US" dirty="0"/>
              <a:t>​</a:t>
            </a:r>
          </a:p>
          <a:p>
            <a:pPr fontAlgn="base"/>
            <a:r>
              <a:rPr lang="en-IN" dirty="0" err="1"/>
              <a:t>printf</a:t>
            </a:r>
            <a:r>
              <a:rPr lang="en-IN" dirty="0"/>
              <a:t>("\n✗ Invalid file format! Only PDF files allowed.\n"); </a:t>
            </a:r>
            <a:r>
              <a:rPr lang="en-US" dirty="0"/>
              <a:t>​</a:t>
            </a:r>
          </a:p>
          <a:p>
            <a:pPr fontAlgn="base"/>
            <a:r>
              <a:rPr lang="en-IN" dirty="0"/>
              <a:t>return; } </a:t>
            </a:r>
            <a:r>
              <a:rPr lang="en-US" dirty="0"/>
              <a:t>​</a:t>
            </a:r>
          </a:p>
          <a:p>
            <a:pPr fontAlgn="base"/>
            <a:r>
              <a:rPr lang="en-IN" dirty="0"/>
              <a:t>​</a:t>
            </a:r>
          </a:p>
          <a:p>
            <a:pPr fontAlgn="base"/>
            <a:r>
              <a:rPr lang="en-IN" dirty="0"/>
              <a:t>// Generate unique paper ID </a:t>
            </a:r>
            <a:r>
              <a:rPr lang="en-US" dirty="0"/>
              <a:t>​</a:t>
            </a:r>
          </a:p>
          <a:p>
            <a:pPr fontAlgn="base"/>
            <a:r>
              <a:rPr lang="en-IN" dirty="0"/>
              <a:t>Generate Paper ID(new Paper. Paper ID); </a:t>
            </a:r>
            <a:r>
              <a:rPr lang="en-US" dirty="0"/>
              <a:t>​</a:t>
            </a:r>
          </a:p>
          <a:p>
            <a:pPr fontAlgn="base"/>
            <a:r>
              <a:rPr lang="en-IN" dirty="0"/>
              <a:t>New Paper . download Count = 0;</a:t>
            </a:r>
            <a:r>
              <a:rPr lang="en-US" dirty="0"/>
              <a:t>​</a:t>
            </a:r>
          </a:p>
          <a:p>
            <a:endParaRPr lang="en-IN" dirty="0"/>
          </a:p>
        </p:txBody>
      </p:sp>
    </p:spTree>
    <p:extLst>
      <p:ext uri="{BB962C8B-B14F-4D97-AF65-F5344CB8AC3E}">
        <p14:creationId xmlns:p14="http://schemas.microsoft.com/office/powerpoint/2010/main" val="3703844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2B01D0-E426-0AA0-E011-DCCE835C541F}"/>
              </a:ext>
            </a:extLst>
          </p:cNvPr>
          <p:cNvSpPr txBox="1"/>
          <p:nvPr/>
        </p:nvSpPr>
        <p:spPr>
          <a:xfrm>
            <a:off x="129209" y="198783"/>
            <a:ext cx="12062791" cy="5909310"/>
          </a:xfrm>
          <a:prstGeom prst="rect">
            <a:avLst/>
          </a:prstGeom>
          <a:noFill/>
        </p:spPr>
        <p:txBody>
          <a:bodyPr wrap="square" rtlCol="0">
            <a:spAutoFit/>
          </a:bodyPr>
          <a:lstStyle/>
          <a:p>
            <a:pPr fontAlgn="base"/>
            <a:r>
              <a:rPr lang="en-IN" dirty="0"/>
              <a:t>// Find paper </a:t>
            </a:r>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a:t>if(</a:t>
            </a:r>
            <a:r>
              <a:rPr lang="en-IN" dirty="0" err="1"/>
              <a:t>strcmp</a:t>
            </a:r>
            <a:r>
              <a:rPr lang="en-IN" dirty="0"/>
              <a:t>(papers[</a:t>
            </a:r>
            <a:r>
              <a:rPr lang="en-IN" dirty="0" err="1"/>
              <a:t>i</a:t>
            </a:r>
            <a:r>
              <a:rPr lang="en-IN" dirty="0"/>
              <a:t>].paper ID, paper ID) == 0) { </a:t>
            </a:r>
            <a:r>
              <a:rPr lang="en-US" dirty="0"/>
              <a:t>​</a:t>
            </a:r>
          </a:p>
          <a:p>
            <a:pPr fontAlgn="base"/>
            <a:r>
              <a:rPr lang="en-IN" dirty="0"/>
              <a:t>found = </a:t>
            </a:r>
            <a:r>
              <a:rPr lang="en-IN" dirty="0" err="1"/>
              <a:t>i</a:t>
            </a:r>
            <a:r>
              <a:rPr lang="en-IN" dirty="0"/>
              <a:t>; </a:t>
            </a:r>
            <a:r>
              <a:rPr lang="en-US" dirty="0"/>
              <a:t>​</a:t>
            </a:r>
          </a:p>
          <a:p>
            <a:pPr fontAlgn="base"/>
            <a:r>
              <a:rPr lang="en-IN" dirty="0"/>
              <a:t>break; } </a:t>
            </a:r>
            <a:r>
              <a:rPr lang="en-US" dirty="0"/>
              <a:t>​</a:t>
            </a:r>
          </a:p>
          <a:p>
            <a:pPr fontAlgn="base"/>
            <a:r>
              <a:rPr lang="en-IN" dirty="0"/>
              <a:t>} </a:t>
            </a:r>
            <a:r>
              <a:rPr lang="en-US" dirty="0"/>
              <a:t>​</a:t>
            </a:r>
          </a:p>
          <a:p>
            <a:pPr fontAlgn="base"/>
            <a:r>
              <a:rPr lang="en-IN" dirty="0"/>
              <a:t>if(found == -1) { </a:t>
            </a:r>
            <a:r>
              <a:rPr lang="en-US" dirty="0"/>
              <a:t>​</a:t>
            </a:r>
          </a:p>
          <a:p>
            <a:pPr fontAlgn="base"/>
            <a:r>
              <a:rPr lang="en-IN" dirty="0" err="1"/>
              <a:t>printf</a:t>
            </a:r>
            <a:r>
              <a:rPr lang="en-IN" dirty="0"/>
              <a:t>("\n✗ Paper ID not found!\n"); </a:t>
            </a:r>
            <a:r>
              <a:rPr lang="en-US" dirty="0"/>
              <a:t>​</a:t>
            </a:r>
          </a:p>
          <a:p>
            <a:pPr fontAlgn="base"/>
            <a:r>
              <a:rPr lang="en-IN" dirty="0"/>
              <a:t>return; </a:t>
            </a:r>
            <a:r>
              <a:rPr lang="en-US" dirty="0"/>
              <a:t>​</a:t>
            </a:r>
          </a:p>
          <a:p>
            <a:pPr fontAlgn="base"/>
            <a:r>
              <a:rPr lang="en-IN" dirty="0"/>
              <a:t>} </a:t>
            </a:r>
            <a:r>
              <a:rPr lang="en-US" dirty="0"/>
              <a:t>​</a:t>
            </a:r>
          </a:p>
          <a:p>
            <a:pPr fontAlgn="base"/>
            <a:r>
              <a:rPr lang="en-IN" dirty="0"/>
              <a:t>​</a:t>
            </a:r>
          </a:p>
          <a:p>
            <a:pPr fontAlgn="base"/>
            <a:r>
              <a:rPr lang="en-US" dirty="0"/>
              <a:t>// Confirm deletion char confirm; ​</a:t>
            </a:r>
          </a:p>
          <a:p>
            <a:pPr fontAlgn="base"/>
            <a:r>
              <a:rPr lang="en-US" dirty="0" err="1"/>
              <a:t>printf</a:t>
            </a:r>
            <a:r>
              <a:rPr lang="en-US" dirty="0"/>
              <a:t>("\n Are you sure you want to delete this paper? (y/n): "); ​</a:t>
            </a:r>
          </a:p>
          <a:p>
            <a:pPr fontAlgn="base"/>
            <a:r>
              <a:rPr lang="en-US" dirty="0" err="1"/>
              <a:t>scanf</a:t>
            </a:r>
            <a:r>
              <a:rPr lang="en-US" dirty="0"/>
              <a:t>("%c", &amp;confirm); ​</a:t>
            </a:r>
          </a:p>
          <a:p>
            <a:pPr fontAlgn="base"/>
            <a:r>
              <a:rPr lang="en-US" dirty="0"/>
              <a:t>Clear Input Buffer();​</a:t>
            </a:r>
          </a:p>
          <a:p>
            <a:pPr fontAlgn="base"/>
            <a:r>
              <a:rPr lang="en-IN" dirty="0"/>
              <a:t>if(confirm == 'y' || confirm == 'Y') { </a:t>
            </a:r>
            <a:r>
              <a:rPr lang="en-US" dirty="0"/>
              <a:t>​</a:t>
            </a:r>
          </a:p>
          <a:p>
            <a:pPr fontAlgn="base"/>
            <a:r>
              <a:rPr lang="en-IN" dirty="0"/>
              <a:t>​</a:t>
            </a:r>
          </a:p>
          <a:p>
            <a:pPr fontAlgn="base"/>
            <a:r>
              <a:rPr lang="en-IN" dirty="0"/>
              <a:t>// Delete paper from database </a:t>
            </a:r>
            <a:r>
              <a:rPr lang="en-US" dirty="0"/>
              <a:t>​</a:t>
            </a:r>
          </a:p>
          <a:p>
            <a:pPr fontAlgn="base"/>
            <a:r>
              <a:rPr lang="en-IN" dirty="0"/>
              <a:t>for(int </a:t>
            </a:r>
            <a:r>
              <a:rPr lang="en-IN" dirty="0" err="1"/>
              <a:t>i</a:t>
            </a:r>
            <a:r>
              <a:rPr lang="en-IN" dirty="0"/>
              <a:t> = found; </a:t>
            </a:r>
            <a:r>
              <a:rPr lang="en-IN" dirty="0" err="1"/>
              <a:t>i</a:t>
            </a:r>
            <a:r>
              <a:rPr lang="en-IN" dirty="0"/>
              <a:t> &lt; paper Count - 1; </a:t>
            </a:r>
            <a:r>
              <a:rPr lang="en-IN" dirty="0" err="1"/>
              <a:t>i</a:t>
            </a:r>
            <a:r>
              <a:rPr lang="en-IN" dirty="0"/>
              <a:t>++) { </a:t>
            </a:r>
            <a:r>
              <a:rPr lang="en-US" dirty="0"/>
              <a:t>​</a:t>
            </a:r>
          </a:p>
          <a:p>
            <a:pPr fontAlgn="base"/>
            <a:r>
              <a:rPr lang="en-IN" dirty="0"/>
              <a:t>papers[</a:t>
            </a:r>
            <a:r>
              <a:rPr lang="en-IN" dirty="0" err="1"/>
              <a:t>i</a:t>
            </a:r>
            <a:r>
              <a:rPr lang="en-IN" dirty="0"/>
              <a:t>] = papers[</a:t>
            </a:r>
            <a:r>
              <a:rPr lang="en-IN" dirty="0" err="1"/>
              <a:t>i</a:t>
            </a:r>
            <a:r>
              <a:rPr lang="en-IN" dirty="0"/>
              <a:t> + 1]; }</a:t>
            </a:r>
            <a:r>
              <a:rPr lang="en-US" dirty="0"/>
              <a:t>​</a:t>
            </a:r>
          </a:p>
          <a:p>
            <a:endParaRPr lang="en-IN" dirty="0"/>
          </a:p>
        </p:txBody>
      </p:sp>
    </p:spTree>
    <p:extLst>
      <p:ext uri="{BB962C8B-B14F-4D97-AF65-F5344CB8AC3E}">
        <p14:creationId xmlns:p14="http://schemas.microsoft.com/office/powerpoint/2010/main" val="23899415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26FB3-4756-8FEB-8D25-EE28FF311076}"/>
              </a:ext>
            </a:extLst>
          </p:cNvPr>
          <p:cNvSpPr txBox="1"/>
          <p:nvPr/>
        </p:nvSpPr>
        <p:spPr>
          <a:xfrm>
            <a:off x="89452" y="258417"/>
            <a:ext cx="11847444" cy="5909310"/>
          </a:xfrm>
          <a:prstGeom prst="rect">
            <a:avLst/>
          </a:prstGeom>
          <a:noFill/>
        </p:spPr>
        <p:txBody>
          <a:bodyPr wrap="square" rtlCol="0">
            <a:spAutoFit/>
          </a:bodyPr>
          <a:lstStyle/>
          <a:p>
            <a:pPr fontAlgn="base"/>
            <a:r>
              <a:rPr lang="en-IN" dirty="0"/>
              <a:t>Paper Count--; </a:t>
            </a:r>
            <a:r>
              <a:rPr lang="en-US" dirty="0"/>
              <a:t>​</a:t>
            </a:r>
          </a:p>
          <a:p>
            <a:pPr fontAlgn="base"/>
            <a:r>
              <a:rPr lang="en-IN" dirty="0" err="1"/>
              <a:t>printf</a:t>
            </a:r>
            <a:r>
              <a:rPr lang="en-IN" dirty="0"/>
              <a:t>("\n✓ Deletion Successful!\n"); </a:t>
            </a:r>
            <a:r>
              <a:rPr lang="en-US" dirty="0"/>
              <a:t>​</a:t>
            </a:r>
          </a:p>
          <a:p>
            <a:pPr fontAlgn="base"/>
            <a:r>
              <a:rPr lang="en-IN" dirty="0"/>
              <a:t>Save Data(); } </a:t>
            </a:r>
            <a:r>
              <a:rPr lang="en-US" dirty="0"/>
              <a:t>​</a:t>
            </a:r>
          </a:p>
          <a:p>
            <a:pPr fontAlgn="base"/>
            <a:r>
              <a:rPr lang="en-IN" dirty="0"/>
              <a:t>else { </a:t>
            </a:r>
            <a:r>
              <a:rPr lang="en-US" dirty="0"/>
              <a:t>​</a:t>
            </a:r>
          </a:p>
          <a:p>
            <a:pPr fontAlgn="base"/>
            <a:r>
              <a:rPr lang="en-IN" dirty="0" err="1"/>
              <a:t>printf</a:t>
            </a:r>
            <a:r>
              <a:rPr lang="en-IN" dirty="0"/>
              <a:t>("\n Deletion cancelled.\n"); }</a:t>
            </a:r>
            <a:r>
              <a:rPr lang="en-US" dirty="0"/>
              <a:t>​</a:t>
            </a:r>
          </a:p>
          <a:p>
            <a:pPr fontAlgn="base"/>
            <a:r>
              <a:rPr lang="en-IN" dirty="0"/>
              <a:t>}</a:t>
            </a:r>
            <a:r>
              <a:rPr lang="en-US" dirty="0"/>
              <a:t>​</a:t>
            </a:r>
          </a:p>
          <a:p>
            <a:pPr fontAlgn="base"/>
            <a:r>
              <a:rPr lang="en-IN" dirty="0"/>
              <a:t>void update Question Paper() { </a:t>
            </a:r>
            <a:r>
              <a:rPr lang="en-US" dirty="0"/>
              <a:t>​</a:t>
            </a:r>
          </a:p>
          <a:p>
            <a:pPr fontAlgn="base"/>
            <a:r>
              <a:rPr lang="en-IN" dirty="0"/>
              <a:t>char paper ID[20]; int found = -1; </a:t>
            </a:r>
            <a:r>
              <a:rPr lang="en-US" dirty="0"/>
              <a:t>​</a:t>
            </a:r>
          </a:p>
          <a:p>
            <a:pPr fontAlgn="base"/>
            <a:r>
              <a:rPr lang="en-IN" dirty="0" err="1"/>
              <a:t>printf</a:t>
            </a:r>
            <a:r>
              <a:rPr lang="en-IN" dirty="0"/>
              <a:t>("\n--- UPDATE QUESTION PAPER ---\n"); </a:t>
            </a:r>
            <a:r>
              <a:rPr lang="en-US" dirty="0"/>
              <a:t>​</a:t>
            </a:r>
          </a:p>
          <a:p>
            <a:pPr fontAlgn="base"/>
            <a:r>
              <a:rPr lang="en-IN" dirty="0"/>
              <a:t>if(paper Count == 0) { </a:t>
            </a:r>
            <a:r>
              <a:rPr lang="en-US" dirty="0"/>
              <a:t>​</a:t>
            </a:r>
          </a:p>
          <a:p>
            <a:pPr fontAlgn="base"/>
            <a:r>
              <a:rPr lang="en-IN" dirty="0" err="1"/>
              <a:t>printf</a:t>
            </a:r>
            <a:r>
              <a:rPr lang="en-IN" dirty="0"/>
              <a:t>("No question papers available!\n"); </a:t>
            </a:r>
            <a:r>
              <a:rPr lang="en-US" dirty="0"/>
              <a:t>​</a:t>
            </a:r>
          </a:p>
          <a:p>
            <a:pPr fontAlgn="base"/>
            <a:r>
              <a:rPr lang="en-IN" dirty="0"/>
              <a:t>return; }</a:t>
            </a:r>
            <a:r>
              <a:rPr lang="en-US" dirty="0"/>
              <a:t>​</a:t>
            </a:r>
          </a:p>
          <a:p>
            <a:pPr fontAlgn="base"/>
            <a:r>
              <a:rPr lang="en-IN" dirty="0"/>
              <a:t>View All Question Papers(); </a:t>
            </a:r>
            <a:r>
              <a:rPr lang="en-US" dirty="0"/>
              <a:t>​</a:t>
            </a:r>
          </a:p>
          <a:p>
            <a:pPr fontAlgn="base"/>
            <a:r>
              <a:rPr lang="en-IN" dirty="0" err="1"/>
              <a:t>printf</a:t>
            </a:r>
            <a:r>
              <a:rPr lang="en-IN" dirty="0"/>
              <a:t>("\n Enter Paper ID to update: "); </a:t>
            </a:r>
            <a:r>
              <a:rPr lang="en-US" dirty="0"/>
              <a:t>​</a:t>
            </a:r>
          </a:p>
          <a:p>
            <a:pPr fontAlgn="base"/>
            <a:r>
              <a:rPr lang="en-IN" dirty="0"/>
              <a:t>F gets(paper ID, size of (paper ID), stdin); </a:t>
            </a:r>
            <a:r>
              <a:rPr lang="en-US" dirty="0"/>
              <a:t>​</a:t>
            </a:r>
          </a:p>
          <a:p>
            <a:pPr fontAlgn="base"/>
            <a:r>
              <a:rPr lang="en-IN" dirty="0"/>
              <a:t>Paper ID [</a:t>
            </a:r>
            <a:r>
              <a:rPr lang="en-IN" dirty="0" err="1"/>
              <a:t>strcspn</a:t>
            </a:r>
            <a:r>
              <a:rPr lang="en-IN" dirty="0"/>
              <a:t>(paper ID, "\n")] = 0; </a:t>
            </a:r>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a:t>if(</a:t>
            </a:r>
            <a:r>
              <a:rPr lang="en-IN" dirty="0" err="1"/>
              <a:t>strcmp</a:t>
            </a:r>
            <a:r>
              <a:rPr lang="en-IN" dirty="0"/>
              <a:t>(papers[</a:t>
            </a:r>
            <a:r>
              <a:rPr lang="en-IN" dirty="0" err="1"/>
              <a:t>i</a:t>
            </a:r>
            <a:r>
              <a:rPr lang="en-IN" dirty="0"/>
              <a:t>].paper ID, paper ID) == 0) { </a:t>
            </a:r>
            <a:r>
              <a:rPr lang="en-US" dirty="0"/>
              <a:t>​</a:t>
            </a:r>
          </a:p>
          <a:p>
            <a:pPr fontAlgn="base"/>
            <a:r>
              <a:rPr lang="en-IN" dirty="0"/>
              <a:t>found = </a:t>
            </a:r>
            <a:r>
              <a:rPr lang="en-IN" dirty="0" err="1"/>
              <a:t>i</a:t>
            </a:r>
            <a:r>
              <a:rPr lang="en-IN" dirty="0"/>
              <a:t>; </a:t>
            </a:r>
            <a:r>
              <a:rPr lang="en-US" dirty="0"/>
              <a:t>​</a:t>
            </a:r>
          </a:p>
          <a:p>
            <a:pPr fontAlgn="base"/>
            <a:r>
              <a:rPr lang="en-IN" dirty="0"/>
              <a:t>break; } }</a:t>
            </a:r>
            <a:r>
              <a:rPr lang="en-US" dirty="0"/>
              <a:t>​</a:t>
            </a:r>
          </a:p>
          <a:p>
            <a:endParaRPr lang="en-IN" dirty="0"/>
          </a:p>
        </p:txBody>
      </p:sp>
    </p:spTree>
    <p:extLst>
      <p:ext uri="{BB962C8B-B14F-4D97-AF65-F5344CB8AC3E}">
        <p14:creationId xmlns:p14="http://schemas.microsoft.com/office/powerpoint/2010/main" val="18966685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F7B014-6EB3-F556-2B21-4AEE391664CE}"/>
              </a:ext>
            </a:extLst>
          </p:cNvPr>
          <p:cNvSpPr txBox="1"/>
          <p:nvPr/>
        </p:nvSpPr>
        <p:spPr>
          <a:xfrm>
            <a:off x="0" y="218661"/>
            <a:ext cx="12056165" cy="5355312"/>
          </a:xfrm>
          <a:prstGeom prst="rect">
            <a:avLst/>
          </a:prstGeom>
          <a:noFill/>
        </p:spPr>
        <p:txBody>
          <a:bodyPr wrap="square" rtlCol="0">
            <a:spAutoFit/>
          </a:bodyPr>
          <a:lstStyle/>
          <a:p>
            <a:pPr fontAlgn="base"/>
            <a:r>
              <a:rPr lang="en-IN" dirty="0"/>
              <a:t>if(found == -1) { </a:t>
            </a:r>
            <a:r>
              <a:rPr lang="en-US" dirty="0"/>
              <a:t>​</a:t>
            </a:r>
          </a:p>
          <a:p>
            <a:pPr fontAlgn="base"/>
            <a:r>
              <a:rPr lang="en-IN" dirty="0" err="1"/>
              <a:t>printf</a:t>
            </a:r>
            <a:r>
              <a:rPr lang="en-IN" dirty="0"/>
              <a:t>("\n✗ Paper ID not found!\n"); </a:t>
            </a:r>
            <a:r>
              <a:rPr lang="en-US" dirty="0"/>
              <a:t>​</a:t>
            </a:r>
          </a:p>
          <a:p>
            <a:pPr fontAlgn="base"/>
            <a:r>
              <a:rPr lang="en-IN" dirty="0"/>
              <a:t>return; } </a:t>
            </a:r>
            <a:r>
              <a:rPr lang="en-US" dirty="0"/>
              <a:t>​</a:t>
            </a:r>
          </a:p>
          <a:p>
            <a:pPr fontAlgn="base"/>
            <a:r>
              <a:rPr lang="en-IN" dirty="0"/>
              <a:t>​</a:t>
            </a:r>
          </a:p>
          <a:p>
            <a:pPr fontAlgn="base"/>
            <a:r>
              <a:rPr lang="en-IN" dirty="0" err="1"/>
              <a:t>printf</a:t>
            </a:r>
            <a:r>
              <a:rPr lang="en-IN" dirty="0"/>
              <a:t>("\n--- Current Details ---\n"); </a:t>
            </a:r>
            <a:r>
              <a:rPr lang="en-US" dirty="0"/>
              <a:t>​</a:t>
            </a:r>
          </a:p>
          <a:p>
            <a:pPr fontAlgn="base"/>
            <a:r>
              <a:rPr lang="en-IN" dirty="0" err="1"/>
              <a:t>printf</a:t>
            </a:r>
            <a:r>
              <a:rPr lang="en-IN" dirty="0"/>
              <a:t>("Subject: %s\n", papers[found].subject); </a:t>
            </a:r>
            <a:r>
              <a:rPr lang="en-US" dirty="0"/>
              <a:t>​</a:t>
            </a:r>
          </a:p>
          <a:p>
            <a:pPr fontAlgn="base"/>
            <a:r>
              <a:rPr lang="en-IN" dirty="0" err="1"/>
              <a:t>printf</a:t>
            </a:r>
            <a:r>
              <a:rPr lang="en-IN" dirty="0"/>
              <a:t>("Year: %d\n", papers[found].year); </a:t>
            </a:r>
            <a:r>
              <a:rPr lang="en-US" dirty="0"/>
              <a:t>​</a:t>
            </a:r>
          </a:p>
          <a:p>
            <a:pPr fontAlgn="base"/>
            <a:r>
              <a:rPr lang="en-IN" dirty="0" err="1"/>
              <a:t>printf</a:t>
            </a:r>
            <a:r>
              <a:rPr lang="en-IN" dirty="0"/>
              <a:t>("Semester: %s\n", papers[found].semester); </a:t>
            </a:r>
            <a:r>
              <a:rPr lang="en-US" dirty="0"/>
              <a:t>​</a:t>
            </a:r>
          </a:p>
          <a:p>
            <a:pPr fontAlgn="base"/>
            <a:r>
              <a:rPr lang="en-US" dirty="0" err="1"/>
              <a:t>printf</a:t>
            </a:r>
            <a:r>
              <a:rPr lang="en-US" dirty="0"/>
              <a:t>("Department: %s\n", papers[found].department);​</a:t>
            </a:r>
          </a:p>
          <a:p>
            <a:pPr fontAlgn="base"/>
            <a:r>
              <a:rPr lang="en-US" dirty="0"/>
              <a:t>​</a:t>
            </a:r>
          </a:p>
          <a:p>
            <a:pPr fontAlgn="base"/>
            <a:r>
              <a:rPr lang="en-US" dirty="0" err="1"/>
              <a:t>printf</a:t>
            </a:r>
            <a:r>
              <a:rPr lang="en-US" dirty="0"/>
              <a:t>("\n--- Enter New Details ---\n"); ​</a:t>
            </a:r>
          </a:p>
          <a:p>
            <a:pPr fontAlgn="base"/>
            <a:r>
              <a:rPr lang="en-US" dirty="0" err="1"/>
              <a:t>printf</a:t>
            </a:r>
            <a:r>
              <a:rPr lang="en-US" dirty="0"/>
              <a:t>("Enter new Subject Name: "); ​</a:t>
            </a:r>
          </a:p>
          <a:p>
            <a:pPr fontAlgn="base"/>
            <a:r>
              <a:rPr lang="en-US" dirty="0" err="1"/>
              <a:t>fgets</a:t>
            </a:r>
            <a:r>
              <a:rPr lang="en-US" dirty="0"/>
              <a:t>(papers[found].subject, size of(papers[found].subject), stdin); papers[found].subject[</a:t>
            </a:r>
            <a:r>
              <a:rPr lang="en-US" dirty="0" err="1"/>
              <a:t>strcspn</a:t>
            </a:r>
            <a:r>
              <a:rPr lang="en-US" dirty="0"/>
              <a:t>(papers[found].subject, "\n")] = 0;​</a:t>
            </a:r>
          </a:p>
          <a:p>
            <a:pPr fontAlgn="base"/>
            <a:r>
              <a:rPr lang="en-US" dirty="0"/>
              <a:t>​</a:t>
            </a:r>
          </a:p>
          <a:p>
            <a:pPr fontAlgn="base"/>
            <a:r>
              <a:rPr lang="en-US" dirty="0" err="1"/>
              <a:t>printf</a:t>
            </a:r>
            <a:r>
              <a:rPr lang="en-US" dirty="0"/>
              <a:t>("Enter new Year: "); ​</a:t>
            </a:r>
          </a:p>
          <a:p>
            <a:pPr fontAlgn="base"/>
            <a:r>
              <a:rPr lang="en-US" dirty="0" err="1"/>
              <a:t>scanf</a:t>
            </a:r>
            <a:r>
              <a:rPr lang="en-US" dirty="0"/>
              <a:t>("%d", &amp;papers[found].year); ​</a:t>
            </a:r>
          </a:p>
          <a:p>
            <a:pPr fontAlgn="base"/>
            <a:r>
              <a:rPr lang="en-US" dirty="0"/>
              <a:t>Clear Input Buffer(); </a:t>
            </a:r>
            <a:r>
              <a:rPr lang="en-IN" dirty="0"/>
              <a:t>​</a:t>
            </a:r>
          </a:p>
          <a:p>
            <a:endParaRPr lang="en-IN" dirty="0"/>
          </a:p>
        </p:txBody>
      </p:sp>
    </p:spTree>
    <p:extLst>
      <p:ext uri="{BB962C8B-B14F-4D97-AF65-F5344CB8AC3E}">
        <p14:creationId xmlns:p14="http://schemas.microsoft.com/office/powerpoint/2010/main" val="10574105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281D58-35BA-002F-049B-74228123C4C5}"/>
              </a:ext>
            </a:extLst>
          </p:cNvPr>
          <p:cNvSpPr txBox="1"/>
          <p:nvPr/>
        </p:nvSpPr>
        <p:spPr>
          <a:xfrm>
            <a:off x="89452" y="208722"/>
            <a:ext cx="11767931" cy="5632311"/>
          </a:xfrm>
          <a:prstGeom prst="rect">
            <a:avLst/>
          </a:prstGeom>
          <a:noFill/>
        </p:spPr>
        <p:txBody>
          <a:bodyPr wrap="square" rtlCol="0">
            <a:spAutoFit/>
          </a:bodyPr>
          <a:lstStyle/>
          <a:p>
            <a:pPr fontAlgn="base"/>
            <a:r>
              <a:rPr lang="en-IN" dirty="0"/>
              <a:t>papers[found].semester[</a:t>
            </a:r>
            <a:r>
              <a:rPr lang="en-IN" dirty="0" err="1"/>
              <a:t>strcspn</a:t>
            </a:r>
            <a:r>
              <a:rPr lang="en-IN" dirty="0"/>
              <a:t>(papers[found].semester, "\n")] = 0;</a:t>
            </a:r>
            <a:r>
              <a:rPr lang="en-US" dirty="0"/>
              <a:t>​</a:t>
            </a:r>
          </a:p>
          <a:p>
            <a:pPr fontAlgn="base"/>
            <a:r>
              <a:rPr lang="en-US" dirty="0"/>
              <a:t>​</a:t>
            </a:r>
          </a:p>
          <a:p>
            <a:pPr fontAlgn="base"/>
            <a:r>
              <a:rPr lang="en-IN" dirty="0" err="1"/>
              <a:t>printf</a:t>
            </a:r>
            <a:r>
              <a:rPr lang="en-IN" dirty="0"/>
              <a:t>("\n✓ Update Successful!\n"); </a:t>
            </a:r>
            <a:r>
              <a:rPr lang="en-US" dirty="0"/>
              <a:t>​</a:t>
            </a:r>
          </a:p>
          <a:p>
            <a:pPr fontAlgn="base"/>
            <a:r>
              <a:rPr lang="en-IN" dirty="0"/>
              <a:t>Save Data();</a:t>
            </a:r>
            <a:r>
              <a:rPr lang="en-US" dirty="0"/>
              <a:t>​</a:t>
            </a:r>
          </a:p>
          <a:p>
            <a:pPr fontAlgn="base"/>
            <a:r>
              <a:rPr lang="en-IN" dirty="0"/>
              <a:t>}</a:t>
            </a:r>
            <a:r>
              <a:rPr lang="en-US" dirty="0"/>
              <a:t>​</a:t>
            </a:r>
          </a:p>
          <a:p>
            <a:pPr fontAlgn="base"/>
            <a:r>
              <a:rPr lang="en-IN" dirty="0"/>
              <a:t>void view All Question Papers() { </a:t>
            </a:r>
            <a:r>
              <a:rPr lang="en-US" dirty="0"/>
              <a:t>​</a:t>
            </a:r>
          </a:p>
          <a:p>
            <a:pPr fontAlgn="base"/>
            <a:r>
              <a:rPr lang="en-IN" dirty="0" err="1"/>
              <a:t>printf</a:t>
            </a:r>
            <a:r>
              <a:rPr lang="en-IN" dirty="0"/>
              <a:t>("\n========================================\n"); </a:t>
            </a:r>
            <a:r>
              <a:rPr lang="en-US" dirty="0"/>
              <a:t>​</a:t>
            </a:r>
          </a:p>
          <a:p>
            <a:pPr fontAlgn="base"/>
            <a:r>
              <a:rPr lang="en-IN" dirty="0" err="1"/>
              <a:t>printf</a:t>
            </a:r>
            <a:r>
              <a:rPr lang="en-IN" dirty="0"/>
              <a:t>(" ALL QUESTION PAPERS\n"); </a:t>
            </a:r>
            <a:r>
              <a:rPr lang="en-US" dirty="0"/>
              <a:t>​</a:t>
            </a:r>
          </a:p>
          <a:p>
            <a:pPr fontAlgn="base"/>
            <a:r>
              <a:rPr lang="en-IN" dirty="0" err="1"/>
              <a:t>printf</a:t>
            </a:r>
            <a:r>
              <a:rPr lang="en-IN" dirty="0"/>
              <a:t>("========================================\n");</a:t>
            </a:r>
            <a:r>
              <a:rPr lang="en-US" dirty="0"/>
              <a:t>​</a:t>
            </a:r>
          </a:p>
          <a:p>
            <a:pPr fontAlgn="base"/>
            <a:r>
              <a:rPr lang="en-US" dirty="0"/>
              <a:t>if(paper Count == 0) { ​</a:t>
            </a:r>
          </a:p>
          <a:p>
            <a:pPr fontAlgn="base"/>
            <a:r>
              <a:rPr lang="en-US" dirty="0" err="1"/>
              <a:t>printf</a:t>
            </a:r>
            <a:r>
              <a:rPr lang="en-US" dirty="0"/>
              <a:t>("No question papers available!\n"); ​</a:t>
            </a:r>
          </a:p>
          <a:p>
            <a:pPr fontAlgn="base"/>
            <a:r>
              <a:rPr lang="en-US" dirty="0"/>
              <a:t>return; } ​</a:t>
            </a:r>
          </a:p>
          <a:p>
            <a:pPr fontAlgn="base"/>
            <a:r>
              <a:rPr lang="en-US" dirty="0" err="1"/>
              <a:t>printf</a:t>
            </a:r>
            <a:r>
              <a:rPr lang="en-US" dirty="0"/>
              <a:t>("%-10s %-20s %-8s %-12s %-15s\n", "Paper ID", "Subject", "Year", "Semester", "Department"); ​</a:t>
            </a:r>
          </a:p>
          <a:p>
            <a:pPr fontAlgn="base"/>
            <a:r>
              <a:rPr lang="en-US" dirty="0" err="1"/>
              <a:t>printf</a:t>
            </a:r>
            <a:r>
              <a:rPr lang="en-US" dirty="0"/>
              <a:t>("------------------------------------------------------------------------\n"); ​</a:t>
            </a:r>
          </a:p>
          <a:p>
            <a:pPr fontAlgn="base"/>
            <a:r>
              <a:rPr lang="en-US" dirty="0"/>
              <a:t>for(int </a:t>
            </a:r>
            <a:r>
              <a:rPr lang="en-US" dirty="0" err="1"/>
              <a:t>i</a:t>
            </a:r>
            <a:r>
              <a:rPr lang="en-US" dirty="0"/>
              <a:t> = 0; </a:t>
            </a:r>
            <a:r>
              <a:rPr lang="en-US" dirty="0" err="1"/>
              <a:t>i</a:t>
            </a:r>
            <a:r>
              <a:rPr lang="en-US" dirty="0"/>
              <a:t> &lt; paper Count; </a:t>
            </a:r>
            <a:r>
              <a:rPr lang="en-US" dirty="0" err="1"/>
              <a:t>i</a:t>
            </a:r>
            <a:r>
              <a:rPr lang="en-US" dirty="0"/>
              <a:t>++) { ​</a:t>
            </a:r>
          </a:p>
          <a:p>
            <a:pPr fontAlgn="base"/>
            <a:r>
              <a:rPr lang="en-US" dirty="0" err="1"/>
              <a:t>printf</a:t>
            </a:r>
            <a:r>
              <a:rPr lang="en-US" dirty="0"/>
              <a:t>("%-10s %-20s %-8d %-12s %-15s\n", ​</a:t>
            </a:r>
          </a:p>
          <a:p>
            <a:pPr fontAlgn="base"/>
            <a:r>
              <a:rPr lang="en-US" dirty="0"/>
              <a:t>papers[</a:t>
            </a:r>
            <a:r>
              <a:rPr lang="en-US" dirty="0" err="1"/>
              <a:t>i</a:t>
            </a:r>
            <a:r>
              <a:rPr lang="en-US" dirty="0"/>
              <a:t>].paper ID, ​</a:t>
            </a:r>
          </a:p>
          <a:p>
            <a:pPr fontAlgn="base"/>
            <a:r>
              <a:rPr lang="en-US" dirty="0"/>
              <a:t>papers[</a:t>
            </a:r>
            <a:r>
              <a:rPr lang="en-US" dirty="0" err="1"/>
              <a:t>i</a:t>
            </a:r>
            <a:r>
              <a:rPr lang="en-US" dirty="0"/>
              <a:t>].subject, ​</a:t>
            </a:r>
          </a:p>
          <a:p>
            <a:pPr fontAlgn="base"/>
            <a:r>
              <a:rPr lang="en-US" dirty="0"/>
              <a:t>papers[</a:t>
            </a:r>
            <a:r>
              <a:rPr lang="en-US" dirty="0" err="1"/>
              <a:t>i</a:t>
            </a:r>
            <a:r>
              <a:rPr lang="en-US" dirty="0"/>
              <a:t>].year, ​</a:t>
            </a:r>
          </a:p>
          <a:p>
            <a:endParaRPr lang="en-IN" dirty="0"/>
          </a:p>
        </p:txBody>
      </p:sp>
    </p:spTree>
    <p:extLst>
      <p:ext uri="{BB962C8B-B14F-4D97-AF65-F5344CB8AC3E}">
        <p14:creationId xmlns:p14="http://schemas.microsoft.com/office/powerpoint/2010/main" val="29900077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46E023-155E-BA5B-2214-7F77DADA7674}"/>
              </a:ext>
            </a:extLst>
          </p:cNvPr>
          <p:cNvSpPr txBox="1"/>
          <p:nvPr/>
        </p:nvSpPr>
        <p:spPr>
          <a:xfrm>
            <a:off x="248478" y="208722"/>
            <a:ext cx="11728174" cy="5909310"/>
          </a:xfrm>
          <a:prstGeom prst="rect">
            <a:avLst/>
          </a:prstGeom>
          <a:noFill/>
        </p:spPr>
        <p:txBody>
          <a:bodyPr wrap="square" rtlCol="0">
            <a:spAutoFit/>
          </a:bodyPr>
          <a:lstStyle/>
          <a:p>
            <a:pPr fontAlgn="base"/>
            <a:r>
              <a:rPr lang="en-IN" dirty="0"/>
              <a:t>papers[</a:t>
            </a:r>
            <a:r>
              <a:rPr lang="en-IN" dirty="0" err="1"/>
              <a:t>i</a:t>
            </a:r>
            <a:r>
              <a:rPr lang="en-IN" dirty="0"/>
              <a:t>].semester, </a:t>
            </a:r>
            <a:r>
              <a:rPr lang="en-US" dirty="0"/>
              <a:t>​</a:t>
            </a:r>
          </a:p>
          <a:p>
            <a:pPr fontAlgn="base"/>
            <a:r>
              <a:rPr lang="en-IN" dirty="0"/>
              <a:t>papers[</a:t>
            </a:r>
            <a:r>
              <a:rPr lang="en-IN" dirty="0" err="1"/>
              <a:t>i</a:t>
            </a:r>
            <a:r>
              <a:rPr lang="en-IN" dirty="0"/>
              <a:t>].department); }</a:t>
            </a:r>
            <a:r>
              <a:rPr lang="en-US" dirty="0"/>
              <a:t>​</a:t>
            </a:r>
          </a:p>
          <a:p>
            <a:pPr fontAlgn="base"/>
            <a:r>
              <a:rPr lang="en-IN" dirty="0"/>
              <a:t>}</a:t>
            </a:r>
            <a:r>
              <a:rPr lang="en-US" dirty="0"/>
              <a:t>​</a:t>
            </a:r>
          </a:p>
          <a:p>
            <a:pPr fontAlgn="base"/>
            <a:r>
              <a:rPr lang="en-IN" dirty="0"/>
              <a:t>void manage Categories() { </a:t>
            </a:r>
            <a:r>
              <a:rPr lang="en-US" dirty="0"/>
              <a:t>​</a:t>
            </a:r>
          </a:p>
          <a:p>
            <a:pPr fontAlgn="base"/>
            <a:r>
              <a:rPr lang="en-IN" dirty="0"/>
              <a:t>int choice; </a:t>
            </a:r>
            <a:r>
              <a:rPr lang="en-US" dirty="0"/>
              <a:t>​</a:t>
            </a:r>
          </a:p>
          <a:p>
            <a:pPr fontAlgn="base"/>
            <a:r>
              <a:rPr lang="en-IN" dirty="0" err="1"/>
              <a:t>printf</a:t>
            </a:r>
            <a:r>
              <a:rPr lang="en-IN" dirty="0"/>
              <a:t>("\n--- MANAGE CATEGORIES ---\n"); </a:t>
            </a:r>
            <a:r>
              <a:rPr lang="en-US" dirty="0"/>
              <a:t>​</a:t>
            </a:r>
          </a:p>
          <a:p>
            <a:pPr fontAlgn="base"/>
            <a:r>
              <a:rPr lang="en-IN" dirty="0" err="1"/>
              <a:t>printf</a:t>
            </a:r>
            <a:r>
              <a:rPr lang="en-IN" dirty="0"/>
              <a:t>("1. Add Subject\n"); </a:t>
            </a:r>
            <a:r>
              <a:rPr lang="en-US" dirty="0"/>
              <a:t>​</a:t>
            </a:r>
          </a:p>
          <a:p>
            <a:pPr fontAlgn="base"/>
            <a:r>
              <a:rPr lang="en-IN" dirty="0" err="1"/>
              <a:t>printf</a:t>
            </a:r>
            <a:r>
              <a:rPr lang="en-IN" dirty="0"/>
              <a:t>("2. Delete Subject\n"); </a:t>
            </a:r>
            <a:r>
              <a:rPr lang="en-US" dirty="0"/>
              <a:t>​</a:t>
            </a:r>
          </a:p>
          <a:p>
            <a:pPr fontAlgn="base"/>
            <a:r>
              <a:rPr lang="en-IN" dirty="0" err="1"/>
              <a:t>printf</a:t>
            </a:r>
            <a:r>
              <a:rPr lang="en-IN" dirty="0"/>
              <a:t>("3. Add Department\n"); </a:t>
            </a:r>
            <a:r>
              <a:rPr lang="en-US" dirty="0"/>
              <a:t>​</a:t>
            </a:r>
          </a:p>
          <a:p>
            <a:pPr fontAlgn="base"/>
            <a:r>
              <a:rPr lang="en-IN" dirty="0" err="1"/>
              <a:t>printf</a:t>
            </a:r>
            <a:r>
              <a:rPr lang="en-IN" dirty="0"/>
              <a:t>("4. Delete Department\n");</a:t>
            </a:r>
            <a:r>
              <a:rPr lang="en-US" dirty="0"/>
              <a:t>​</a:t>
            </a:r>
          </a:p>
          <a:p>
            <a:pPr fontAlgn="base"/>
            <a:r>
              <a:rPr lang="en-US" dirty="0" err="1"/>
              <a:t>printf</a:t>
            </a:r>
            <a:r>
              <a:rPr lang="en-US" dirty="0"/>
              <a:t>("5. Back\n"); ​</a:t>
            </a:r>
          </a:p>
          <a:p>
            <a:pPr fontAlgn="base"/>
            <a:r>
              <a:rPr lang="en-US" dirty="0" err="1"/>
              <a:t>printf</a:t>
            </a:r>
            <a:r>
              <a:rPr lang="en-US" dirty="0"/>
              <a:t>("\n Enter your choice: "); ​</a:t>
            </a:r>
          </a:p>
          <a:p>
            <a:pPr fontAlgn="base"/>
            <a:r>
              <a:rPr lang="en-US" dirty="0" err="1"/>
              <a:t>scanf</a:t>
            </a:r>
            <a:r>
              <a:rPr lang="en-US" dirty="0"/>
              <a:t>("%d", &amp;choice); ​</a:t>
            </a:r>
          </a:p>
          <a:p>
            <a:pPr fontAlgn="base"/>
            <a:r>
              <a:rPr lang="en-US" dirty="0"/>
              <a:t>Clear Input Buffer(); ​</a:t>
            </a:r>
          </a:p>
          <a:p>
            <a:pPr fontAlgn="base"/>
            <a:r>
              <a:rPr lang="en-US" dirty="0"/>
              <a:t>switch(choice) { ​</a:t>
            </a:r>
          </a:p>
          <a:p>
            <a:pPr fontAlgn="base"/>
            <a:r>
              <a:rPr lang="en-US" dirty="0"/>
              <a:t>case 1: ​</a:t>
            </a:r>
          </a:p>
          <a:p>
            <a:pPr fontAlgn="base"/>
            <a:r>
              <a:rPr lang="en-US" dirty="0" err="1"/>
              <a:t>printf</a:t>
            </a:r>
            <a:r>
              <a:rPr lang="en-US" dirty="0"/>
              <a:t>("\n Subject management feature (to be implemented)\n"); ​</a:t>
            </a:r>
          </a:p>
          <a:p>
            <a:pPr fontAlgn="base"/>
            <a:r>
              <a:rPr lang="en-US" dirty="0"/>
              <a:t>break;​</a:t>
            </a:r>
          </a:p>
          <a:p>
            <a:pPr fontAlgn="base"/>
            <a:r>
              <a:rPr lang="en-US" dirty="0"/>
              <a:t>case 2: ​</a:t>
            </a:r>
          </a:p>
          <a:p>
            <a:pPr fontAlgn="base"/>
            <a:r>
              <a:rPr lang="en-US" dirty="0" err="1"/>
              <a:t>printf</a:t>
            </a:r>
            <a:r>
              <a:rPr lang="en-US" dirty="0"/>
              <a:t>("\n Subject deletion feature (to be implemented)\n");</a:t>
            </a:r>
          </a:p>
          <a:p>
            <a:endParaRPr lang="en-IN" dirty="0"/>
          </a:p>
        </p:txBody>
      </p:sp>
    </p:spTree>
    <p:extLst>
      <p:ext uri="{BB962C8B-B14F-4D97-AF65-F5344CB8AC3E}">
        <p14:creationId xmlns:p14="http://schemas.microsoft.com/office/powerpoint/2010/main" val="37818680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02E8B8-D779-866C-DE20-2D722BAFCEFE}"/>
              </a:ext>
            </a:extLst>
          </p:cNvPr>
          <p:cNvSpPr txBox="1"/>
          <p:nvPr/>
        </p:nvSpPr>
        <p:spPr>
          <a:xfrm>
            <a:off x="119270" y="109330"/>
            <a:ext cx="11628782" cy="5909310"/>
          </a:xfrm>
          <a:prstGeom prst="rect">
            <a:avLst/>
          </a:prstGeom>
          <a:noFill/>
        </p:spPr>
        <p:txBody>
          <a:bodyPr wrap="square" rtlCol="0">
            <a:spAutoFit/>
          </a:bodyPr>
          <a:lstStyle/>
          <a:p>
            <a:pPr fontAlgn="base"/>
            <a:r>
              <a:rPr lang="en-US" dirty="0"/>
              <a:t>case 3: ​</a:t>
            </a:r>
          </a:p>
          <a:p>
            <a:pPr fontAlgn="base"/>
            <a:r>
              <a:rPr lang="en-US" dirty="0" err="1"/>
              <a:t>printf</a:t>
            </a:r>
            <a:r>
              <a:rPr lang="en-US" dirty="0"/>
              <a:t>("\n Department management feature (to be implemented)\n"); ​</a:t>
            </a:r>
          </a:p>
          <a:p>
            <a:pPr fontAlgn="base"/>
            <a:r>
              <a:rPr lang="en-US" dirty="0"/>
              <a:t>break; ​</a:t>
            </a:r>
          </a:p>
          <a:p>
            <a:pPr fontAlgn="base"/>
            <a:r>
              <a:rPr lang="en-US" dirty="0"/>
              <a:t>case 4: ​</a:t>
            </a:r>
          </a:p>
          <a:p>
            <a:pPr fontAlgn="base"/>
            <a:r>
              <a:rPr lang="en-US" dirty="0" err="1"/>
              <a:t>printf</a:t>
            </a:r>
            <a:r>
              <a:rPr lang="en-US" dirty="0"/>
              <a:t>("\n Department deletion feature (to be implemented)\n"); ​</a:t>
            </a:r>
          </a:p>
          <a:p>
            <a:pPr fontAlgn="base"/>
            <a:r>
              <a:rPr lang="en-US" dirty="0"/>
              <a:t>break; ​</a:t>
            </a:r>
          </a:p>
          <a:p>
            <a:pPr fontAlgn="base"/>
            <a:r>
              <a:rPr lang="en-US" dirty="0"/>
              <a:t>case 5: ​</a:t>
            </a:r>
          </a:p>
          <a:p>
            <a:pPr fontAlgn="base"/>
            <a:r>
              <a:rPr lang="en-US" dirty="0"/>
              <a:t>return; ​</a:t>
            </a:r>
          </a:p>
          <a:p>
            <a:pPr fontAlgn="base"/>
            <a:r>
              <a:rPr lang="en-US" dirty="0"/>
              <a:t>default: ​</a:t>
            </a:r>
          </a:p>
          <a:p>
            <a:pPr fontAlgn="base"/>
            <a:r>
              <a:rPr lang="en-US" dirty="0" err="1"/>
              <a:t>printf</a:t>
            </a:r>
            <a:r>
              <a:rPr lang="en-US" dirty="0"/>
              <a:t>("\n Invalid choice!\n"); }​</a:t>
            </a:r>
          </a:p>
          <a:p>
            <a:pPr fontAlgn="base"/>
            <a:r>
              <a:rPr lang="en-US" dirty="0"/>
              <a:t>}​</a:t>
            </a:r>
          </a:p>
          <a:p>
            <a:pPr fontAlgn="base"/>
            <a:r>
              <a:rPr lang="en-US" dirty="0"/>
              <a:t>​</a:t>
            </a:r>
          </a:p>
          <a:p>
            <a:pPr fontAlgn="base"/>
            <a:r>
              <a:rPr lang="en-IN" dirty="0"/>
              <a:t>void view Download Statistics() { </a:t>
            </a:r>
            <a:r>
              <a:rPr lang="en-US" dirty="0"/>
              <a:t>​</a:t>
            </a:r>
          </a:p>
          <a:p>
            <a:pPr fontAlgn="base"/>
            <a:r>
              <a:rPr lang="en-IN" dirty="0" err="1"/>
              <a:t>printf</a:t>
            </a:r>
            <a:r>
              <a:rPr lang="en-IN" dirty="0"/>
              <a:t>("\n========================================\n"); </a:t>
            </a:r>
            <a:r>
              <a:rPr lang="en-US" dirty="0"/>
              <a:t>​</a:t>
            </a:r>
          </a:p>
          <a:p>
            <a:pPr fontAlgn="base"/>
            <a:r>
              <a:rPr lang="en-IN" dirty="0" err="1"/>
              <a:t>printf</a:t>
            </a:r>
            <a:r>
              <a:rPr lang="en-IN" dirty="0"/>
              <a:t>(" DOWNLOAD STATISTICS\n"); </a:t>
            </a:r>
            <a:r>
              <a:rPr lang="en-US" dirty="0"/>
              <a:t>​</a:t>
            </a:r>
          </a:p>
          <a:p>
            <a:pPr fontAlgn="base"/>
            <a:r>
              <a:rPr lang="en-IN" dirty="0" err="1"/>
              <a:t>printf</a:t>
            </a:r>
            <a:r>
              <a:rPr lang="en-IN" dirty="0"/>
              <a:t>("========================================\n");</a:t>
            </a:r>
            <a:r>
              <a:rPr lang="en-US" dirty="0"/>
              <a:t>​</a:t>
            </a:r>
          </a:p>
          <a:p>
            <a:pPr fontAlgn="base"/>
            <a:r>
              <a:rPr lang="en-IN" dirty="0"/>
              <a:t>​</a:t>
            </a:r>
          </a:p>
          <a:p>
            <a:pPr fontAlgn="base"/>
            <a:r>
              <a:rPr lang="en-US" dirty="0"/>
              <a:t>if(paper Count == 0) { ​</a:t>
            </a:r>
          </a:p>
          <a:p>
            <a:pPr fontAlgn="base"/>
            <a:r>
              <a:rPr lang="en-US" dirty="0" err="1"/>
              <a:t>printf</a:t>
            </a:r>
            <a:r>
              <a:rPr lang="en-US" dirty="0"/>
              <a:t>("No question papers available!\n"); ​</a:t>
            </a:r>
          </a:p>
          <a:p>
            <a:pPr fontAlgn="base"/>
            <a:r>
              <a:rPr lang="en-US" dirty="0"/>
              <a:t>return; }</a:t>
            </a:r>
            <a:r>
              <a:rPr lang="en-IN" dirty="0"/>
              <a:t>​</a:t>
            </a:r>
          </a:p>
          <a:p>
            <a:endParaRPr lang="en-IN" dirty="0"/>
          </a:p>
        </p:txBody>
      </p:sp>
    </p:spTree>
    <p:extLst>
      <p:ext uri="{BB962C8B-B14F-4D97-AF65-F5344CB8AC3E}">
        <p14:creationId xmlns:p14="http://schemas.microsoft.com/office/powerpoint/2010/main" val="6502756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2BB865-6DAB-CDEB-F01E-20E06E5C64C7}"/>
              </a:ext>
            </a:extLst>
          </p:cNvPr>
          <p:cNvSpPr txBox="1"/>
          <p:nvPr/>
        </p:nvSpPr>
        <p:spPr>
          <a:xfrm>
            <a:off x="79513" y="168965"/>
            <a:ext cx="11877261" cy="5909310"/>
          </a:xfrm>
          <a:prstGeom prst="rect">
            <a:avLst/>
          </a:prstGeom>
          <a:noFill/>
        </p:spPr>
        <p:txBody>
          <a:bodyPr wrap="square" rtlCol="0">
            <a:spAutoFit/>
          </a:bodyPr>
          <a:lstStyle/>
          <a:p>
            <a:pPr fontAlgn="base"/>
            <a:r>
              <a:rPr lang="en-IN" dirty="0"/>
              <a:t>// Display download count for each paper </a:t>
            </a:r>
            <a:r>
              <a:rPr lang="en-US" dirty="0"/>
              <a:t>​</a:t>
            </a:r>
          </a:p>
          <a:p>
            <a:pPr fontAlgn="base"/>
            <a:r>
              <a:rPr lang="en-IN" dirty="0" err="1"/>
              <a:t>printf</a:t>
            </a:r>
            <a:r>
              <a:rPr lang="en-IN" dirty="0"/>
              <a:t>("\n%-10s %-25s %-15s\n", "Paper ID", "Subject", "Downloads"); </a:t>
            </a:r>
            <a:r>
              <a:rPr lang="en-US" dirty="0"/>
              <a:t>​</a:t>
            </a:r>
          </a:p>
          <a:p>
            <a:pPr fontAlgn="base"/>
            <a:r>
              <a:rPr lang="en-IN" dirty="0" err="1"/>
              <a:t>printf</a:t>
            </a:r>
            <a:r>
              <a:rPr lang="en-IN" dirty="0"/>
              <a:t>("-------------------------------------------------------\n"); </a:t>
            </a:r>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err="1"/>
              <a:t>printf</a:t>
            </a:r>
            <a:r>
              <a:rPr lang="en-IN" dirty="0"/>
              <a:t>("%-10s %-25s %-15d\n", </a:t>
            </a:r>
            <a:r>
              <a:rPr lang="en-US" dirty="0"/>
              <a:t>​</a:t>
            </a:r>
          </a:p>
          <a:p>
            <a:pPr fontAlgn="base"/>
            <a:r>
              <a:rPr lang="en-IN" dirty="0"/>
              <a:t>papers[</a:t>
            </a:r>
            <a:r>
              <a:rPr lang="en-IN" dirty="0" err="1"/>
              <a:t>i</a:t>
            </a:r>
            <a:r>
              <a:rPr lang="en-IN" dirty="0"/>
              <a:t>].paper ID, </a:t>
            </a:r>
            <a:r>
              <a:rPr lang="en-US" dirty="0"/>
              <a:t>​</a:t>
            </a:r>
          </a:p>
          <a:p>
            <a:pPr fontAlgn="base"/>
            <a:r>
              <a:rPr lang="en-IN" dirty="0"/>
              <a:t>papers[</a:t>
            </a:r>
            <a:r>
              <a:rPr lang="en-IN" dirty="0" err="1"/>
              <a:t>i</a:t>
            </a:r>
            <a:r>
              <a:rPr lang="en-IN" dirty="0"/>
              <a:t>].subject, </a:t>
            </a:r>
            <a:r>
              <a:rPr lang="en-US" dirty="0"/>
              <a:t>​</a:t>
            </a:r>
          </a:p>
          <a:p>
            <a:pPr fontAlgn="base"/>
            <a:r>
              <a:rPr lang="en-IN" dirty="0"/>
              <a:t>papers[</a:t>
            </a:r>
            <a:r>
              <a:rPr lang="en-IN" dirty="0" err="1"/>
              <a:t>i</a:t>
            </a:r>
            <a:r>
              <a:rPr lang="en-IN" dirty="0"/>
              <a:t>].download Count); }</a:t>
            </a:r>
            <a:r>
              <a:rPr lang="en-US" dirty="0"/>
              <a:t>​</a:t>
            </a:r>
          </a:p>
          <a:p>
            <a:pPr fontAlgn="base"/>
            <a:r>
              <a:rPr lang="en-US" dirty="0"/>
              <a:t>​</a:t>
            </a:r>
          </a:p>
          <a:p>
            <a:pPr fontAlgn="base"/>
            <a:r>
              <a:rPr lang="en-IN" dirty="0"/>
              <a:t>// Find most downloaded paper </a:t>
            </a:r>
            <a:r>
              <a:rPr lang="en-US" dirty="0"/>
              <a:t>​</a:t>
            </a:r>
          </a:p>
          <a:p>
            <a:pPr fontAlgn="base"/>
            <a:r>
              <a:rPr lang="en-IN" dirty="0"/>
              <a:t>int max Downloads = 0, max Index = 0; </a:t>
            </a:r>
            <a:r>
              <a:rPr lang="en-US" dirty="0"/>
              <a:t>​</a:t>
            </a:r>
          </a:p>
          <a:p>
            <a:pPr fontAlgn="base"/>
            <a:r>
              <a:rPr lang="en-IN" dirty="0"/>
              <a:t>for(int </a:t>
            </a:r>
            <a:r>
              <a:rPr lang="en-IN" dirty="0" err="1"/>
              <a:t>i</a:t>
            </a:r>
            <a:r>
              <a:rPr lang="en-IN" dirty="0"/>
              <a:t> = 0; </a:t>
            </a:r>
            <a:r>
              <a:rPr lang="en-US" dirty="0"/>
              <a:t>​</a:t>
            </a:r>
          </a:p>
          <a:p>
            <a:pPr fontAlgn="base"/>
            <a:r>
              <a:rPr lang="en-IN" dirty="0" err="1"/>
              <a:t>i</a:t>
            </a:r>
            <a:r>
              <a:rPr lang="en-IN" dirty="0"/>
              <a:t> &lt; paper Count; </a:t>
            </a:r>
            <a:r>
              <a:rPr lang="en-IN" dirty="0" err="1"/>
              <a:t>i</a:t>
            </a:r>
            <a:r>
              <a:rPr lang="en-IN" dirty="0"/>
              <a:t>++) { </a:t>
            </a:r>
            <a:r>
              <a:rPr lang="en-US" dirty="0"/>
              <a:t>​</a:t>
            </a:r>
          </a:p>
          <a:p>
            <a:pPr fontAlgn="base"/>
            <a:r>
              <a:rPr lang="en-IN" dirty="0"/>
              <a:t>if(papers[</a:t>
            </a:r>
            <a:r>
              <a:rPr lang="en-IN" dirty="0" err="1"/>
              <a:t>i</a:t>
            </a:r>
            <a:r>
              <a:rPr lang="en-IN" dirty="0"/>
              <a:t>].download Count &gt; max Downloads) { </a:t>
            </a:r>
            <a:r>
              <a:rPr lang="en-US" dirty="0"/>
              <a:t>​</a:t>
            </a:r>
          </a:p>
          <a:p>
            <a:pPr fontAlgn="base"/>
            <a:r>
              <a:rPr lang="en-IN" dirty="0"/>
              <a:t>Max Downloads = papers[</a:t>
            </a:r>
            <a:r>
              <a:rPr lang="en-IN" dirty="0" err="1"/>
              <a:t>i</a:t>
            </a:r>
            <a:r>
              <a:rPr lang="en-IN" dirty="0"/>
              <a:t>].download Count; </a:t>
            </a:r>
            <a:r>
              <a:rPr lang="en-US" dirty="0"/>
              <a:t>​</a:t>
            </a:r>
          </a:p>
          <a:p>
            <a:pPr fontAlgn="base"/>
            <a:r>
              <a:rPr lang="en-IN" dirty="0"/>
              <a:t>Max Index = </a:t>
            </a:r>
            <a:r>
              <a:rPr lang="en-IN" dirty="0" err="1"/>
              <a:t>i</a:t>
            </a:r>
            <a:r>
              <a:rPr lang="en-IN" dirty="0"/>
              <a:t>; } </a:t>
            </a:r>
            <a:r>
              <a:rPr lang="en-US" dirty="0"/>
              <a:t>​</a:t>
            </a:r>
          </a:p>
          <a:p>
            <a:pPr fontAlgn="base"/>
            <a:r>
              <a:rPr lang="en-IN" dirty="0"/>
              <a:t>}</a:t>
            </a:r>
            <a:r>
              <a:rPr lang="en-US" dirty="0"/>
              <a:t>​</a:t>
            </a:r>
          </a:p>
          <a:p>
            <a:pPr fontAlgn="base"/>
            <a:r>
              <a:rPr lang="en-IN" dirty="0"/>
              <a:t>if(max Downloads &gt; 0) {</a:t>
            </a:r>
            <a:r>
              <a:rPr lang="en-US" dirty="0"/>
              <a:t>​</a:t>
            </a:r>
          </a:p>
          <a:p>
            <a:pPr fontAlgn="base"/>
            <a:r>
              <a:rPr lang="en-US" dirty="0" err="1"/>
              <a:t>printf</a:t>
            </a:r>
            <a:r>
              <a:rPr lang="en-US" dirty="0"/>
              <a:t>("\n🏆 Most Downloaded Paper:\n"); ​</a:t>
            </a:r>
          </a:p>
          <a:p>
            <a:pPr fontAlgn="base"/>
            <a:r>
              <a:rPr lang="en-US" dirty="0" err="1"/>
              <a:t>printf</a:t>
            </a:r>
            <a:r>
              <a:rPr lang="en-US" dirty="0"/>
              <a:t>("Subject: %s (%d downloads)\n", papers[</a:t>
            </a:r>
            <a:r>
              <a:rPr lang="en-US" dirty="0" err="1"/>
              <a:t>maxIndex</a:t>
            </a:r>
            <a:r>
              <a:rPr lang="en-US" dirty="0"/>
              <a:t>].subject, </a:t>
            </a:r>
            <a:r>
              <a:rPr lang="en-US" dirty="0" err="1"/>
              <a:t>maxDownloads</a:t>
            </a:r>
            <a:r>
              <a:rPr lang="en-US" dirty="0"/>
              <a:t>); } }</a:t>
            </a:r>
            <a:r>
              <a:rPr lang="en-IN" dirty="0"/>
              <a:t>​</a:t>
            </a:r>
          </a:p>
          <a:p>
            <a:endParaRPr lang="en-IN" dirty="0"/>
          </a:p>
        </p:txBody>
      </p:sp>
    </p:spTree>
    <p:extLst>
      <p:ext uri="{BB962C8B-B14F-4D97-AF65-F5344CB8AC3E}">
        <p14:creationId xmlns:p14="http://schemas.microsoft.com/office/powerpoint/2010/main" val="15808170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879B76-0E40-D5A9-C897-B609DE741374}"/>
              </a:ext>
            </a:extLst>
          </p:cNvPr>
          <p:cNvSpPr txBox="1"/>
          <p:nvPr/>
        </p:nvSpPr>
        <p:spPr>
          <a:xfrm>
            <a:off x="178904" y="208722"/>
            <a:ext cx="11569148" cy="5632311"/>
          </a:xfrm>
          <a:prstGeom prst="rect">
            <a:avLst/>
          </a:prstGeom>
          <a:noFill/>
        </p:spPr>
        <p:txBody>
          <a:bodyPr wrap="square" rtlCol="0">
            <a:spAutoFit/>
          </a:bodyPr>
          <a:lstStyle/>
          <a:p>
            <a:pPr fontAlgn="base"/>
            <a:r>
              <a:rPr lang="en-IN" dirty="0"/>
              <a:t>void student Login() { </a:t>
            </a:r>
            <a:r>
              <a:rPr lang="en-US" dirty="0"/>
              <a:t>​</a:t>
            </a:r>
          </a:p>
          <a:p>
            <a:pPr fontAlgn="base"/>
            <a:r>
              <a:rPr lang="en-IN" dirty="0"/>
              <a:t>char </a:t>
            </a:r>
            <a:r>
              <a:rPr lang="en-IN" dirty="0" err="1"/>
              <a:t>rollNumber</a:t>
            </a:r>
            <a:r>
              <a:rPr lang="en-IN" dirty="0"/>
              <a:t>[20], password[20]; </a:t>
            </a:r>
            <a:r>
              <a:rPr lang="en-US" dirty="0"/>
              <a:t>​</a:t>
            </a:r>
          </a:p>
          <a:p>
            <a:pPr fontAlgn="base"/>
            <a:r>
              <a:rPr lang="en-IN" dirty="0"/>
              <a:t>int found = -1;</a:t>
            </a:r>
            <a:r>
              <a:rPr lang="en-US" dirty="0"/>
              <a:t>​</a:t>
            </a:r>
          </a:p>
          <a:p>
            <a:pPr fontAlgn="base"/>
            <a:r>
              <a:rPr lang="en-US" dirty="0"/>
              <a:t>​</a:t>
            </a:r>
          </a:p>
          <a:p>
            <a:pPr fontAlgn="base"/>
            <a:r>
              <a:rPr lang="en-IN" dirty="0" err="1"/>
              <a:t>printf</a:t>
            </a:r>
            <a:r>
              <a:rPr lang="en-IN" dirty="0"/>
              <a:t>("\n--- STUDENT LOGIN ---\n"); </a:t>
            </a:r>
            <a:r>
              <a:rPr lang="en-US" dirty="0"/>
              <a:t>​</a:t>
            </a:r>
          </a:p>
          <a:p>
            <a:pPr fontAlgn="base"/>
            <a:r>
              <a:rPr lang="en-IN" dirty="0" err="1"/>
              <a:t>printf</a:t>
            </a:r>
            <a:r>
              <a:rPr lang="en-IN" dirty="0"/>
              <a:t>("Enter Roll Number: "); </a:t>
            </a:r>
            <a:r>
              <a:rPr lang="en-US" dirty="0"/>
              <a:t>​</a:t>
            </a:r>
          </a:p>
          <a:p>
            <a:pPr fontAlgn="base"/>
            <a:r>
              <a:rPr lang="en-IN" dirty="0"/>
              <a:t>F gets(roll Number, size of(roll Number), stdin); </a:t>
            </a:r>
            <a:r>
              <a:rPr lang="en-US" dirty="0"/>
              <a:t>​</a:t>
            </a:r>
          </a:p>
          <a:p>
            <a:pPr fontAlgn="base"/>
            <a:r>
              <a:rPr lang="en-IN" dirty="0"/>
              <a:t>Roll Number [</a:t>
            </a:r>
            <a:r>
              <a:rPr lang="en-IN" dirty="0" err="1"/>
              <a:t>strcspn</a:t>
            </a:r>
            <a:r>
              <a:rPr lang="en-IN" dirty="0"/>
              <a:t>(roll Number, "\n")] = 0; </a:t>
            </a:r>
            <a:r>
              <a:rPr lang="en-US" dirty="0"/>
              <a:t>​</a:t>
            </a:r>
          </a:p>
          <a:p>
            <a:pPr fontAlgn="base"/>
            <a:r>
              <a:rPr lang="en-IN" dirty="0" err="1"/>
              <a:t>printf</a:t>
            </a:r>
            <a:r>
              <a:rPr lang="en-IN" dirty="0"/>
              <a:t>("Enter Password: "); </a:t>
            </a:r>
            <a:r>
              <a:rPr lang="en-US" dirty="0"/>
              <a:t>​</a:t>
            </a:r>
          </a:p>
          <a:p>
            <a:pPr fontAlgn="base"/>
            <a:r>
              <a:rPr lang="en-IN" dirty="0"/>
              <a:t>F gets(password, </a:t>
            </a:r>
            <a:r>
              <a:rPr lang="en-IN" dirty="0" err="1"/>
              <a:t>sizeof</a:t>
            </a:r>
            <a:r>
              <a:rPr lang="en-IN" dirty="0"/>
              <a:t>(password), stdin); </a:t>
            </a:r>
            <a:r>
              <a:rPr lang="en-US" dirty="0"/>
              <a:t>​</a:t>
            </a:r>
          </a:p>
          <a:p>
            <a:pPr fontAlgn="base"/>
            <a:r>
              <a:rPr lang="en-IN" dirty="0"/>
              <a:t>password[</a:t>
            </a:r>
            <a:r>
              <a:rPr lang="en-IN" dirty="0" err="1"/>
              <a:t>strcspn</a:t>
            </a:r>
            <a:r>
              <a:rPr lang="en-IN" dirty="0"/>
              <a:t>(password, "\n")] = 0; </a:t>
            </a:r>
            <a:r>
              <a:rPr lang="en-US" dirty="0"/>
              <a:t>​</a:t>
            </a:r>
          </a:p>
          <a:p>
            <a:pPr fontAlgn="base"/>
            <a:r>
              <a:rPr lang="en-IN" dirty="0"/>
              <a:t>​</a:t>
            </a:r>
          </a:p>
          <a:p>
            <a:pPr fontAlgn="base"/>
            <a:r>
              <a:rPr lang="en-IN" dirty="0"/>
              <a:t>// Validate credentials </a:t>
            </a:r>
            <a:r>
              <a:rPr lang="en-US" dirty="0"/>
              <a:t>​</a:t>
            </a:r>
          </a:p>
          <a:p>
            <a:pPr fontAlgn="base"/>
            <a:r>
              <a:rPr lang="en-IN" dirty="0"/>
              <a:t>for(int </a:t>
            </a:r>
            <a:r>
              <a:rPr lang="en-IN" dirty="0" err="1"/>
              <a:t>i</a:t>
            </a:r>
            <a:r>
              <a:rPr lang="en-IN" dirty="0"/>
              <a:t> = 0; </a:t>
            </a:r>
            <a:r>
              <a:rPr lang="en-IN" dirty="0" err="1"/>
              <a:t>i</a:t>
            </a:r>
            <a:r>
              <a:rPr lang="en-IN" dirty="0"/>
              <a:t> &lt; student Count; </a:t>
            </a:r>
            <a:r>
              <a:rPr lang="en-IN" dirty="0" err="1"/>
              <a:t>i</a:t>
            </a:r>
            <a:r>
              <a:rPr lang="en-IN" dirty="0"/>
              <a:t>++) { </a:t>
            </a:r>
            <a:r>
              <a:rPr lang="en-US" dirty="0"/>
              <a:t>​</a:t>
            </a:r>
          </a:p>
          <a:p>
            <a:pPr fontAlgn="base"/>
            <a:r>
              <a:rPr lang="en-IN" dirty="0"/>
              <a:t>if(</a:t>
            </a:r>
            <a:r>
              <a:rPr lang="en-IN" dirty="0" err="1"/>
              <a:t>strcmp</a:t>
            </a:r>
            <a:r>
              <a:rPr lang="en-IN" dirty="0"/>
              <a:t>(students[</a:t>
            </a:r>
            <a:r>
              <a:rPr lang="en-IN" dirty="0" err="1"/>
              <a:t>i</a:t>
            </a:r>
            <a:r>
              <a:rPr lang="en-IN" dirty="0"/>
              <a:t>].roll Number, roll Number) == 0 &amp;&amp; </a:t>
            </a:r>
            <a:r>
              <a:rPr lang="en-IN" dirty="0" err="1"/>
              <a:t>strcmp</a:t>
            </a:r>
            <a:r>
              <a:rPr lang="en-IN" dirty="0"/>
              <a:t>(students[</a:t>
            </a:r>
            <a:r>
              <a:rPr lang="en-IN" dirty="0" err="1"/>
              <a:t>i</a:t>
            </a:r>
            <a:r>
              <a:rPr lang="en-IN" dirty="0"/>
              <a:t>].password, password) == 0) {</a:t>
            </a:r>
            <a:r>
              <a:rPr lang="en-US" dirty="0"/>
              <a:t>​</a:t>
            </a:r>
          </a:p>
          <a:p>
            <a:pPr fontAlgn="base"/>
            <a:r>
              <a:rPr lang="en-IN" dirty="0"/>
              <a:t>found = </a:t>
            </a:r>
            <a:r>
              <a:rPr lang="en-IN" dirty="0" err="1"/>
              <a:t>i</a:t>
            </a:r>
            <a:r>
              <a:rPr lang="en-IN" dirty="0"/>
              <a:t>; </a:t>
            </a:r>
            <a:r>
              <a:rPr lang="en-US" dirty="0"/>
              <a:t>​</a:t>
            </a:r>
          </a:p>
          <a:p>
            <a:pPr fontAlgn="base"/>
            <a:r>
              <a:rPr lang="en-IN" dirty="0"/>
              <a:t>break; } } </a:t>
            </a:r>
            <a:r>
              <a:rPr lang="en-US" dirty="0"/>
              <a:t>​</a:t>
            </a:r>
          </a:p>
          <a:p>
            <a:pPr fontAlgn="base"/>
            <a:r>
              <a:rPr lang="en-IN" dirty="0"/>
              <a:t>if(found != -1) { </a:t>
            </a:r>
            <a:r>
              <a:rPr lang="en-US" dirty="0"/>
              <a:t>​</a:t>
            </a:r>
          </a:p>
          <a:p>
            <a:pPr fontAlgn="base"/>
            <a:r>
              <a:rPr lang="en-IN" dirty="0" err="1"/>
              <a:t>printf</a:t>
            </a:r>
            <a:r>
              <a:rPr lang="en-IN" dirty="0"/>
              <a:t>("\n✓ Login Successful!\n"); </a:t>
            </a:r>
            <a:r>
              <a:rPr lang="en-US" dirty="0"/>
              <a:t>​</a:t>
            </a:r>
          </a:p>
          <a:p>
            <a:endParaRPr lang="en-IN" dirty="0"/>
          </a:p>
        </p:txBody>
      </p:sp>
    </p:spTree>
    <p:extLst>
      <p:ext uri="{BB962C8B-B14F-4D97-AF65-F5344CB8AC3E}">
        <p14:creationId xmlns:p14="http://schemas.microsoft.com/office/powerpoint/2010/main" val="19063489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A53EBD-0ACB-C1A3-4294-831BEB44E1F1}"/>
              </a:ext>
            </a:extLst>
          </p:cNvPr>
          <p:cNvSpPr txBox="1"/>
          <p:nvPr/>
        </p:nvSpPr>
        <p:spPr>
          <a:xfrm>
            <a:off x="99391" y="149087"/>
            <a:ext cx="11867322" cy="5632311"/>
          </a:xfrm>
          <a:prstGeom prst="rect">
            <a:avLst/>
          </a:prstGeom>
          <a:noFill/>
        </p:spPr>
        <p:txBody>
          <a:bodyPr wrap="square" rtlCol="0">
            <a:spAutoFit/>
          </a:bodyPr>
          <a:lstStyle/>
          <a:p>
            <a:pPr fontAlgn="base"/>
            <a:r>
              <a:rPr lang="en-IN" dirty="0" err="1"/>
              <a:t>printf</a:t>
            </a:r>
            <a:r>
              <a:rPr lang="en-IN" dirty="0"/>
              <a:t>("Welcome, %s!\n", students[found].name); </a:t>
            </a:r>
            <a:r>
              <a:rPr lang="en-US" dirty="0"/>
              <a:t>​</a:t>
            </a:r>
          </a:p>
          <a:p>
            <a:pPr fontAlgn="base"/>
            <a:r>
              <a:rPr lang="en-IN" dirty="0"/>
              <a:t>Student Menu(roll Number); } </a:t>
            </a:r>
            <a:r>
              <a:rPr lang="en-US" dirty="0"/>
              <a:t>​</a:t>
            </a:r>
          </a:p>
          <a:p>
            <a:pPr fontAlgn="base"/>
            <a:r>
              <a:rPr lang="en-IN" dirty="0"/>
              <a:t>else { </a:t>
            </a:r>
            <a:r>
              <a:rPr lang="en-US" dirty="0"/>
              <a:t>​</a:t>
            </a:r>
          </a:p>
          <a:p>
            <a:pPr fontAlgn="base"/>
            <a:r>
              <a:rPr lang="en-IN" dirty="0" err="1"/>
              <a:t>printf</a:t>
            </a:r>
            <a:r>
              <a:rPr lang="en-IN" dirty="0"/>
              <a:t>("\n✗ Invalid Credentials!\n"); }</a:t>
            </a:r>
            <a:r>
              <a:rPr lang="en-US" dirty="0"/>
              <a:t>​</a:t>
            </a:r>
          </a:p>
          <a:p>
            <a:pPr fontAlgn="base"/>
            <a:r>
              <a:rPr lang="en-IN" dirty="0"/>
              <a:t>}</a:t>
            </a:r>
            <a:r>
              <a:rPr lang="en-US" dirty="0"/>
              <a:t>​</a:t>
            </a:r>
          </a:p>
          <a:p>
            <a:pPr fontAlgn="base"/>
            <a:r>
              <a:rPr lang="en-IN" dirty="0"/>
              <a:t>void student Menu(char *roll Number) { </a:t>
            </a:r>
            <a:r>
              <a:rPr lang="en-US" dirty="0"/>
              <a:t>​</a:t>
            </a:r>
          </a:p>
          <a:p>
            <a:pPr fontAlgn="base"/>
            <a:r>
              <a:rPr lang="en-IN" dirty="0"/>
              <a:t>int choice;</a:t>
            </a:r>
            <a:r>
              <a:rPr lang="en-US" dirty="0"/>
              <a:t>​</a:t>
            </a:r>
          </a:p>
          <a:p>
            <a:pPr fontAlgn="base"/>
            <a:r>
              <a:rPr lang="en-IN" dirty="0"/>
              <a:t>while(1) { </a:t>
            </a:r>
            <a:r>
              <a:rPr lang="en-US" dirty="0"/>
              <a:t>​</a:t>
            </a:r>
          </a:p>
          <a:p>
            <a:pPr fontAlgn="base"/>
            <a:r>
              <a:rPr lang="en-IN" dirty="0" err="1"/>
              <a:t>printf</a:t>
            </a:r>
            <a:r>
              <a:rPr lang="en-IN" dirty="0"/>
              <a:t>("\n========================================\n"); </a:t>
            </a:r>
            <a:r>
              <a:rPr lang="en-US" dirty="0"/>
              <a:t>​</a:t>
            </a:r>
          </a:p>
          <a:p>
            <a:pPr fontAlgn="base"/>
            <a:r>
              <a:rPr lang="en-IN" dirty="0" err="1"/>
              <a:t>printf</a:t>
            </a:r>
            <a:r>
              <a:rPr lang="en-IN" dirty="0"/>
              <a:t>(" STUDENT MENU\n"); </a:t>
            </a:r>
            <a:r>
              <a:rPr lang="en-US" dirty="0"/>
              <a:t>​</a:t>
            </a:r>
          </a:p>
          <a:p>
            <a:pPr fontAlgn="base"/>
            <a:r>
              <a:rPr lang="en-IN" dirty="0" err="1"/>
              <a:t>printf</a:t>
            </a:r>
            <a:r>
              <a:rPr lang="en-IN" dirty="0"/>
              <a:t>("========================================\n"); </a:t>
            </a:r>
            <a:r>
              <a:rPr lang="en-US" dirty="0"/>
              <a:t>​</a:t>
            </a:r>
          </a:p>
          <a:p>
            <a:pPr fontAlgn="base"/>
            <a:r>
              <a:rPr lang="en-IN" dirty="0" err="1"/>
              <a:t>printf</a:t>
            </a:r>
            <a:r>
              <a:rPr lang="en-IN" dirty="0"/>
              <a:t>("1. Search Question Papers\n"); </a:t>
            </a:r>
            <a:r>
              <a:rPr lang="en-US" dirty="0"/>
              <a:t>​</a:t>
            </a:r>
          </a:p>
          <a:p>
            <a:pPr fontAlgn="base"/>
            <a:r>
              <a:rPr lang="en-IN" dirty="0" err="1"/>
              <a:t>printf</a:t>
            </a:r>
            <a:r>
              <a:rPr lang="en-IN" dirty="0"/>
              <a:t>("2. Browse by Subject\n"); </a:t>
            </a:r>
            <a:r>
              <a:rPr lang="en-US" dirty="0"/>
              <a:t>​</a:t>
            </a:r>
          </a:p>
          <a:p>
            <a:pPr fontAlgn="base"/>
            <a:r>
              <a:rPr lang="en-IN" dirty="0" err="1"/>
              <a:t>printf</a:t>
            </a:r>
            <a:r>
              <a:rPr lang="en-IN" dirty="0"/>
              <a:t>("3. Browse by Year\n"); </a:t>
            </a:r>
            <a:r>
              <a:rPr lang="en-US" dirty="0"/>
              <a:t>​</a:t>
            </a:r>
          </a:p>
          <a:p>
            <a:pPr fontAlgn="base"/>
            <a:r>
              <a:rPr lang="en-IN" dirty="0" err="1"/>
              <a:t>printf</a:t>
            </a:r>
            <a:r>
              <a:rPr lang="en-IN" dirty="0"/>
              <a:t>("4. Browse by Department\n"); </a:t>
            </a:r>
            <a:r>
              <a:rPr lang="en-US" dirty="0"/>
              <a:t>​</a:t>
            </a:r>
          </a:p>
          <a:p>
            <a:pPr fontAlgn="base"/>
            <a:r>
              <a:rPr lang="en-IN" dirty="0" err="1"/>
              <a:t>printf</a:t>
            </a:r>
            <a:r>
              <a:rPr lang="en-IN" dirty="0"/>
              <a:t>("5. View My Downloads\n"); </a:t>
            </a:r>
            <a:r>
              <a:rPr lang="en-US" dirty="0"/>
              <a:t>​</a:t>
            </a:r>
          </a:p>
          <a:p>
            <a:pPr fontAlgn="base"/>
            <a:r>
              <a:rPr lang="en-IN" dirty="0" err="1"/>
              <a:t>printf</a:t>
            </a:r>
            <a:r>
              <a:rPr lang="en-IN" dirty="0"/>
              <a:t>("6. Download Question Paper\n"); </a:t>
            </a:r>
            <a:r>
              <a:rPr lang="en-US" dirty="0"/>
              <a:t>​</a:t>
            </a:r>
          </a:p>
          <a:p>
            <a:pPr fontAlgn="base"/>
            <a:r>
              <a:rPr lang="en-IN" dirty="0" err="1"/>
              <a:t>printf</a:t>
            </a:r>
            <a:r>
              <a:rPr lang="en-IN" dirty="0"/>
              <a:t>("7. Logout\n"); </a:t>
            </a:r>
            <a:r>
              <a:rPr lang="en-US" dirty="0"/>
              <a:t>​</a:t>
            </a:r>
          </a:p>
          <a:p>
            <a:pPr fontAlgn="base"/>
            <a:r>
              <a:rPr lang="en-IN" dirty="0" err="1"/>
              <a:t>printf</a:t>
            </a:r>
            <a:r>
              <a:rPr lang="en-IN" dirty="0"/>
              <a:t>("========================================\n");</a:t>
            </a:r>
            <a:r>
              <a:rPr lang="en-US" dirty="0"/>
              <a:t>​</a:t>
            </a:r>
          </a:p>
          <a:p>
            <a:endParaRPr lang="en-IN" dirty="0"/>
          </a:p>
        </p:txBody>
      </p:sp>
    </p:spTree>
    <p:extLst>
      <p:ext uri="{BB962C8B-B14F-4D97-AF65-F5344CB8AC3E}">
        <p14:creationId xmlns:p14="http://schemas.microsoft.com/office/powerpoint/2010/main" val="36460041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29AB82-010D-1BE7-28B9-DC095B93DE15}"/>
              </a:ext>
            </a:extLst>
          </p:cNvPr>
          <p:cNvSpPr txBox="1"/>
          <p:nvPr/>
        </p:nvSpPr>
        <p:spPr>
          <a:xfrm>
            <a:off x="168965" y="258417"/>
            <a:ext cx="11817626" cy="5632311"/>
          </a:xfrm>
          <a:prstGeom prst="rect">
            <a:avLst/>
          </a:prstGeom>
          <a:noFill/>
        </p:spPr>
        <p:txBody>
          <a:bodyPr wrap="square" rtlCol="0">
            <a:spAutoFit/>
          </a:bodyPr>
          <a:lstStyle/>
          <a:p>
            <a:pPr fontAlgn="base"/>
            <a:r>
              <a:rPr lang="en-IN" dirty="0" err="1"/>
              <a:t>printf</a:t>
            </a:r>
            <a:r>
              <a:rPr lang="en-IN" dirty="0"/>
              <a:t>("\n Enter your choice: "); </a:t>
            </a:r>
            <a:r>
              <a:rPr lang="en-US" dirty="0"/>
              <a:t>​</a:t>
            </a:r>
          </a:p>
          <a:p>
            <a:pPr fontAlgn="base"/>
            <a:r>
              <a:rPr lang="en-IN" dirty="0" err="1"/>
              <a:t>scanf</a:t>
            </a:r>
            <a:r>
              <a:rPr lang="en-IN" dirty="0"/>
              <a:t>("%d", &amp;choice); </a:t>
            </a:r>
            <a:r>
              <a:rPr lang="en-US" dirty="0"/>
              <a:t>​</a:t>
            </a:r>
          </a:p>
          <a:p>
            <a:pPr fontAlgn="base"/>
            <a:r>
              <a:rPr lang="en-IN" dirty="0"/>
              <a:t>Clear Input Buffer(); </a:t>
            </a:r>
            <a:r>
              <a:rPr lang="en-US" dirty="0"/>
              <a:t>​</a:t>
            </a:r>
          </a:p>
          <a:p>
            <a:pPr fontAlgn="base"/>
            <a:r>
              <a:rPr lang="en-IN" dirty="0"/>
              <a:t>switch(choice) { </a:t>
            </a:r>
            <a:r>
              <a:rPr lang="en-US" dirty="0"/>
              <a:t>​</a:t>
            </a:r>
          </a:p>
          <a:p>
            <a:pPr fontAlgn="base"/>
            <a:r>
              <a:rPr lang="en-IN" dirty="0"/>
              <a:t>case 1: </a:t>
            </a:r>
            <a:r>
              <a:rPr lang="en-US" dirty="0"/>
              <a:t>​</a:t>
            </a:r>
          </a:p>
          <a:p>
            <a:pPr fontAlgn="base"/>
            <a:r>
              <a:rPr lang="en-IN" dirty="0"/>
              <a:t>Search Question Papers(roll Number); </a:t>
            </a:r>
            <a:r>
              <a:rPr lang="en-US" dirty="0"/>
              <a:t>​</a:t>
            </a:r>
          </a:p>
          <a:p>
            <a:pPr fontAlgn="base"/>
            <a:r>
              <a:rPr lang="en-IN" dirty="0"/>
              <a:t>break; </a:t>
            </a:r>
            <a:r>
              <a:rPr lang="en-US" dirty="0"/>
              <a:t>​</a:t>
            </a:r>
          </a:p>
          <a:p>
            <a:pPr fontAlgn="base"/>
            <a:r>
              <a:rPr lang="en-IN" dirty="0"/>
              <a:t>case 2: </a:t>
            </a:r>
            <a:r>
              <a:rPr lang="en-US" dirty="0"/>
              <a:t>​</a:t>
            </a:r>
          </a:p>
          <a:p>
            <a:pPr fontAlgn="base"/>
            <a:r>
              <a:rPr lang="en-IN" dirty="0"/>
              <a:t>Browse By Subject(roll Number); </a:t>
            </a:r>
            <a:r>
              <a:rPr lang="en-US" dirty="0"/>
              <a:t>​</a:t>
            </a:r>
          </a:p>
          <a:p>
            <a:pPr fontAlgn="base"/>
            <a:r>
              <a:rPr lang="en-IN" dirty="0"/>
              <a:t>break; </a:t>
            </a:r>
            <a:r>
              <a:rPr lang="en-US" dirty="0"/>
              <a:t>​</a:t>
            </a:r>
          </a:p>
          <a:p>
            <a:pPr fontAlgn="base"/>
            <a:r>
              <a:rPr lang="en-IN" dirty="0"/>
              <a:t>case 3: </a:t>
            </a:r>
            <a:r>
              <a:rPr lang="en-US" dirty="0"/>
              <a:t>​</a:t>
            </a:r>
          </a:p>
          <a:p>
            <a:pPr fontAlgn="base"/>
            <a:r>
              <a:rPr lang="en-IN" dirty="0"/>
              <a:t>Browse By Year(roll Number); </a:t>
            </a:r>
            <a:r>
              <a:rPr lang="en-US" dirty="0"/>
              <a:t>​</a:t>
            </a:r>
          </a:p>
          <a:p>
            <a:pPr fontAlgn="base"/>
            <a:r>
              <a:rPr lang="en-IN" dirty="0"/>
              <a:t>break; </a:t>
            </a:r>
            <a:r>
              <a:rPr lang="en-US" dirty="0"/>
              <a:t>​</a:t>
            </a:r>
          </a:p>
          <a:p>
            <a:pPr fontAlgn="base"/>
            <a:r>
              <a:rPr lang="en-IN" dirty="0"/>
              <a:t>case 4: </a:t>
            </a:r>
            <a:r>
              <a:rPr lang="en-US" dirty="0"/>
              <a:t>​</a:t>
            </a:r>
          </a:p>
          <a:p>
            <a:pPr fontAlgn="base"/>
            <a:r>
              <a:rPr lang="en-IN" dirty="0"/>
              <a:t>Browse By Department(roll Number); </a:t>
            </a:r>
            <a:r>
              <a:rPr lang="en-US" dirty="0"/>
              <a:t>​</a:t>
            </a:r>
          </a:p>
          <a:p>
            <a:pPr fontAlgn="base"/>
            <a:r>
              <a:rPr lang="en-IN" dirty="0"/>
              <a:t>break; </a:t>
            </a:r>
            <a:r>
              <a:rPr lang="en-US" dirty="0"/>
              <a:t>​</a:t>
            </a:r>
          </a:p>
          <a:p>
            <a:pPr fontAlgn="base"/>
            <a:r>
              <a:rPr lang="en-IN" dirty="0"/>
              <a:t>case 5: </a:t>
            </a:r>
            <a:r>
              <a:rPr lang="en-US" dirty="0"/>
              <a:t>​</a:t>
            </a:r>
          </a:p>
          <a:p>
            <a:pPr fontAlgn="base"/>
            <a:r>
              <a:rPr lang="en-IN" dirty="0"/>
              <a:t>View My Downloads(roll Number);</a:t>
            </a:r>
            <a:r>
              <a:rPr lang="en-US" dirty="0"/>
              <a:t>​</a:t>
            </a:r>
          </a:p>
          <a:p>
            <a:pPr fontAlgn="base"/>
            <a:r>
              <a:rPr lang="en-US" dirty="0"/>
              <a:t>break; ​</a:t>
            </a:r>
          </a:p>
          <a:p>
            <a:endParaRPr lang="en-IN" dirty="0"/>
          </a:p>
        </p:txBody>
      </p:sp>
    </p:spTree>
    <p:extLst>
      <p:ext uri="{BB962C8B-B14F-4D97-AF65-F5344CB8AC3E}">
        <p14:creationId xmlns:p14="http://schemas.microsoft.com/office/powerpoint/2010/main" val="3780653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56F57A-14CC-0E42-F15D-4CCD5B9C4296}"/>
              </a:ext>
            </a:extLst>
          </p:cNvPr>
          <p:cNvSpPr txBox="1"/>
          <p:nvPr/>
        </p:nvSpPr>
        <p:spPr>
          <a:xfrm>
            <a:off x="129209" y="238539"/>
            <a:ext cx="11618843" cy="5632311"/>
          </a:xfrm>
          <a:prstGeom prst="rect">
            <a:avLst/>
          </a:prstGeom>
          <a:noFill/>
        </p:spPr>
        <p:txBody>
          <a:bodyPr wrap="square" rtlCol="0">
            <a:spAutoFit/>
          </a:bodyPr>
          <a:lstStyle/>
          <a:p>
            <a:pPr fontAlgn="base"/>
            <a:r>
              <a:rPr lang="en-IN" dirty="0"/>
              <a:t>case 6: </a:t>
            </a:r>
            <a:r>
              <a:rPr lang="en-US" dirty="0"/>
              <a:t>​</a:t>
            </a:r>
          </a:p>
          <a:p>
            <a:pPr fontAlgn="base"/>
            <a:r>
              <a:rPr lang="en-IN" dirty="0"/>
              <a:t>Download Question Paper(roll Number); </a:t>
            </a:r>
            <a:r>
              <a:rPr lang="en-US" dirty="0"/>
              <a:t>​</a:t>
            </a:r>
          </a:p>
          <a:p>
            <a:pPr fontAlgn="base"/>
            <a:r>
              <a:rPr lang="en-IN" dirty="0"/>
              <a:t>break; </a:t>
            </a:r>
            <a:r>
              <a:rPr lang="en-US" dirty="0"/>
              <a:t>​</a:t>
            </a:r>
          </a:p>
          <a:p>
            <a:pPr fontAlgn="base"/>
            <a:r>
              <a:rPr lang="en-IN" dirty="0"/>
              <a:t>case 7: </a:t>
            </a:r>
            <a:r>
              <a:rPr lang="en-US" dirty="0"/>
              <a:t>​</a:t>
            </a:r>
          </a:p>
          <a:p>
            <a:pPr fontAlgn="base"/>
            <a:r>
              <a:rPr lang="en-IN" dirty="0" err="1"/>
              <a:t>printf</a:t>
            </a:r>
            <a:r>
              <a:rPr lang="en-IN" dirty="0"/>
              <a:t>("\n Logging out...\n"); </a:t>
            </a:r>
            <a:r>
              <a:rPr lang="en-US" dirty="0"/>
              <a:t>​</a:t>
            </a:r>
          </a:p>
          <a:p>
            <a:pPr fontAlgn="base"/>
            <a:r>
              <a:rPr lang="en-IN" dirty="0"/>
              <a:t>return; </a:t>
            </a:r>
            <a:r>
              <a:rPr lang="en-US" dirty="0"/>
              <a:t>​</a:t>
            </a:r>
          </a:p>
          <a:p>
            <a:pPr fontAlgn="base"/>
            <a:r>
              <a:rPr lang="en-IN" dirty="0"/>
              <a:t>default: </a:t>
            </a:r>
            <a:r>
              <a:rPr lang="en-US" dirty="0"/>
              <a:t>​</a:t>
            </a:r>
          </a:p>
          <a:p>
            <a:pPr fontAlgn="base"/>
            <a:r>
              <a:rPr lang="en-IN" dirty="0" err="1"/>
              <a:t>printf</a:t>
            </a:r>
            <a:r>
              <a:rPr lang="en-IN" dirty="0"/>
              <a:t>("\n Invalid choice!\n"); } </a:t>
            </a:r>
            <a:r>
              <a:rPr lang="en-US" dirty="0"/>
              <a:t>​</a:t>
            </a:r>
          </a:p>
          <a:p>
            <a:pPr fontAlgn="base"/>
            <a:r>
              <a:rPr lang="en-IN" dirty="0"/>
              <a:t>}</a:t>
            </a:r>
            <a:r>
              <a:rPr lang="en-US" dirty="0"/>
              <a:t>​</a:t>
            </a:r>
          </a:p>
          <a:p>
            <a:pPr fontAlgn="base"/>
            <a:r>
              <a:rPr lang="en-IN" dirty="0"/>
              <a:t>}</a:t>
            </a:r>
            <a:r>
              <a:rPr lang="en-US" dirty="0"/>
              <a:t>​</a:t>
            </a:r>
          </a:p>
          <a:p>
            <a:pPr fontAlgn="base"/>
            <a:r>
              <a:rPr lang="en-IN" dirty="0"/>
              <a:t>void search Question Papers(char *roll Number) { </a:t>
            </a:r>
            <a:r>
              <a:rPr lang="en-US" dirty="0"/>
              <a:t>​</a:t>
            </a:r>
          </a:p>
          <a:p>
            <a:pPr fontAlgn="base"/>
            <a:r>
              <a:rPr lang="en-IN" dirty="0"/>
              <a:t>char keyword[50], subject[50], semester[20], department[50]; </a:t>
            </a:r>
            <a:r>
              <a:rPr lang="en-US" dirty="0"/>
              <a:t>​</a:t>
            </a:r>
          </a:p>
          <a:p>
            <a:pPr fontAlgn="base"/>
            <a:r>
              <a:rPr lang="en-IN" dirty="0"/>
              <a:t>int year;</a:t>
            </a:r>
            <a:r>
              <a:rPr lang="en-US" dirty="0"/>
              <a:t>​</a:t>
            </a:r>
          </a:p>
          <a:p>
            <a:pPr fontAlgn="base"/>
            <a:r>
              <a:rPr lang="en-IN" dirty="0"/>
              <a:t>​</a:t>
            </a:r>
          </a:p>
          <a:p>
            <a:pPr fontAlgn="base"/>
            <a:r>
              <a:rPr lang="en-IN" dirty="0" err="1"/>
              <a:t>printf</a:t>
            </a:r>
            <a:r>
              <a:rPr lang="en-IN" dirty="0"/>
              <a:t>("\n--- SEARCH QUESTION PAPERS ---\n"); </a:t>
            </a:r>
            <a:r>
              <a:rPr lang="en-US" dirty="0"/>
              <a:t>​</a:t>
            </a:r>
          </a:p>
          <a:p>
            <a:pPr fontAlgn="base"/>
            <a:r>
              <a:rPr lang="en-IN" dirty="0" err="1"/>
              <a:t>printf</a:t>
            </a:r>
            <a:r>
              <a:rPr lang="en-IN" dirty="0"/>
              <a:t>("Enter search criteria:\n"); </a:t>
            </a:r>
            <a:r>
              <a:rPr lang="en-US" dirty="0"/>
              <a:t>​</a:t>
            </a:r>
          </a:p>
          <a:p>
            <a:pPr fontAlgn="base"/>
            <a:r>
              <a:rPr lang="en-IN" dirty="0" err="1"/>
              <a:t>printf</a:t>
            </a:r>
            <a:r>
              <a:rPr lang="en-IN" dirty="0"/>
              <a:t>("Keyword (or press Enter to skip): "); </a:t>
            </a:r>
            <a:r>
              <a:rPr lang="en-US" dirty="0"/>
              <a:t>​</a:t>
            </a:r>
          </a:p>
          <a:p>
            <a:pPr fontAlgn="base"/>
            <a:r>
              <a:rPr lang="en-IN" dirty="0" err="1"/>
              <a:t>fgets</a:t>
            </a:r>
            <a:r>
              <a:rPr lang="en-IN" dirty="0"/>
              <a:t>(keyword, size of(keyword), stdin); </a:t>
            </a:r>
            <a:r>
              <a:rPr lang="en-US" dirty="0"/>
              <a:t>​</a:t>
            </a:r>
          </a:p>
          <a:p>
            <a:pPr fontAlgn="base"/>
            <a:r>
              <a:rPr lang="en-IN" dirty="0"/>
              <a:t>keyword[</a:t>
            </a:r>
            <a:r>
              <a:rPr lang="en-IN" dirty="0" err="1"/>
              <a:t>strcspn</a:t>
            </a:r>
            <a:r>
              <a:rPr lang="en-IN" dirty="0"/>
              <a:t>(keyword, "\n")] = 0;</a:t>
            </a:r>
            <a:r>
              <a:rPr lang="en-US" dirty="0"/>
              <a:t>​</a:t>
            </a:r>
          </a:p>
          <a:p>
            <a:endParaRPr lang="en-IN" dirty="0"/>
          </a:p>
        </p:txBody>
      </p:sp>
    </p:spTree>
    <p:extLst>
      <p:ext uri="{BB962C8B-B14F-4D97-AF65-F5344CB8AC3E}">
        <p14:creationId xmlns:p14="http://schemas.microsoft.com/office/powerpoint/2010/main" val="3859233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5F8D8C-29C8-E0BF-4D9C-41C08B7EDD57}"/>
              </a:ext>
            </a:extLst>
          </p:cNvPr>
          <p:cNvSpPr txBox="1"/>
          <p:nvPr/>
        </p:nvSpPr>
        <p:spPr>
          <a:xfrm>
            <a:off x="129209" y="208722"/>
            <a:ext cx="11847443" cy="5909310"/>
          </a:xfrm>
          <a:prstGeom prst="rect">
            <a:avLst/>
          </a:prstGeom>
          <a:noFill/>
        </p:spPr>
        <p:txBody>
          <a:bodyPr wrap="square" rtlCol="0">
            <a:spAutoFit/>
          </a:bodyPr>
          <a:lstStyle/>
          <a:p>
            <a:pPr fontAlgn="base"/>
            <a:r>
              <a:rPr lang="en-US" dirty="0" err="1"/>
              <a:t>printf</a:t>
            </a:r>
            <a:r>
              <a:rPr lang="en-US" dirty="0"/>
              <a:t>("Subject (or press Enter to skip): "); ​</a:t>
            </a:r>
          </a:p>
          <a:p>
            <a:pPr fontAlgn="base"/>
            <a:r>
              <a:rPr lang="en-US" dirty="0" err="1"/>
              <a:t>fgets</a:t>
            </a:r>
            <a:r>
              <a:rPr lang="en-US" dirty="0"/>
              <a:t>(subject, size of(subject), stdin); ​</a:t>
            </a:r>
          </a:p>
          <a:p>
            <a:pPr fontAlgn="base"/>
            <a:r>
              <a:rPr lang="en-US" dirty="0"/>
              <a:t>subject[</a:t>
            </a:r>
            <a:r>
              <a:rPr lang="en-US" dirty="0" err="1"/>
              <a:t>strcspn</a:t>
            </a:r>
            <a:r>
              <a:rPr lang="en-US" dirty="0"/>
              <a:t>(subject, "\n")] = 0; ​</a:t>
            </a:r>
          </a:p>
          <a:p>
            <a:pPr fontAlgn="base"/>
            <a:r>
              <a:rPr lang="en-US" dirty="0" err="1"/>
              <a:t>printf</a:t>
            </a:r>
            <a:r>
              <a:rPr lang="en-US" dirty="0"/>
              <a:t>("Year (0 to skip): "); ​</a:t>
            </a:r>
          </a:p>
          <a:p>
            <a:pPr fontAlgn="base"/>
            <a:r>
              <a:rPr lang="en-US" dirty="0" err="1"/>
              <a:t>scanf</a:t>
            </a:r>
            <a:r>
              <a:rPr lang="en-US" dirty="0"/>
              <a:t>("%d", &amp;year); ​</a:t>
            </a:r>
          </a:p>
          <a:p>
            <a:pPr fontAlgn="base"/>
            <a:r>
              <a:rPr lang="en-US" dirty="0"/>
              <a:t>Clear Input Buffer();​</a:t>
            </a:r>
          </a:p>
          <a:p>
            <a:pPr fontAlgn="base"/>
            <a:r>
              <a:rPr lang="en-US" dirty="0"/>
              <a:t>​</a:t>
            </a:r>
          </a:p>
          <a:p>
            <a:pPr fontAlgn="base"/>
            <a:r>
              <a:rPr lang="en-IN" dirty="0" err="1"/>
              <a:t>printf</a:t>
            </a:r>
            <a:r>
              <a:rPr lang="en-IN" dirty="0"/>
              <a:t>("Semester (or press Enter to skip): "); </a:t>
            </a:r>
            <a:r>
              <a:rPr lang="en-US" dirty="0"/>
              <a:t>​</a:t>
            </a:r>
          </a:p>
          <a:p>
            <a:pPr fontAlgn="base"/>
            <a:r>
              <a:rPr lang="en-IN" dirty="0" err="1"/>
              <a:t>fgets</a:t>
            </a:r>
            <a:r>
              <a:rPr lang="en-IN" dirty="0"/>
              <a:t>(semester, size of(semester), stdin); </a:t>
            </a:r>
            <a:r>
              <a:rPr lang="en-US" dirty="0"/>
              <a:t>​</a:t>
            </a:r>
          </a:p>
          <a:p>
            <a:pPr fontAlgn="base"/>
            <a:r>
              <a:rPr lang="en-IN" dirty="0"/>
              <a:t>semester[</a:t>
            </a:r>
            <a:r>
              <a:rPr lang="en-IN" dirty="0" err="1"/>
              <a:t>strcspn</a:t>
            </a:r>
            <a:r>
              <a:rPr lang="en-IN" dirty="0"/>
              <a:t>(semester, "\n")] = 0;</a:t>
            </a:r>
            <a:r>
              <a:rPr lang="en-US" dirty="0"/>
              <a:t>​</a:t>
            </a:r>
          </a:p>
          <a:p>
            <a:pPr fontAlgn="base"/>
            <a:r>
              <a:rPr lang="en-US" dirty="0"/>
              <a:t>​</a:t>
            </a:r>
          </a:p>
          <a:p>
            <a:pPr fontAlgn="base"/>
            <a:r>
              <a:rPr lang="en-IN" dirty="0" err="1"/>
              <a:t>printf</a:t>
            </a:r>
            <a:r>
              <a:rPr lang="en-IN" dirty="0"/>
              <a:t>("Department (or press Enter to skip): "); </a:t>
            </a:r>
            <a:r>
              <a:rPr lang="en-US" dirty="0"/>
              <a:t>​</a:t>
            </a:r>
          </a:p>
          <a:p>
            <a:pPr fontAlgn="base"/>
            <a:r>
              <a:rPr lang="en-IN" dirty="0" err="1"/>
              <a:t>fgets</a:t>
            </a:r>
            <a:r>
              <a:rPr lang="en-IN" dirty="0"/>
              <a:t>(department, size of(department), stdin); </a:t>
            </a:r>
            <a:r>
              <a:rPr lang="en-US" dirty="0"/>
              <a:t>​</a:t>
            </a:r>
          </a:p>
          <a:p>
            <a:pPr fontAlgn="base"/>
            <a:r>
              <a:rPr lang="en-IN" dirty="0"/>
              <a:t>department[</a:t>
            </a:r>
            <a:r>
              <a:rPr lang="en-IN" dirty="0" err="1"/>
              <a:t>strcspn</a:t>
            </a:r>
            <a:r>
              <a:rPr lang="en-IN" dirty="0"/>
              <a:t>(department, "\n")] = 0; </a:t>
            </a:r>
            <a:r>
              <a:rPr lang="en-US" dirty="0"/>
              <a:t>​</a:t>
            </a:r>
          </a:p>
          <a:p>
            <a:pPr fontAlgn="base"/>
            <a:r>
              <a:rPr lang="en-IN" dirty="0"/>
              <a:t>​</a:t>
            </a:r>
          </a:p>
          <a:p>
            <a:pPr fontAlgn="base"/>
            <a:r>
              <a:rPr lang="en-US" dirty="0" err="1"/>
              <a:t>printf</a:t>
            </a:r>
            <a:r>
              <a:rPr lang="en-US" dirty="0"/>
              <a:t>("\n--- SEARCH RESULTS ---\n"); ​</a:t>
            </a:r>
          </a:p>
          <a:p>
            <a:pPr fontAlgn="base"/>
            <a:r>
              <a:rPr lang="en-US" dirty="0"/>
              <a:t>int found = 0; ​</a:t>
            </a:r>
          </a:p>
          <a:p>
            <a:pPr fontAlgn="base"/>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a:t>int match = 1;</a:t>
            </a:r>
            <a:r>
              <a:rPr lang="en-US" dirty="0"/>
              <a:t>​</a:t>
            </a:r>
          </a:p>
          <a:p>
            <a:endParaRPr lang="en-IN" dirty="0"/>
          </a:p>
        </p:txBody>
      </p:sp>
    </p:spTree>
    <p:extLst>
      <p:ext uri="{BB962C8B-B14F-4D97-AF65-F5344CB8AC3E}">
        <p14:creationId xmlns:p14="http://schemas.microsoft.com/office/powerpoint/2010/main" val="28589632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8EEC99-C290-A846-84C7-4EE357112ADC}"/>
              </a:ext>
            </a:extLst>
          </p:cNvPr>
          <p:cNvSpPr txBox="1"/>
          <p:nvPr/>
        </p:nvSpPr>
        <p:spPr>
          <a:xfrm>
            <a:off x="89452" y="208722"/>
            <a:ext cx="11738113" cy="5355312"/>
          </a:xfrm>
          <a:prstGeom prst="rect">
            <a:avLst/>
          </a:prstGeom>
          <a:noFill/>
        </p:spPr>
        <p:txBody>
          <a:bodyPr wrap="square" rtlCol="0">
            <a:spAutoFit/>
          </a:bodyPr>
          <a:lstStyle/>
          <a:p>
            <a:pPr fontAlgn="base"/>
            <a:r>
              <a:rPr lang="en-IN" dirty="0"/>
              <a:t>if(</a:t>
            </a:r>
            <a:r>
              <a:rPr lang="en-IN" dirty="0" err="1"/>
              <a:t>strlen</a:t>
            </a:r>
            <a:r>
              <a:rPr lang="en-IN" dirty="0"/>
              <a:t>(keyword) &gt; 0 &amp;&amp; </a:t>
            </a:r>
            <a:r>
              <a:rPr lang="en-IN" dirty="0" err="1"/>
              <a:t>strstr</a:t>
            </a:r>
            <a:r>
              <a:rPr lang="en-IN" dirty="0"/>
              <a:t>(papers[</a:t>
            </a:r>
            <a:r>
              <a:rPr lang="en-IN" dirty="0" err="1"/>
              <a:t>i</a:t>
            </a:r>
            <a:r>
              <a:rPr lang="en-IN" dirty="0"/>
              <a:t>].subject, keyword) == NULL) </a:t>
            </a:r>
            <a:r>
              <a:rPr lang="en-US" dirty="0"/>
              <a:t>​</a:t>
            </a:r>
          </a:p>
          <a:p>
            <a:pPr fontAlgn="base"/>
            <a:r>
              <a:rPr lang="en-IN" dirty="0"/>
              <a:t>match = 0; </a:t>
            </a:r>
            <a:r>
              <a:rPr lang="en-US" dirty="0"/>
              <a:t>​</a:t>
            </a:r>
          </a:p>
          <a:p>
            <a:pPr fontAlgn="base"/>
            <a:r>
              <a:rPr lang="en-IN" dirty="0"/>
              <a:t>if(</a:t>
            </a:r>
            <a:r>
              <a:rPr lang="en-IN" dirty="0" err="1"/>
              <a:t>strlen</a:t>
            </a:r>
            <a:r>
              <a:rPr lang="en-IN" dirty="0"/>
              <a:t>(subject) &gt; 0 &amp;&amp; </a:t>
            </a:r>
            <a:r>
              <a:rPr lang="en-IN" dirty="0" err="1"/>
              <a:t>strcmp</a:t>
            </a:r>
            <a:r>
              <a:rPr lang="en-IN" dirty="0"/>
              <a:t>(papers[</a:t>
            </a:r>
            <a:r>
              <a:rPr lang="en-IN" dirty="0" err="1"/>
              <a:t>i</a:t>
            </a:r>
            <a:r>
              <a:rPr lang="en-IN" dirty="0"/>
              <a:t>].subject, subject) != 0) </a:t>
            </a:r>
            <a:r>
              <a:rPr lang="en-US" dirty="0"/>
              <a:t>​</a:t>
            </a:r>
          </a:p>
          <a:p>
            <a:pPr fontAlgn="base"/>
            <a:r>
              <a:rPr lang="en-IN" dirty="0"/>
              <a:t>match = 0; </a:t>
            </a:r>
            <a:r>
              <a:rPr lang="en-US" dirty="0"/>
              <a:t>​</a:t>
            </a:r>
          </a:p>
          <a:p>
            <a:pPr fontAlgn="base"/>
            <a:r>
              <a:rPr lang="en-IN" dirty="0"/>
              <a:t>if(year &gt; 0 &amp;&amp; papers[</a:t>
            </a:r>
            <a:r>
              <a:rPr lang="en-IN" dirty="0" err="1"/>
              <a:t>i</a:t>
            </a:r>
            <a:r>
              <a:rPr lang="en-IN" dirty="0"/>
              <a:t>].year != year) </a:t>
            </a:r>
            <a:r>
              <a:rPr lang="en-US" dirty="0"/>
              <a:t>​</a:t>
            </a:r>
          </a:p>
          <a:p>
            <a:pPr fontAlgn="base"/>
            <a:r>
              <a:rPr lang="en-IN" dirty="0"/>
              <a:t>match = 0; </a:t>
            </a:r>
            <a:r>
              <a:rPr lang="en-US" dirty="0"/>
              <a:t>​</a:t>
            </a:r>
          </a:p>
          <a:p>
            <a:pPr fontAlgn="base"/>
            <a:r>
              <a:rPr lang="en-IN" dirty="0"/>
              <a:t>if(</a:t>
            </a:r>
            <a:r>
              <a:rPr lang="en-IN" dirty="0" err="1"/>
              <a:t>strlen</a:t>
            </a:r>
            <a:r>
              <a:rPr lang="en-IN" dirty="0"/>
              <a:t>(semester) &gt; 0 &amp;&amp; </a:t>
            </a:r>
            <a:r>
              <a:rPr lang="en-IN" dirty="0" err="1"/>
              <a:t>strcmp</a:t>
            </a:r>
            <a:r>
              <a:rPr lang="en-IN" dirty="0"/>
              <a:t>(papers[</a:t>
            </a:r>
            <a:r>
              <a:rPr lang="en-IN" dirty="0" err="1"/>
              <a:t>i</a:t>
            </a:r>
            <a:r>
              <a:rPr lang="en-IN" dirty="0"/>
              <a:t>].semester, semester) != 0) </a:t>
            </a:r>
            <a:r>
              <a:rPr lang="en-US" dirty="0"/>
              <a:t>​</a:t>
            </a:r>
          </a:p>
          <a:p>
            <a:pPr fontAlgn="base"/>
            <a:r>
              <a:rPr lang="en-IN" dirty="0"/>
              <a:t>match = 0; </a:t>
            </a:r>
            <a:r>
              <a:rPr lang="en-US" dirty="0"/>
              <a:t>​</a:t>
            </a:r>
          </a:p>
          <a:p>
            <a:pPr fontAlgn="base"/>
            <a:r>
              <a:rPr lang="en-IN" dirty="0"/>
              <a:t>if(</a:t>
            </a:r>
            <a:r>
              <a:rPr lang="en-IN" dirty="0" err="1"/>
              <a:t>strlen</a:t>
            </a:r>
            <a:r>
              <a:rPr lang="en-IN" dirty="0"/>
              <a:t>(department) &gt; 0 &amp;&amp; </a:t>
            </a:r>
            <a:r>
              <a:rPr lang="en-IN" dirty="0" err="1"/>
              <a:t>strcmp</a:t>
            </a:r>
            <a:r>
              <a:rPr lang="en-IN" dirty="0"/>
              <a:t>(papers[</a:t>
            </a:r>
            <a:r>
              <a:rPr lang="en-IN" dirty="0" err="1"/>
              <a:t>i</a:t>
            </a:r>
            <a:r>
              <a:rPr lang="en-IN" dirty="0"/>
              <a:t>].department, department) != 0) </a:t>
            </a:r>
            <a:r>
              <a:rPr lang="en-US" dirty="0"/>
              <a:t>​</a:t>
            </a:r>
          </a:p>
          <a:p>
            <a:pPr fontAlgn="base"/>
            <a:r>
              <a:rPr lang="en-IN" dirty="0"/>
              <a:t>match = 0;</a:t>
            </a:r>
            <a:r>
              <a:rPr lang="en-US" dirty="0"/>
              <a:t>​</a:t>
            </a:r>
          </a:p>
          <a:p>
            <a:pPr fontAlgn="base"/>
            <a:r>
              <a:rPr lang="en-IN" dirty="0"/>
              <a:t>if(match) { </a:t>
            </a:r>
            <a:r>
              <a:rPr lang="en-US" dirty="0"/>
              <a:t>​</a:t>
            </a:r>
          </a:p>
          <a:p>
            <a:pPr fontAlgn="base"/>
            <a:r>
              <a:rPr lang="en-IN" dirty="0" err="1"/>
              <a:t>printf</a:t>
            </a:r>
            <a:r>
              <a:rPr lang="en-IN" dirty="0"/>
              <a:t>("\</a:t>
            </a:r>
            <a:r>
              <a:rPr lang="en-IN" dirty="0" err="1"/>
              <a:t>nPaper</a:t>
            </a:r>
            <a:r>
              <a:rPr lang="en-IN" dirty="0"/>
              <a:t> ID: %s\n", papers[</a:t>
            </a:r>
            <a:r>
              <a:rPr lang="en-IN" dirty="0" err="1"/>
              <a:t>i</a:t>
            </a:r>
            <a:r>
              <a:rPr lang="en-IN" dirty="0"/>
              <a:t>].</a:t>
            </a:r>
            <a:r>
              <a:rPr lang="en-IN" dirty="0" err="1"/>
              <a:t>paperID</a:t>
            </a:r>
            <a:r>
              <a:rPr lang="en-IN" dirty="0"/>
              <a:t>); </a:t>
            </a:r>
            <a:r>
              <a:rPr lang="en-US" dirty="0"/>
              <a:t>​</a:t>
            </a:r>
          </a:p>
          <a:p>
            <a:pPr fontAlgn="base"/>
            <a:r>
              <a:rPr lang="en-IN" dirty="0" err="1"/>
              <a:t>printf</a:t>
            </a:r>
            <a:r>
              <a:rPr lang="en-IN" dirty="0"/>
              <a:t>("Subject: %s\n", papers[</a:t>
            </a:r>
            <a:r>
              <a:rPr lang="en-IN" dirty="0" err="1"/>
              <a:t>i</a:t>
            </a:r>
            <a:r>
              <a:rPr lang="en-IN" dirty="0"/>
              <a:t>].subject); </a:t>
            </a:r>
            <a:r>
              <a:rPr lang="en-US" dirty="0"/>
              <a:t>​</a:t>
            </a:r>
          </a:p>
          <a:p>
            <a:pPr fontAlgn="base"/>
            <a:r>
              <a:rPr lang="en-IN" dirty="0" err="1"/>
              <a:t>printf</a:t>
            </a:r>
            <a:r>
              <a:rPr lang="en-IN" dirty="0"/>
              <a:t>("Year: %d | Semester: %s\n", papers[</a:t>
            </a:r>
            <a:r>
              <a:rPr lang="en-IN" dirty="0" err="1"/>
              <a:t>i</a:t>
            </a:r>
            <a:r>
              <a:rPr lang="en-IN" dirty="0"/>
              <a:t>].year, papers[</a:t>
            </a:r>
            <a:r>
              <a:rPr lang="en-IN" dirty="0" err="1"/>
              <a:t>i</a:t>
            </a:r>
            <a:r>
              <a:rPr lang="en-IN" dirty="0"/>
              <a:t>].semester); </a:t>
            </a:r>
            <a:r>
              <a:rPr lang="en-US" dirty="0"/>
              <a:t>​</a:t>
            </a:r>
          </a:p>
          <a:p>
            <a:pPr fontAlgn="base"/>
            <a:r>
              <a:rPr lang="en-IN" dirty="0" err="1"/>
              <a:t>printf</a:t>
            </a:r>
            <a:r>
              <a:rPr lang="en-IN" dirty="0"/>
              <a:t>("Department: %s\n", papers[</a:t>
            </a:r>
            <a:r>
              <a:rPr lang="en-IN" dirty="0" err="1"/>
              <a:t>i</a:t>
            </a:r>
            <a:r>
              <a:rPr lang="en-IN" dirty="0"/>
              <a:t>].department); </a:t>
            </a:r>
            <a:r>
              <a:rPr lang="en-US" dirty="0"/>
              <a:t>​</a:t>
            </a:r>
          </a:p>
          <a:p>
            <a:pPr fontAlgn="base"/>
            <a:r>
              <a:rPr lang="en-IN" dirty="0" err="1"/>
              <a:t>printf</a:t>
            </a:r>
            <a:r>
              <a:rPr lang="en-IN" dirty="0"/>
              <a:t>("-------------------------------\n"); </a:t>
            </a:r>
            <a:r>
              <a:rPr lang="en-US" dirty="0"/>
              <a:t>​</a:t>
            </a:r>
          </a:p>
          <a:p>
            <a:pPr fontAlgn="base"/>
            <a:r>
              <a:rPr lang="en-IN" dirty="0"/>
              <a:t>found++; } </a:t>
            </a:r>
            <a:r>
              <a:rPr lang="en-US" dirty="0"/>
              <a:t>​</a:t>
            </a:r>
          </a:p>
          <a:p>
            <a:pPr fontAlgn="base"/>
            <a:r>
              <a:rPr lang="en-IN" dirty="0"/>
              <a:t>}</a:t>
            </a:r>
            <a:r>
              <a:rPr lang="en-US" dirty="0"/>
              <a:t>​</a:t>
            </a:r>
          </a:p>
          <a:p>
            <a:endParaRPr lang="en-IN" dirty="0"/>
          </a:p>
        </p:txBody>
      </p:sp>
    </p:spTree>
    <p:extLst>
      <p:ext uri="{BB962C8B-B14F-4D97-AF65-F5344CB8AC3E}">
        <p14:creationId xmlns:p14="http://schemas.microsoft.com/office/powerpoint/2010/main" val="20993913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D4B84F-08F3-3D5D-90DB-9FFCF699F5A6}"/>
              </a:ext>
            </a:extLst>
          </p:cNvPr>
          <p:cNvSpPr txBox="1"/>
          <p:nvPr/>
        </p:nvSpPr>
        <p:spPr>
          <a:xfrm>
            <a:off x="695739" y="337930"/>
            <a:ext cx="11956774" cy="5909310"/>
          </a:xfrm>
          <a:prstGeom prst="rect">
            <a:avLst/>
          </a:prstGeom>
          <a:noFill/>
        </p:spPr>
        <p:txBody>
          <a:bodyPr wrap="square" rtlCol="0">
            <a:spAutoFit/>
          </a:bodyPr>
          <a:lstStyle/>
          <a:p>
            <a:pPr fontAlgn="base"/>
            <a:r>
              <a:rPr lang="en-IN" dirty="0"/>
              <a:t>if(found == 0) { </a:t>
            </a:r>
            <a:r>
              <a:rPr lang="en-US" dirty="0"/>
              <a:t>​</a:t>
            </a:r>
          </a:p>
          <a:p>
            <a:pPr fontAlgn="base"/>
            <a:r>
              <a:rPr lang="en-IN" dirty="0" err="1"/>
              <a:t>printf</a:t>
            </a:r>
            <a:r>
              <a:rPr lang="en-IN" dirty="0"/>
              <a:t>("No matching results found!\n"); } </a:t>
            </a:r>
            <a:r>
              <a:rPr lang="en-US" dirty="0"/>
              <a:t>​</a:t>
            </a:r>
          </a:p>
          <a:p>
            <a:pPr fontAlgn="base"/>
            <a:r>
              <a:rPr lang="en-IN" dirty="0"/>
              <a:t>else { </a:t>
            </a:r>
            <a:r>
              <a:rPr lang="en-US" dirty="0"/>
              <a:t>​</a:t>
            </a:r>
          </a:p>
          <a:p>
            <a:pPr fontAlgn="base"/>
            <a:r>
              <a:rPr lang="en-IN" dirty="0" err="1"/>
              <a:t>printf</a:t>
            </a:r>
            <a:r>
              <a:rPr lang="en-IN" dirty="0"/>
              <a:t>("\n Total results: %d\n", found); }</a:t>
            </a:r>
            <a:r>
              <a:rPr lang="en-US" dirty="0"/>
              <a:t>​</a:t>
            </a:r>
          </a:p>
          <a:p>
            <a:pPr fontAlgn="base"/>
            <a:r>
              <a:rPr lang="en-IN" dirty="0"/>
              <a:t>}</a:t>
            </a:r>
            <a:r>
              <a:rPr lang="en-US" dirty="0"/>
              <a:t>​</a:t>
            </a:r>
          </a:p>
          <a:p>
            <a:pPr fontAlgn="base"/>
            <a:r>
              <a:rPr lang="en-IN" dirty="0"/>
              <a:t>void browse By Subject(char *roll Number) { </a:t>
            </a:r>
            <a:r>
              <a:rPr lang="en-US" dirty="0"/>
              <a:t>​</a:t>
            </a:r>
          </a:p>
          <a:p>
            <a:pPr fontAlgn="base"/>
            <a:r>
              <a:rPr lang="en-IN" dirty="0" err="1"/>
              <a:t>printf</a:t>
            </a:r>
            <a:r>
              <a:rPr lang="en-IN" dirty="0"/>
              <a:t>("\n--- BROWSE BY SUBJECT ---\n"); </a:t>
            </a:r>
            <a:r>
              <a:rPr lang="en-US" dirty="0"/>
              <a:t>​</a:t>
            </a:r>
          </a:p>
          <a:p>
            <a:pPr fontAlgn="base"/>
            <a:r>
              <a:rPr lang="en-IN" dirty="0"/>
              <a:t>if(paper Count == 0) { </a:t>
            </a:r>
            <a:r>
              <a:rPr lang="en-US" dirty="0"/>
              <a:t>​</a:t>
            </a:r>
          </a:p>
          <a:p>
            <a:pPr fontAlgn="base"/>
            <a:r>
              <a:rPr lang="en-IN" dirty="0" err="1"/>
              <a:t>printf</a:t>
            </a:r>
            <a:r>
              <a:rPr lang="en-IN" dirty="0"/>
              <a:t>("No question papers available!\n"); </a:t>
            </a:r>
            <a:r>
              <a:rPr lang="en-US" dirty="0"/>
              <a:t>​</a:t>
            </a:r>
          </a:p>
          <a:p>
            <a:pPr fontAlgn="base"/>
            <a:r>
              <a:rPr lang="en-IN" dirty="0"/>
              <a:t>return; } </a:t>
            </a:r>
            <a:r>
              <a:rPr lang="en-US" dirty="0"/>
              <a:t>​</a:t>
            </a:r>
          </a:p>
          <a:p>
            <a:pPr fontAlgn="base"/>
            <a:r>
              <a:rPr lang="en-IN" dirty="0"/>
              <a:t>​</a:t>
            </a:r>
          </a:p>
          <a:p>
            <a:pPr fontAlgn="base"/>
            <a:r>
              <a:rPr lang="en-US" dirty="0"/>
              <a:t>// Display unique subjects ​</a:t>
            </a:r>
          </a:p>
          <a:p>
            <a:pPr fontAlgn="base"/>
            <a:r>
              <a:rPr lang="en-US" dirty="0"/>
              <a:t>char subjects[100][50]; ​</a:t>
            </a:r>
          </a:p>
          <a:p>
            <a:pPr fontAlgn="base"/>
            <a:r>
              <a:rPr lang="en-US" dirty="0"/>
              <a:t>int subject Count = 0; ​</a:t>
            </a:r>
          </a:p>
          <a:p>
            <a:pPr fontAlgn="base"/>
            <a:r>
              <a:rPr lang="en-US" dirty="0"/>
              <a:t>for(int </a:t>
            </a:r>
            <a:r>
              <a:rPr lang="en-US" dirty="0" err="1"/>
              <a:t>i</a:t>
            </a:r>
            <a:r>
              <a:rPr lang="en-US" dirty="0"/>
              <a:t> = 0; </a:t>
            </a:r>
            <a:r>
              <a:rPr lang="en-US" dirty="0" err="1"/>
              <a:t>i</a:t>
            </a:r>
            <a:r>
              <a:rPr lang="en-US" dirty="0"/>
              <a:t> &lt; paper Count; </a:t>
            </a:r>
            <a:r>
              <a:rPr lang="en-US" dirty="0" err="1"/>
              <a:t>i</a:t>
            </a:r>
            <a:r>
              <a:rPr lang="en-US" dirty="0"/>
              <a:t>++) { ​</a:t>
            </a:r>
          </a:p>
          <a:p>
            <a:pPr fontAlgn="base"/>
            <a:r>
              <a:rPr lang="en-US" dirty="0"/>
              <a:t>int exists = 0; ​</a:t>
            </a:r>
          </a:p>
          <a:p>
            <a:pPr fontAlgn="base"/>
            <a:r>
              <a:rPr lang="en-US" dirty="0"/>
              <a:t>for(int j = 0; j &lt; subject Count; </a:t>
            </a:r>
            <a:r>
              <a:rPr lang="en-US" dirty="0" err="1"/>
              <a:t>j++</a:t>
            </a:r>
            <a:r>
              <a:rPr lang="en-US" dirty="0"/>
              <a:t>) { ​</a:t>
            </a:r>
          </a:p>
          <a:p>
            <a:pPr fontAlgn="base"/>
            <a:r>
              <a:rPr lang="en-US" dirty="0"/>
              <a:t>if(</a:t>
            </a:r>
            <a:r>
              <a:rPr lang="en-US" dirty="0" err="1"/>
              <a:t>strcmp</a:t>
            </a:r>
            <a:r>
              <a:rPr lang="en-US" dirty="0"/>
              <a:t>(subjects[j], papers[</a:t>
            </a:r>
            <a:r>
              <a:rPr lang="en-US" dirty="0" err="1"/>
              <a:t>i</a:t>
            </a:r>
            <a:r>
              <a:rPr lang="en-US" dirty="0"/>
              <a:t>].subject) == 0) { ​</a:t>
            </a:r>
          </a:p>
          <a:p>
            <a:pPr fontAlgn="base"/>
            <a:r>
              <a:rPr lang="en-US" dirty="0"/>
              <a:t>exists = 1; ​</a:t>
            </a:r>
          </a:p>
          <a:p>
            <a:pPr fontAlgn="base"/>
            <a:r>
              <a:rPr lang="en-US" dirty="0"/>
              <a:t>break; } }</a:t>
            </a:r>
            <a:r>
              <a:rPr lang="en-IN" dirty="0"/>
              <a:t>​</a:t>
            </a:r>
          </a:p>
          <a:p>
            <a:endParaRPr lang="en-IN" dirty="0"/>
          </a:p>
        </p:txBody>
      </p:sp>
    </p:spTree>
    <p:extLst>
      <p:ext uri="{BB962C8B-B14F-4D97-AF65-F5344CB8AC3E}">
        <p14:creationId xmlns:p14="http://schemas.microsoft.com/office/powerpoint/2010/main" val="14996924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CDD1AC-6E75-B96C-439B-59195C28962B}"/>
              </a:ext>
            </a:extLst>
          </p:cNvPr>
          <p:cNvSpPr txBox="1"/>
          <p:nvPr/>
        </p:nvSpPr>
        <p:spPr>
          <a:xfrm>
            <a:off x="159026" y="198783"/>
            <a:ext cx="11887200" cy="5909310"/>
          </a:xfrm>
          <a:prstGeom prst="rect">
            <a:avLst/>
          </a:prstGeom>
          <a:noFill/>
        </p:spPr>
        <p:txBody>
          <a:bodyPr wrap="square" rtlCol="0">
            <a:spAutoFit/>
          </a:bodyPr>
          <a:lstStyle/>
          <a:p>
            <a:pPr fontAlgn="base"/>
            <a:r>
              <a:rPr lang="en-IN" dirty="0"/>
              <a:t>if(!exists) { </a:t>
            </a:r>
            <a:r>
              <a:rPr lang="en-US" dirty="0"/>
              <a:t>​</a:t>
            </a:r>
          </a:p>
          <a:p>
            <a:pPr fontAlgn="base"/>
            <a:r>
              <a:rPr lang="en-IN" dirty="0" err="1"/>
              <a:t>strcpy</a:t>
            </a:r>
            <a:r>
              <a:rPr lang="en-IN" dirty="0"/>
              <a:t>(subjects[subject Count++], </a:t>
            </a:r>
            <a:r>
              <a:rPr lang="en-US" dirty="0"/>
              <a:t>​</a:t>
            </a:r>
          </a:p>
          <a:p>
            <a:pPr fontAlgn="base"/>
            <a:r>
              <a:rPr lang="en-IN" dirty="0"/>
              <a:t>papers[</a:t>
            </a:r>
            <a:r>
              <a:rPr lang="en-IN" dirty="0" err="1"/>
              <a:t>i</a:t>
            </a:r>
            <a:r>
              <a:rPr lang="en-IN" dirty="0"/>
              <a:t>].subject); } </a:t>
            </a:r>
            <a:r>
              <a:rPr lang="en-US" dirty="0"/>
              <a:t>​</a:t>
            </a:r>
          </a:p>
          <a:p>
            <a:pPr fontAlgn="base"/>
            <a:r>
              <a:rPr lang="en-IN" dirty="0"/>
              <a:t>} </a:t>
            </a:r>
            <a:r>
              <a:rPr lang="en-US" dirty="0"/>
              <a:t>​</a:t>
            </a:r>
          </a:p>
          <a:p>
            <a:pPr fontAlgn="base"/>
            <a:r>
              <a:rPr lang="en-IN" dirty="0" err="1"/>
              <a:t>printf</a:t>
            </a:r>
            <a:r>
              <a:rPr lang="en-IN" dirty="0"/>
              <a:t>("\n Available Subjects:\n"); </a:t>
            </a:r>
            <a:r>
              <a:rPr lang="en-US" dirty="0"/>
              <a:t>​</a:t>
            </a:r>
          </a:p>
          <a:p>
            <a:pPr fontAlgn="base"/>
            <a:r>
              <a:rPr lang="en-IN" dirty="0"/>
              <a:t>for(int </a:t>
            </a:r>
            <a:r>
              <a:rPr lang="en-IN" dirty="0" err="1"/>
              <a:t>i</a:t>
            </a:r>
            <a:r>
              <a:rPr lang="en-IN" dirty="0"/>
              <a:t> = 0; </a:t>
            </a:r>
            <a:r>
              <a:rPr lang="en-IN" dirty="0" err="1"/>
              <a:t>i</a:t>
            </a:r>
            <a:r>
              <a:rPr lang="en-IN" dirty="0"/>
              <a:t> &lt; subject Count; </a:t>
            </a:r>
            <a:r>
              <a:rPr lang="en-IN" dirty="0" err="1"/>
              <a:t>i</a:t>
            </a:r>
            <a:r>
              <a:rPr lang="en-IN" dirty="0"/>
              <a:t>++) { </a:t>
            </a:r>
            <a:r>
              <a:rPr lang="en-US" dirty="0"/>
              <a:t>​</a:t>
            </a:r>
          </a:p>
          <a:p>
            <a:pPr fontAlgn="base"/>
            <a:r>
              <a:rPr lang="en-IN" dirty="0" err="1"/>
              <a:t>printf</a:t>
            </a:r>
            <a:r>
              <a:rPr lang="en-IN" dirty="0"/>
              <a:t>("%d. %s\n", i+1, subjects[</a:t>
            </a:r>
            <a:r>
              <a:rPr lang="en-IN" dirty="0" err="1"/>
              <a:t>i</a:t>
            </a:r>
            <a:r>
              <a:rPr lang="en-IN" dirty="0"/>
              <a:t>]); } </a:t>
            </a:r>
            <a:r>
              <a:rPr lang="en-US" dirty="0"/>
              <a:t>​</a:t>
            </a:r>
          </a:p>
          <a:p>
            <a:pPr fontAlgn="base"/>
            <a:r>
              <a:rPr lang="en-IN" dirty="0"/>
              <a:t>int choice; </a:t>
            </a:r>
            <a:r>
              <a:rPr lang="en-US" dirty="0"/>
              <a:t>​</a:t>
            </a:r>
          </a:p>
          <a:p>
            <a:pPr fontAlgn="base"/>
            <a:r>
              <a:rPr lang="en-IN" dirty="0" err="1"/>
              <a:t>printf</a:t>
            </a:r>
            <a:r>
              <a:rPr lang="en-IN" dirty="0"/>
              <a:t>("\n Select subject number: "); </a:t>
            </a:r>
            <a:r>
              <a:rPr lang="en-US" dirty="0"/>
              <a:t>​</a:t>
            </a:r>
          </a:p>
          <a:p>
            <a:pPr fontAlgn="base"/>
            <a:r>
              <a:rPr lang="en-IN" dirty="0" err="1"/>
              <a:t>scanf</a:t>
            </a:r>
            <a:r>
              <a:rPr lang="en-IN" dirty="0"/>
              <a:t>("%d", &amp;choice); </a:t>
            </a:r>
            <a:r>
              <a:rPr lang="en-US" dirty="0"/>
              <a:t>​</a:t>
            </a:r>
          </a:p>
          <a:p>
            <a:pPr fontAlgn="base"/>
            <a:r>
              <a:rPr lang="en-IN" dirty="0"/>
              <a:t>Clear Input Buffer();</a:t>
            </a:r>
            <a:r>
              <a:rPr lang="en-US" dirty="0"/>
              <a:t>​</a:t>
            </a:r>
          </a:p>
          <a:p>
            <a:pPr fontAlgn="base"/>
            <a:r>
              <a:rPr lang="en-IN" dirty="0"/>
              <a:t>​</a:t>
            </a:r>
          </a:p>
          <a:p>
            <a:pPr fontAlgn="base"/>
            <a:r>
              <a:rPr lang="en-US" dirty="0"/>
              <a:t>if(choice &lt; 1 || choice &gt; subject Count) { ​</a:t>
            </a:r>
          </a:p>
          <a:p>
            <a:pPr fontAlgn="base"/>
            <a:r>
              <a:rPr lang="en-US" dirty="0" err="1"/>
              <a:t>printf</a:t>
            </a:r>
            <a:r>
              <a:rPr lang="en-US" dirty="0"/>
              <a:t>("Invalid choice!\n"); ​</a:t>
            </a:r>
          </a:p>
          <a:p>
            <a:pPr fontAlgn="base"/>
            <a:r>
              <a:rPr lang="en-US" dirty="0"/>
              <a:t>return; } ​</a:t>
            </a:r>
          </a:p>
          <a:p>
            <a:pPr fontAlgn="base"/>
            <a:r>
              <a:rPr lang="en-US" dirty="0"/>
              <a:t>​</a:t>
            </a:r>
          </a:p>
          <a:p>
            <a:pPr fontAlgn="base"/>
            <a:r>
              <a:rPr lang="en-US" dirty="0" err="1"/>
              <a:t>printf</a:t>
            </a:r>
            <a:r>
              <a:rPr lang="en-US" dirty="0"/>
              <a:t>("\n--- Papers for %s ---\n", subjects[choice-1]); ​</a:t>
            </a:r>
          </a:p>
          <a:p>
            <a:pPr fontAlgn="base"/>
            <a:r>
              <a:rPr lang="en-US" dirty="0"/>
              <a:t>for(int </a:t>
            </a:r>
            <a:r>
              <a:rPr lang="en-US" dirty="0" err="1"/>
              <a:t>i</a:t>
            </a:r>
            <a:r>
              <a:rPr lang="en-US" dirty="0"/>
              <a:t> = 0; </a:t>
            </a:r>
            <a:r>
              <a:rPr lang="en-US" dirty="0" err="1"/>
              <a:t>i</a:t>
            </a:r>
            <a:r>
              <a:rPr lang="en-US" dirty="0"/>
              <a:t> &lt; paper Count; </a:t>
            </a:r>
            <a:r>
              <a:rPr lang="en-US" dirty="0" err="1"/>
              <a:t>i</a:t>
            </a:r>
            <a:r>
              <a:rPr lang="en-US" dirty="0"/>
              <a:t>++) { ​</a:t>
            </a:r>
          </a:p>
          <a:p>
            <a:pPr fontAlgn="base"/>
            <a:r>
              <a:rPr lang="en-US" dirty="0"/>
              <a:t>if(</a:t>
            </a:r>
            <a:r>
              <a:rPr lang="en-US" dirty="0" err="1"/>
              <a:t>strcmp</a:t>
            </a:r>
            <a:r>
              <a:rPr lang="en-US" dirty="0"/>
              <a:t>(papers[</a:t>
            </a:r>
            <a:r>
              <a:rPr lang="en-US" dirty="0" err="1"/>
              <a:t>i</a:t>
            </a:r>
            <a:r>
              <a:rPr lang="en-US" dirty="0"/>
              <a:t>].subject, subjects[choice-1]) == 0) ​</a:t>
            </a:r>
          </a:p>
          <a:p>
            <a:pPr fontAlgn="base"/>
            <a:r>
              <a:rPr lang="en-US" dirty="0"/>
              <a:t>{</a:t>
            </a:r>
            <a:r>
              <a:rPr lang="en-IN" dirty="0"/>
              <a:t>​</a:t>
            </a:r>
          </a:p>
          <a:p>
            <a:endParaRPr lang="en-IN" dirty="0"/>
          </a:p>
        </p:txBody>
      </p:sp>
    </p:spTree>
    <p:extLst>
      <p:ext uri="{BB962C8B-B14F-4D97-AF65-F5344CB8AC3E}">
        <p14:creationId xmlns:p14="http://schemas.microsoft.com/office/powerpoint/2010/main" val="14777550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7FE762-863E-3424-555B-875EDD7144DF}"/>
              </a:ext>
            </a:extLst>
          </p:cNvPr>
          <p:cNvSpPr txBox="1"/>
          <p:nvPr/>
        </p:nvSpPr>
        <p:spPr>
          <a:xfrm>
            <a:off x="288235" y="208722"/>
            <a:ext cx="11618843" cy="5909310"/>
          </a:xfrm>
          <a:prstGeom prst="rect">
            <a:avLst/>
          </a:prstGeom>
          <a:noFill/>
        </p:spPr>
        <p:txBody>
          <a:bodyPr wrap="square" rtlCol="0">
            <a:spAutoFit/>
          </a:bodyPr>
          <a:lstStyle/>
          <a:p>
            <a:r>
              <a:rPr lang="en-IN" dirty="0" err="1"/>
              <a:t>printf</a:t>
            </a:r>
            <a:r>
              <a:rPr lang="en-IN" dirty="0"/>
              <a:t>("\n Paper ID: %s\n", papers[</a:t>
            </a:r>
            <a:r>
              <a:rPr lang="en-IN" dirty="0" err="1"/>
              <a:t>i</a:t>
            </a:r>
            <a:r>
              <a:rPr lang="en-IN" dirty="0"/>
              <a:t>].paper ID); ​</a:t>
            </a:r>
          </a:p>
          <a:p>
            <a:pPr fontAlgn="base"/>
            <a:r>
              <a:rPr lang="en-IN" dirty="0" err="1"/>
              <a:t>printf</a:t>
            </a:r>
            <a:r>
              <a:rPr lang="en-IN" dirty="0"/>
              <a:t>("Year: %d | Semester: %s\n", papers[</a:t>
            </a:r>
            <a:r>
              <a:rPr lang="en-IN" dirty="0" err="1"/>
              <a:t>i</a:t>
            </a:r>
            <a:r>
              <a:rPr lang="en-IN" dirty="0"/>
              <a:t>].year, papers[</a:t>
            </a:r>
            <a:r>
              <a:rPr lang="en-IN" dirty="0" err="1"/>
              <a:t>i</a:t>
            </a:r>
            <a:r>
              <a:rPr lang="en-IN" dirty="0"/>
              <a:t>].semester); </a:t>
            </a:r>
            <a:r>
              <a:rPr lang="en-US" dirty="0"/>
              <a:t>​</a:t>
            </a:r>
          </a:p>
          <a:p>
            <a:pPr fontAlgn="base"/>
            <a:r>
              <a:rPr lang="en-IN" dirty="0" err="1"/>
              <a:t>printf</a:t>
            </a:r>
            <a:r>
              <a:rPr lang="en-IN" dirty="0"/>
              <a:t>("-------------------------------\n"); } </a:t>
            </a:r>
            <a:r>
              <a:rPr lang="en-US" dirty="0"/>
              <a:t>​</a:t>
            </a:r>
          </a:p>
          <a:p>
            <a:pPr fontAlgn="base"/>
            <a:r>
              <a:rPr lang="en-IN" dirty="0"/>
              <a:t>}</a:t>
            </a:r>
            <a:r>
              <a:rPr lang="en-US" dirty="0"/>
              <a:t>​</a:t>
            </a:r>
          </a:p>
          <a:p>
            <a:pPr fontAlgn="base"/>
            <a:r>
              <a:rPr lang="en-IN" dirty="0"/>
              <a:t>}</a:t>
            </a:r>
            <a:r>
              <a:rPr lang="en-US" dirty="0"/>
              <a:t>​</a:t>
            </a:r>
          </a:p>
          <a:p>
            <a:pPr fontAlgn="base"/>
            <a:r>
              <a:rPr lang="en-IN" dirty="0"/>
              <a:t>void browse By Year(char *roll Number) { </a:t>
            </a:r>
            <a:r>
              <a:rPr lang="en-US" dirty="0"/>
              <a:t>​</a:t>
            </a:r>
          </a:p>
          <a:p>
            <a:pPr fontAlgn="base"/>
            <a:r>
              <a:rPr lang="en-IN" dirty="0" err="1"/>
              <a:t>printf</a:t>
            </a:r>
            <a:r>
              <a:rPr lang="en-IN" dirty="0"/>
              <a:t>("\n--- BROWSE BY YEAR ---\n"); </a:t>
            </a:r>
            <a:r>
              <a:rPr lang="en-US" dirty="0"/>
              <a:t>​</a:t>
            </a:r>
          </a:p>
          <a:p>
            <a:pPr fontAlgn="base"/>
            <a:r>
              <a:rPr lang="en-IN" dirty="0"/>
              <a:t>if(paper Count == 0) { </a:t>
            </a:r>
            <a:r>
              <a:rPr lang="en-US" dirty="0"/>
              <a:t>​</a:t>
            </a:r>
          </a:p>
          <a:p>
            <a:pPr fontAlgn="base"/>
            <a:r>
              <a:rPr lang="en-IN" dirty="0" err="1"/>
              <a:t>printf</a:t>
            </a:r>
            <a:r>
              <a:rPr lang="en-IN" dirty="0"/>
              <a:t>("No question papers available!\n"); </a:t>
            </a:r>
            <a:r>
              <a:rPr lang="en-US" dirty="0"/>
              <a:t>​</a:t>
            </a:r>
          </a:p>
          <a:p>
            <a:pPr fontAlgn="base"/>
            <a:r>
              <a:rPr lang="en-IN" dirty="0"/>
              <a:t>return; }</a:t>
            </a:r>
            <a:r>
              <a:rPr lang="en-US" dirty="0"/>
              <a:t>​</a:t>
            </a:r>
          </a:p>
          <a:p>
            <a:pPr fontAlgn="base"/>
            <a:r>
              <a:rPr lang="en-IN" dirty="0"/>
              <a:t>​</a:t>
            </a:r>
          </a:p>
          <a:p>
            <a:pPr fontAlgn="base"/>
            <a:r>
              <a:rPr lang="en-US" dirty="0"/>
              <a:t>// Display unique years ​</a:t>
            </a:r>
          </a:p>
          <a:p>
            <a:pPr fontAlgn="base"/>
            <a:r>
              <a:rPr lang="en-US" dirty="0"/>
              <a:t>int years[50], year Count = 0; ​</a:t>
            </a:r>
          </a:p>
          <a:p>
            <a:pPr fontAlgn="base"/>
            <a:r>
              <a:rPr lang="en-US" dirty="0"/>
              <a:t>for(int </a:t>
            </a:r>
            <a:r>
              <a:rPr lang="en-US" dirty="0" err="1"/>
              <a:t>i</a:t>
            </a:r>
            <a:r>
              <a:rPr lang="en-US" dirty="0"/>
              <a:t> = 0; </a:t>
            </a:r>
            <a:r>
              <a:rPr lang="en-US" dirty="0" err="1"/>
              <a:t>i</a:t>
            </a:r>
            <a:r>
              <a:rPr lang="en-US" dirty="0"/>
              <a:t> &lt; paper Count; </a:t>
            </a:r>
            <a:r>
              <a:rPr lang="en-US" dirty="0" err="1"/>
              <a:t>i</a:t>
            </a:r>
            <a:r>
              <a:rPr lang="en-US" dirty="0"/>
              <a:t>++) { ​</a:t>
            </a:r>
          </a:p>
          <a:p>
            <a:pPr fontAlgn="base"/>
            <a:r>
              <a:rPr lang="en-US" dirty="0"/>
              <a:t>int exists = 0; ​</a:t>
            </a:r>
          </a:p>
          <a:p>
            <a:pPr fontAlgn="base"/>
            <a:r>
              <a:rPr lang="en-US" dirty="0"/>
              <a:t>for(int j = 0; j &lt; year Count; </a:t>
            </a:r>
            <a:r>
              <a:rPr lang="en-US" dirty="0" err="1"/>
              <a:t>j++</a:t>
            </a:r>
            <a:r>
              <a:rPr lang="en-US" dirty="0"/>
              <a:t>) { ​</a:t>
            </a:r>
          </a:p>
          <a:p>
            <a:pPr fontAlgn="base"/>
            <a:r>
              <a:rPr lang="en-US" dirty="0"/>
              <a:t>if(years[j] == papers[</a:t>
            </a:r>
            <a:r>
              <a:rPr lang="en-US" dirty="0" err="1"/>
              <a:t>i</a:t>
            </a:r>
            <a:r>
              <a:rPr lang="en-US" dirty="0"/>
              <a:t>].year) { ​</a:t>
            </a:r>
          </a:p>
          <a:p>
            <a:pPr fontAlgn="base"/>
            <a:r>
              <a:rPr lang="en-US" dirty="0"/>
              <a:t>exists = 1; ​</a:t>
            </a:r>
          </a:p>
          <a:p>
            <a:pPr fontAlgn="base"/>
            <a:r>
              <a:rPr lang="en-US" dirty="0"/>
              <a:t>break; } ​</a:t>
            </a:r>
          </a:p>
          <a:p>
            <a:pPr fontAlgn="base"/>
            <a:r>
              <a:rPr lang="en-US" dirty="0"/>
              <a:t>}</a:t>
            </a:r>
            <a:r>
              <a:rPr lang="en-IN" dirty="0"/>
              <a:t>​</a:t>
            </a:r>
          </a:p>
          <a:p>
            <a:endParaRPr lang="en-IN" dirty="0"/>
          </a:p>
        </p:txBody>
      </p:sp>
    </p:spTree>
    <p:extLst>
      <p:ext uri="{BB962C8B-B14F-4D97-AF65-F5344CB8AC3E}">
        <p14:creationId xmlns:p14="http://schemas.microsoft.com/office/powerpoint/2010/main" val="20491945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5051C9-02CF-4642-F01F-1D4AC07DFC4D}"/>
              </a:ext>
            </a:extLst>
          </p:cNvPr>
          <p:cNvSpPr txBox="1"/>
          <p:nvPr/>
        </p:nvSpPr>
        <p:spPr>
          <a:xfrm>
            <a:off x="149087" y="268357"/>
            <a:ext cx="11907078" cy="5632311"/>
          </a:xfrm>
          <a:prstGeom prst="rect">
            <a:avLst/>
          </a:prstGeom>
          <a:noFill/>
        </p:spPr>
        <p:txBody>
          <a:bodyPr wrap="square" rtlCol="0">
            <a:spAutoFit/>
          </a:bodyPr>
          <a:lstStyle/>
          <a:p>
            <a:pPr fontAlgn="base"/>
            <a:r>
              <a:rPr lang="en-IN" dirty="0"/>
              <a:t>if(!exists) { </a:t>
            </a:r>
            <a:r>
              <a:rPr lang="en-US" dirty="0"/>
              <a:t>​</a:t>
            </a:r>
          </a:p>
          <a:p>
            <a:pPr fontAlgn="base"/>
            <a:r>
              <a:rPr lang="en-IN" dirty="0"/>
              <a:t>years[year Count++] = papers[</a:t>
            </a:r>
            <a:r>
              <a:rPr lang="en-IN" dirty="0" err="1"/>
              <a:t>i</a:t>
            </a:r>
            <a:r>
              <a:rPr lang="en-IN" dirty="0"/>
              <a:t>].year; } </a:t>
            </a:r>
            <a:r>
              <a:rPr lang="en-US" dirty="0"/>
              <a:t>​</a:t>
            </a:r>
          </a:p>
          <a:p>
            <a:pPr fontAlgn="base"/>
            <a:r>
              <a:rPr lang="en-IN" dirty="0"/>
              <a:t>} </a:t>
            </a:r>
            <a:r>
              <a:rPr lang="en-US" dirty="0"/>
              <a:t>​</a:t>
            </a:r>
          </a:p>
          <a:p>
            <a:pPr fontAlgn="base"/>
            <a:r>
              <a:rPr lang="en-IN" dirty="0" err="1"/>
              <a:t>printf</a:t>
            </a:r>
            <a:r>
              <a:rPr lang="en-IN" dirty="0"/>
              <a:t>("\n Available Years:\n"); </a:t>
            </a:r>
            <a:r>
              <a:rPr lang="en-US" dirty="0"/>
              <a:t>​</a:t>
            </a:r>
          </a:p>
          <a:p>
            <a:pPr fontAlgn="base"/>
            <a:r>
              <a:rPr lang="en-IN" dirty="0"/>
              <a:t>for(int </a:t>
            </a:r>
            <a:r>
              <a:rPr lang="en-IN" dirty="0" err="1"/>
              <a:t>i</a:t>
            </a:r>
            <a:r>
              <a:rPr lang="en-IN" dirty="0"/>
              <a:t> = 0; </a:t>
            </a:r>
            <a:r>
              <a:rPr lang="en-IN" dirty="0" err="1"/>
              <a:t>i</a:t>
            </a:r>
            <a:r>
              <a:rPr lang="en-IN" dirty="0"/>
              <a:t> &lt; year Count; </a:t>
            </a:r>
            <a:r>
              <a:rPr lang="en-IN" dirty="0" err="1"/>
              <a:t>i</a:t>
            </a:r>
            <a:r>
              <a:rPr lang="en-IN" dirty="0"/>
              <a:t>++) { </a:t>
            </a:r>
            <a:r>
              <a:rPr lang="en-US" dirty="0"/>
              <a:t>​</a:t>
            </a:r>
          </a:p>
          <a:p>
            <a:pPr fontAlgn="base"/>
            <a:r>
              <a:rPr lang="en-IN" dirty="0" err="1"/>
              <a:t>printf</a:t>
            </a:r>
            <a:r>
              <a:rPr lang="en-IN" dirty="0"/>
              <a:t>("%d. %d\n", i+1, years[</a:t>
            </a:r>
            <a:r>
              <a:rPr lang="en-IN" dirty="0" err="1"/>
              <a:t>i</a:t>
            </a:r>
            <a:r>
              <a:rPr lang="en-IN" dirty="0"/>
              <a:t>]); </a:t>
            </a:r>
            <a:r>
              <a:rPr lang="en-US" dirty="0"/>
              <a:t>​</a:t>
            </a:r>
          </a:p>
          <a:p>
            <a:pPr fontAlgn="base"/>
            <a:r>
              <a:rPr lang="en-IN" dirty="0"/>
              <a:t>} </a:t>
            </a:r>
            <a:r>
              <a:rPr lang="en-US" dirty="0"/>
              <a:t>​</a:t>
            </a:r>
          </a:p>
          <a:p>
            <a:pPr fontAlgn="base"/>
            <a:r>
              <a:rPr lang="en-IN" dirty="0"/>
              <a:t>int choice; </a:t>
            </a:r>
            <a:r>
              <a:rPr lang="en-US" dirty="0"/>
              <a:t>​</a:t>
            </a:r>
          </a:p>
          <a:p>
            <a:pPr fontAlgn="base"/>
            <a:r>
              <a:rPr lang="en-IN" dirty="0" err="1"/>
              <a:t>printf</a:t>
            </a:r>
            <a:r>
              <a:rPr lang="en-IN" dirty="0"/>
              <a:t>("\n Select year number: "); </a:t>
            </a:r>
            <a:r>
              <a:rPr lang="en-US" dirty="0"/>
              <a:t>​</a:t>
            </a:r>
          </a:p>
          <a:p>
            <a:pPr fontAlgn="base"/>
            <a:r>
              <a:rPr lang="en-IN" dirty="0" err="1"/>
              <a:t>scanf</a:t>
            </a:r>
            <a:r>
              <a:rPr lang="en-IN" dirty="0"/>
              <a:t>("%d", &amp;choice); </a:t>
            </a:r>
            <a:r>
              <a:rPr lang="en-US" dirty="0"/>
              <a:t>​</a:t>
            </a:r>
          </a:p>
          <a:p>
            <a:pPr fontAlgn="base"/>
            <a:r>
              <a:rPr lang="en-IN" dirty="0"/>
              <a:t>Clear Input Buffer(); </a:t>
            </a:r>
            <a:r>
              <a:rPr lang="en-US" dirty="0"/>
              <a:t>​</a:t>
            </a:r>
          </a:p>
          <a:p>
            <a:pPr fontAlgn="base"/>
            <a:r>
              <a:rPr lang="en-IN" dirty="0"/>
              <a:t>if(choice &lt; 1 || choice &gt; year Count) { </a:t>
            </a:r>
            <a:r>
              <a:rPr lang="en-US" dirty="0"/>
              <a:t>​</a:t>
            </a:r>
          </a:p>
          <a:p>
            <a:pPr fontAlgn="base"/>
            <a:r>
              <a:rPr lang="en-IN" dirty="0" err="1"/>
              <a:t>printf</a:t>
            </a:r>
            <a:r>
              <a:rPr lang="en-IN" dirty="0"/>
              <a:t>("Invalid choice!\n"); </a:t>
            </a:r>
            <a:r>
              <a:rPr lang="en-US" dirty="0"/>
              <a:t>​</a:t>
            </a:r>
          </a:p>
          <a:p>
            <a:pPr fontAlgn="base"/>
            <a:r>
              <a:rPr lang="en-IN" dirty="0"/>
              <a:t>return; }</a:t>
            </a:r>
            <a:r>
              <a:rPr lang="en-US" dirty="0"/>
              <a:t>​</a:t>
            </a:r>
          </a:p>
          <a:p>
            <a:pPr fontAlgn="base"/>
            <a:r>
              <a:rPr lang="en-IN" dirty="0" err="1"/>
              <a:t>printf</a:t>
            </a:r>
            <a:r>
              <a:rPr lang="en-IN" dirty="0"/>
              <a:t>("\n--- Papers for year %d ---\n", years[choice-1]); </a:t>
            </a:r>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a:t>if(papers[</a:t>
            </a:r>
            <a:r>
              <a:rPr lang="en-IN" dirty="0" err="1"/>
              <a:t>i</a:t>
            </a:r>
            <a:r>
              <a:rPr lang="en-IN" dirty="0"/>
              <a:t>].year == years[choice-1]) { </a:t>
            </a:r>
            <a:r>
              <a:rPr lang="en-US" dirty="0"/>
              <a:t>​</a:t>
            </a:r>
          </a:p>
          <a:p>
            <a:pPr fontAlgn="base"/>
            <a:r>
              <a:rPr lang="en-IN" dirty="0" err="1"/>
              <a:t>printf</a:t>
            </a:r>
            <a:r>
              <a:rPr lang="en-IN" dirty="0"/>
              <a:t>("\n Paper ID: %s\n", papers[</a:t>
            </a:r>
            <a:r>
              <a:rPr lang="en-IN" dirty="0" err="1"/>
              <a:t>i</a:t>
            </a:r>
            <a:r>
              <a:rPr lang="en-IN" dirty="0"/>
              <a:t>].paper ID); </a:t>
            </a:r>
            <a:r>
              <a:rPr lang="en-US" dirty="0"/>
              <a:t>​</a:t>
            </a:r>
          </a:p>
          <a:p>
            <a:pPr fontAlgn="base"/>
            <a:r>
              <a:rPr lang="en-IN" dirty="0" err="1"/>
              <a:t>printf</a:t>
            </a:r>
            <a:r>
              <a:rPr lang="en-IN" dirty="0"/>
              <a:t>("Subject: %s | Semester: %s\n", papers[</a:t>
            </a:r>
            <a:r>
              <a:rPr lang="en-IN" dirty="0" err="1"/>
              <a:t>i</a:t>
            </a:r>
            <a:r>
              <a:rPr lang="en-IN" dirty="0"/>
              <a:t>].subject, papers[</a:t>
            </a:r>
            <a:r>
              <a:rPr lang="en-IN" dirty="0" err="1"/>
              <a:t>i</a:t>
            </a:r>
            <a:r>
              <a:rPr lang="en-IN" dirty="0"/>
              <a:t>].semester); </a:t>
            </a:r>
            <a:r>
              <a:rPr lang="en-US" dirty="0"/>
              <a:t>​</a:t>
            </a:r>
          </a:p>
          <a:p>
            <a:endParaRPr lang="en-IN" dirty="0"/>
          </a:p>
        </p:txBody>
      </p:sp>
    </p:spTree>
    <p:extLst>
      <p:ext uri="{BB962C8B-B14F-4D97-AF65-F5344CB8AC3E}">
        <p14:creationId xmlns:p14="http://schemas.microsoft.com/office/powerpoint/2010/main" val="17415139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8627F2-097B-87E0-5F06-3133EF7D0BA2}"/>
              </a:ext>
            </a:extLst>
          </p:cNvPr>
          <p:cNvSpPr txBox="1"/>
          <p:nvPr/>
        </p:nvSpPr>
        <p:spPr>
          <a:xfrm>
            <a:off x="69574" y="129209"/>
            <a:ext cx="11917017" cy="5632311"/>
          </a:xfrm>
          <a:prstGeom prst="rect">
            <a:avLst/>
          </a:prstGeom>
          <a:noFill/>
        </p:spPr>
        <p:txBody>
          <a:bodyPr wrap="square" rtlCol="0">
            <a:spAutoFit/>
          </a:bodyPr>
          <a:lstStyle/>
          <a:p>
            <a:pPr fontAlgn="base"/>
            <a:r>
              <a:rPr lang="en-IN" dirty="0" err="1"/>
              <a:t>printf</a:t>
            </a:r>
            <a:r>
              <a:rPr lang="en-IN" dirty="0"/>
              <a:t>("-------------------------------\n"); } </a:t>
            </a:r>
            <a:r>
              <a:rPr lang="en-US" dirty="0"/>
              <a:t>​</a:t>
            </a:r>
          </a:p>
          <a:p>
            <a:pPr fontAlgn="base"/>
            <a:r>
              <a:rPr lang="en-IN" dirty="0"/>
              <a:t>}</a:t>
            </a:r>
            <a:r>
              <a:rPr lang="en-US" dirty="0"/>
              <a:t>​</a:t>
            </a:r>
          </a:p>
          <a:p>
            <a:pPr fontAlgn="base"/>
            <a:r>
              <a:rPr lang="en-IN" dirty="0"/>
              <a:t>}</a:t>
            </a:r>
            <a:r>
              <a:rPr lang="en-US" dirty="0"/>
              <a:t>​</a:t>
            </a:r>
          </a:p>
          <a:p>
            <a:pPr fontAlgn="base"/>
            <a:r>
              <a:rPr lang="en-IN" dirty="0"/>
              <a:t>void browse By Department(char *roll Number) { </a:t>
            </a:r>
            <a:r>
              <a:rPr lang="en-US" dirty="0"/>
              <a:t>​</a:t>
            </a:r>
          </a:p>
          <a:p>
            <a:pPr fontAlgn="base"/>
            <a:r>
              <a:rPr lang="en-IN" dirty="0" err="1"/>
              <a:t>printf</a:t>
            </a:r>
            <a:r>
              <a:rPr lang="en-IN" dirty="0"/>
              <a:t>("\n--- BROWSE BY DEPARTMENT ---\n"); </a:t>
            </a:r>
            <a:r>
              <a:rPr lang="en-US" dirty="0"/>
              <a:t>​</a:t>
            </a:r>
          </a:p>
          <a:p>
            <a:pPr fontAlgn="base"/>
            <a:r>
              <a:rPr lang="en-IN" dirty="0"/>
              <a:t>if(paper Count == 0) { </a:t>
            </a:r>
            <a:r>
              <a:rPr lang="en-US" dirty="0"/>
              <a:t>​</a:t>
            </a:r>
          </a:p>
          <a:p>
            <a:pPr fontAlgn="base"/>
            <a:r>
              <a:rPr lang="en-IN" dirty="0" err="1"/>
              <a:t>Printf</a:t>
            </a:r>
            <a:r>
              <a:rPr lang="en-IN" dirty="0"/>
              <a:t> ("No question papers available!\n"); </a:t>
            </a:r>
            <a:r>
              <a:rPr lang="en-US" dirty="0"/>
              <a:t>​</a:t>
            </a:r>
          </a:p>
          <a:p>
            <a:pPr fontAlgn="base"/>
            <a:r>
              <a:rPr lang="en-IN" dirty="0"/>
              <a:t>return; } </a:t>
            </a:r>
            <a:r>
              <a:rPr lang="en-US" dirty="0"/>
              <a:t>​</a:t>
            </a:r>
          </a:p>
          <a:p>
            <a:pPr fontAlgn="base"/>
            <a:r>
              <a:rPr lang="en-IN" dirty="0"/>
              <a:t>char departments[50][50]; </a:t>
            </a:r>
            <a:r>
              <a:rPr lang="en-US" dirty="0"/>
              <a:t>​</a:t>
            </a:r>
          </a:p>
          <a:p>
            <a:pPr fontAlgn="base"/>
            <a:r>
              <a:rPr lang="en-IN" dirty="0"/>
              <a:t>int dept Count = 0; </a:t>
            </a:r>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a:t>int exists = 0; </a:t>
            </a:r>
            <a:r>
              <a:rPr lang="en-US" dirty="0"/>
              <a:t>​</a:t>
            </a:r>
          </a:p>
          <a:p>
            <a:pPr fontAlgn="base"/>
            <a:r>
              <a:rPr lang="en-IN" dirty="0"/>
              <a:t>for(int j = 0; j &lt; dept Count; </a:t>
            </a:r>
            <a:r>
              <a:rPr lang="en-IN" dirty="0" err="1"/>
              <a:t>j++</a:t>
            </a:r>
            <a:r>
              <a:rPr lang="en-IN" dirty="0"/>
              <a:t>) { </a:t>
            </a:r>
            <a:r>
              <a:rPr lang="en-US" dirty="0"/>
              <a:t>​</a:t>
            </a:r>
          </a:p>
          <a:p>
            <a:pPr fontAlgn="base"/>
            <a:r>
              <a:rPr lang="en-IN" dirty="0"/>
              <a:t>if(</a:t>
            </a:r>
            <a:r>
              <a:rPr lang="en-IN" dirty="0" err="1"/>
              <a:t>strcmp</a:t>
            </a:r>
            <a:r>
              <a:rPr lang="en-IN" dirty="0"/>
              <a:t>(departments[j], papers[</a:t>
            </a:r>
            <a:r>
              <a:rPr lang="en-IN" dirty="0" err="1"/>
              <a:t>i</a:t>
            </a:r>
            <a:r>
              <a:rPr lang="en-IN" dirty="0"/>
              <a:t>].department) == 0) { </a:t>
            </a:r>
            <a:r>
              <a:rPr lang="en-US" dirty="0"/>
              <a:t>​</a:t>
            </a:r>
          </a:p>
          <a:p>
            <a:pPr fontAlgn="base"/>
            <a:r>
              <a:rPr lang="en-IN" dirty="0"/>
              <a:t>exists = 1; </a:t>
            </a:r>
            <a:r>
              <a:rPr lang="en-US" dirty="0"/>
              <a:t>​</a:t>
            </a:r>
          </a:p>
          <a:p>
            <a:pPr fontAlgn="base"/>
            <a:r>
              <a:rPr lang="en-IN" dirty="0"/>
              <a:t>break; } </a:t>
            </a:r>
            <a:r>
              <a:rPr lang="en-US" dirty="0"/>
              <a:t>} ​</a:t>
            </a:r>
          </a:p>
          <a:p>
            <a:pPr fontAlgn="base"/>
            <a:r>
              <a:rPr lang="en-US" dirty="0"/>
              <a:t>if(!exists) { ​</a:t>
            </a:r>
          </a:p>
          <a:p>
            <a:pPr fontAlgn="base"/>
            <a:r>
              <a:rPr lang="en-US" dirty="0" err="1"/>
              <a:t>strcpy</a:t>
            </a:r>
            <a:r>
              <a:rPr lang="en-US" dirty="0"/>
              <a:t>(departments[dept Count++], papers[</a:t>
            </a:r>
            <a:r>
              <a:rPr lang="en-US" dirty="0" err="1"/>
              <a:t>i</a:t>
            </a:r>
            <a:r>
              <a:rPr lang="en-US" dirty="0"/>
              <a:t>].department); ​</a:t>
            </a:r>
          </a:p>
          <a:p>
            <a:pPr fontAlgn="base"/>
            <a:r>
              <a:rPr lang="en-US" dirty="0"/>
              <a:t>} } </a:t>
            </a:r>
            <a:r>
              <a:rPr lang="en-IN" dirty="0"/>
              <a:t>​</a:t>
            </a:r>
          </a:p>
          <a:p>
            <a:endParaRPr lang="en-IN" dirty="0"/>
          </a:p>
        </p:txBody>
      </p:sp>
    </p:spTree>
    <p:extLst>
      <p:ext uri="{BB962C8B-B14F-4D97-AF65-F5344CB8AC3E}">
        <p14:creationId xmlns:p14="http://schemas.microsoft.com/office/powerpoint/2010/main" val="28007293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5D033D-1E32-184B-0AAA-AB35449F7527}"/>
              </a:ext>
            </a:extLst>
          </p:cNvPr>
          <p:cNvSpPr txBox="1"/>
          <p:nvPr/>
        </p:nvSpPr>
        <p:spPr>
          <a:xfrm>
            <a:off x="208722" y="139148"/>
            <a:ext cx="11718235" cy="5355312"/>
          </a:xfrm>
          <a:prstGeom prst="rect">
            <a:avLst/>
          </a:prstGeom>
          <a:noFill/>
        </p:spPr>
        <p:txBody>
          <a:bodyPr wrap="square" rtlCol="0">
            <a:spAutoFit/>
          </a:bodyPr>
          <a:lstStyle/>
          <a:p>
            <a:pPr fontAlgn="base"/>
            <a:r>
              <a:rPr lang="en-IN" dirty="0" err="1"/>
              <a:t>printf</a:t>
            </a:r>
            <a:r>
              <a:rPr lang="en-IN" dirty="0"/>
              <a:t>("\n Available Departments:\n"); </a:t>
            </a:r>
            <a:r>
              <a:rPr lang="en-US" dirty="0"/>
              <a:t>​</a:t>
            </a:r>
          </a:p>
          <a:p>
            <a:pPr fontAlgn="base"/>
            <a:r>
              <a:rPr lang="en-IN" dirty="0"/>
              <a:t>for(int </a:t>
            </a:r>
            <a:r>
              <a:rPr lang="en-IN" dirty="0" err="1"/>
              <a:t>i</a:t>
            </a:r>
            <a:r>
              <a:rPr lang="en-IN" dirty="0"/>
              <a:t> = 0; </a:t>
            </a:r>
            <a:r>
              <a:rPr lang="en-IN" dirty="0" err="1"/>
              <a:t>i</a:t>
            </a:r>
            <a:r>
              <a:rPr lang="en-IN" dirty="0"/>
              <a:t> &lt; dept Count; </a:t>
            </a:r>
            <a:r>
              <a:rPr lang="en-IN" dirty="0" err="1"/>
              <a:t>i</a:t>
            </a:r>
            <a:r>
              <a:rPr lang="en-IN" dirty="0"/>
              <a:t>++) { </a:t>
            </a:r>
            <a:r>
              <a:rPr lang="en-US" dirty="0"/>
              <a:t>​</a:t>
            </a:r>
          </a:p>
          <a:p>
            <a:pPr fontAlgn="base"/>
            <a:r>
              <a:rPr lang="en-IN" dirty="0" err="1"/>
              <a:t>printf</a:t>
            </a:r>
            <a:r>
              <a:rPr lang="en-IN" dirty="0"/>
              <a:t>("%d. %s\n", i+1, departments[</a:t>
            </a:r>
            <a:r>
              <a:rPr lang="en-IN" dirty="0" err="1"/>
              <a:t>i</a:t>
            </a:r>
            <a:r>
              <a:rPr lang="en-IN" dirty="0"/>
              <a:t>]); } </a:t>
            </a:r>
            <a:r>
              <a:rPr lang="en-US" dirty="0"/>
              <a:t>​</a:t>
            </a:r>
          </a:p>
          <a:p>
            <a:pPr fontAlgn="base"/>
            <a:r>
              <a:rPr lang="en-IN" dirty="0"/>
              <a:t>int choice; </a:t>
            </a:r>
            <a:r>
              <a:rPr lang="en-US" dirty="0"/>
              <a:t>​</a:t>
            </a:r>
          </a:p>
          <a:p>
            <a:pPr fontAlgn="base"/>
            <a:r>
              <a:rPr lang="en-IN" dirty="0" err="1"/>
              <a:t>printf</a:t>
            </a:r>
            <a:r>
              <a:rPr lang="en-IN" dirty="0"/>
              <a:t>("\n Select department number: "); </a:t>
            </a:r>
            <a:r>
              <a:rPr lang="en-US" dirty="0"/>
              <a:t>​</a:t>
            </a:r>
          </a:p>
          <a:p>
            <a:pPr fontAlgn="base"/>
            <a:r>
              <a:rPr lang="en-IN" dirty="0" err="1"/>
              <a:t>scanf</a:t>
            </a:r>
            <a:r>
              <a:rPr lang="en-IN" dirty="0"/>
              <a:t>("%d", &amp;choice); </a:t>
            </a:r>
            <a:r>
              <a:rPr lang="en-US" dirty="0"/>
              <a:t>​</a:t>
            </a:r>
          </a:p>
          <a:p>
            <a:pPr fontAlgn="base"/>
            <a:r>
              <a:rPr lang="en-IN" dirty="0"/>
              <a:t>Clear Input Buffer(); </a:t>
            </a:r>
            <a:r>
              <a:rPr lang="en-US" dirty="0"/>
              <a:t>​</a:t>
            </a:r>
          </a:p>
          <a:p>
            <a:pPr fontAlgn="base"/>
            <a:r>
              <a:rPr lang="en-IN" dirty="0"/>
              <a:t>if(choice &lt; 1 || choice &gt; dept Count) { </a:t>
            </a:r>
            <a:r>
              <a:rPr lang="en-US" dirty="0"/>
              <a:t>​</a:t>
            </a:r>
          </a:p>
          <a:p>
            <a:pPr fontAlgn="base"/>
            <a:r>
              <a:rPr lang="en-IN" dirty="0" err="1"/>
              <a:t>printf</a:t>
            </a:r>
            <a:r>
              <a:rPr lang="en-IN" dirty="0"/>
              <a:t>("Invalid choice!\n"); </a:t>
            </a:r>
            <a:r>
              <a:rPr lang="en-US" dirty="0"/>
              <a:t>​</a:t>
            </a:r>
          </a:p>
          <a:p>
            <a:pPr fontAlgn="base"/>
            <a:r>
              <a:rPr lang="en-IN" dirty="0"/>
              <a:t>return; }</a:t>
            </a:r>
            <a:r>
              <a:rPr lang="en-US" dirty="0"/>
              <a:t>​</a:t>
            </a:r>
          </a:p>
          <a:p>
            <a:pPr fontAlgn="base"/>
            <a:r>
              <a:rPr lang="en-IN" dirty="0" err="1"/>
              <a:t>printf</a:t>
            </a:r>
            <a:r>
              <a:rPr lang="en-IN" dirty="0"/>
              <a:t>("\n--- Papers for %s ---\n", departments[choice-1]); </a:t>
            </a:r>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a:t>if(</a:t>
            </a:r>
            <a:r>
              <a:rPr lang="en-IN" dirty="0" err="1"/>
              <a:t>strcmp</a:t>
            </a:r>
            <a:r>
              <a:rPr lang="en-IN" dirty="0"/>
              <a:t>(papers[</a:t>
            </a:r>
            <a:r>
              <a:rPr lang="en-IN" dirty="0" err="1"/>
              <a:t>i</a:t>
            </a:r>
            <a:r>
              <a:rPr lang="en-IN" dirty="0"/>
              <a:t>].department, departments[choice-1]) == 0) { </a:t>
            </a:r>
            <a:r>
              <a:rPr lang="en-US" dirty="0"/>
              <a:t>​</a:t>
            </a:r>
          </a:p>
          <a:p>
            <a:pPr fontAlgn="base"/>
            <a:r>
              <a:rPr lang="en-IN" dirty="0" err="1"/>
              <a:t>printf</a:t>
            </a:r>
            <a:r>
              <a:rPr lang="en-IN" dirty="0"/>
              <a:t>("\n Paper ID: %s\n", papers[</a:t>
            </a:r>
            <a:r>
              <a:rPr lang="en-IN" dirty="0" err="1"/>
              <a:t>i</a:t>
            </a:r>
            <a:r>
              <a:rPr lang="en-IN" dirty="0"/>
              <a:t>].paper ID); </a:t>
            </a:r>
            <a:r>
              <a:rPr lang="en-US" dirty="0"/>
              <a:t>​</a:t>
            </a:r>
          </a:p>
          <a:p>
            <a:pPr fontAlgn="base"/>
            <a:r>
              <a:rPr lang="en-IN" dirty="0" err="1"/>
              <a:t>printf</a:t>
            </a:r>
            <a:r>
              <a:rPr lang="en-IN" dirty="0"/>
              <a:t>("Subject: %s | Year: %d\n", papers[</a:t>
            </a:r>
            <a:r>
              <a:rPr lang="en-IN" dirty="0" err="1"/>
              <a:t>i</a:t>
            </a:r>
            <a:r>
              <a:rPr lang="en-IN" dirty="0"/>
              <a:t>].subject, papers[</a:t>
            </a:r>
            <a:r>
              <a:rPr lang="en-IN" dirty="0" err="1"/>
              <a:t>i</a:t>
            </a:r>
            <a:r>
              <a:rPr lang="en-IN" dirty="0"/>
              <a:t>].year); </a:t>
            </a:r>
            <a:r>
              <a:rPr lang="en-US" dirty="0"/>
              <a:t>​</a:t>
            </a:r>
          </a:p>
          <a:p>
            <a:pPr fontAlgn="base"/>
            <a:r>
              <a:rPr lang="en-IN" dirty="0" err="1"/>
              <a:t>printf</a:t>
            </a:r>
            <a:r>
              <a:rPr lang="en-IN" dirty="0"/>
              <a:t>("-------------------------------\n"); } </a:t>
            </a:r>
            <a:r>
              <a:rPr lang="en-US" dirty="0"/>
              <a:t>​</a:t>
            </a:r>
          </a:p>
          <a:p>
            <a:pPr fontAlgn="base"/>
            <a:r>
              <a:rPr lang="en-IN" dirty="0"/>
              <a:t>}</a:t>
            </a:r>
            <a:r>
              <a:rPr lang="en-US" dirty="0"/>
              <a:t>​</a:t>
            </a:r>
          </a:p>
          <a:p>
            <a:pPr fontAlgn="base"/>
            <a:r>
              <a:rPr lang="en-IN" dirty="0"/>
              <a:t>}</a:t>
            </a:r>
            <a:r>
              <a:rPr lang="en-US" dirty="0"/>
              <a:t>​</a:t>
            </a:r>
          </a:p>
          <a:p>
            <a:endParaRPr lang="en-IN" dirty="0"/>
          </a:p>
        </p:txBody>
      </p:sp>
    </p:spTree>
    <p:extLst>
      <p:ext uri="{BB962C8B-B14F-4D97-AF65-F5344CB8AC3E}">
        <p14:creationId xmlns:p14="http://schemas.microsoft.com/office/powerpoint/2010/main" val="12999823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29328E-1C60-1BEE-3C4F-3209148C93A4}"/>
              </a:ext>
            </a:extLst>
          </p:cNvPr>
          <p:cNvSpPr txBox="1"/>
          <p:nvPr/>
        </p:nvSpPr>
        <p:spPr>
          <a:xfrm>
            <a:off x="119270" y="228600"/>
            <a:ext cx="11628782" cy="5632311"/>
          </a:xfrm>
          <a:prstGeom prst="rect">
            <a:avLst/>
          </a:prstGeom>
          <a:noFill/>
        </p:spPr>
        <p:txBody>
          <a:bodyPr wrap="square" rtlCol="0">
            <a:spAutoFit/>
          </a:bodyPr>
          <a:lstStyle/>
          <a:p>
            <a:pPr fontAlgn="base"/>
            <a:r>
              <a:rPr lang="en-IN" dirty="0"/>
              <a:t>void view My Downloads(char *roll Number) { </a:t>
            </a:r>
            <a:r>
              <a:rPr lang="en-US" dirty="0"/>
              <a:t>​</a:t>
            </a:r>
          </a:p>
          <a:p>
            <a:pPr fontAlgn="base"/>
            <a:r>
              <a:rPr lang="en-IN" dirty="0" err="1"/>
              <a:t>printf</a:t>
            </a:r>
            <a:r>
              <a:rPr lang="en-IN" dirty="0"/>
              <a:t>("\n--- MY DOWNLOADS ---\n"); </a:t>
            </a:r>
            <a:r>
              <a:rPr lang="en-US" dirty="0"/>
              <a:t>​</a:t>
            </a:r>
          </a:p>
          <a:p>
            <a:pPr fontAlgn="base"/>
            <a:r>
              <a:rPr lang="en-IN" dirty="0"/>
              <a:t>int found = 0; </a:t>
            </a:r>
            <a:r>
              <a:rPr lang="en-US" dirty="0"/>
              <a:t>​</a:t>
            </a:r>
          </a:p>
          <a:p>
            <a:pPr fontAlgn="base"/>
            <a:r>
              <a:rPr lang="en-IN" dirty="0"/>
              <a:t>for(int </a:t>
            </a:r>
            <a:r>
              <a:rPr lang="en-IN" dirty="0" err="1"/>
              <a:t>i</a:t>
            </a:r>
            <a:r>
              <a:rPr lang="en-IN" dirty="0"/>
              <a:t> = 0; </a:t>
            </a:r>
            <a:r>
              <a:rPr lang="en-IN" dirty="0" err="1"/>
              <a:t>i</a:t>
            </a:r>
            <a:r>
              <a:rPr lang="en-IN" dirty="0"/>
              <a:t> &lt; down load Count; </a:t>
            </a:r>
            <a:r>
              <a:rPr lang="en-IN" dirty="0" err="1"/>
              <a:t>i</a:t>
            </a:r>
            <a:r>
              <a:rPr lang="en-IN" dirty="0"/>
              <a:t>++) { </a:t>
            </a:r>
            <a:r>
              <a:rPr lang="en-US" dirty="0"/>
              <a:t>​</a:t>
            </a:r>
          </a:p>
          <a:p>
            <a:pPr fontAlgn="base"/>
            <a:r>
              <a:rPr lang="en-IN" dirty="0"/>
              <a:t>if(</a:t>
            </a:r>
            <a:r>
              <a:rPr lang="en-IN" dirty="0" err="1"/>
              <a:t>strcmp</a:t>
            </a:r>
            <a:r>
              <a:rPr lang="en-IN" dirty="0"/>
              <a:t>(downloads[</a:t>
            </a:r>
            <a:r>
              <a:rPr lang="en-IN" dirty="0" err="1"/>
              <a:t>i</a:t>
            </a:r>
            <a:r>
              <a:rPr lang="en-IN" dirty="0"/>
              <a:t>].roll Number, roll Number) == 0) { </a:t>
            </a:r>
            <a:r>
              <a:rPr lang="en-US" dirty="0"/>
              <a:t>​</a:t>
            </a:r>
          </a:p>
          <a:p>
            <a:pPr fontAlgn="base"/>
            <a:r>
              <a:rPr lang="en-IN" dirty="0" err="1"/>
              <a:t>printf</a:t>
            </a:r>
            <a:r>
              <a:rPr lang="en-IN" dirty="0"/>
              <a:t>("\n Paper ID: %s\n", downloads[</a:t>
            </a:r>
            <a:r>
              <a:rPr lang="en-IN" dirty="0" err="1"/>
              <a:t>i</a:t>
            </a:r>
            <a:r>
              <a:rPr lang="en-IN" dirty="0"/>
              <a:t>].</a:t>
            </a:r>
            <a:r>
              <a:rPr lang="en-IN" dirty="0" err="1"/>
              <a:t>paperID</a:t>
            </a:r>
            <a:r>
              <a:rPr lang="en-IN" dirty="0"/>
              <a:t>); </a:t>
            </a:r>
            <a:r>
              <a:rPr lang="en-US" dirty="0"/>
              <a:t>​</a:t>
            </a:r>
          </a:p>
          <a:p>
            <a:pPr fontAlgn="base"/>
            <a:r>
              <a:rPr lang="en-IN" dirty="0" err="1"/>
              <a:t>printf</a:t>
            </a:r>
            <a:r>
              <a:rPr lang="en-IN" dirty="0"/>
              <a:t>("Download Date: %s\n", downloads[</a:t>
            </a:r>
            <a:r>
              <a:rPr lang="en-IN" dirty="0" err="1"/>
              <a:t>i</a:t>
            </a:r>
            <a:r>
              <a:rPr lang="en-IN" dirty="0"/>
              <a:t>].download Date); </a:t>
            </a:r>
            <a:r>
              <a:rPr lang="en-US" dirty="0"/>
              <a:t>​</a:t>
            </a:r>
          </a:p>
          <a:p>
            <a:pPr fontAlgn="base"/>
            <a:r>
              <a:rPr lang="en-IN" dirty="0" err="1"/>
              <a:t>printf</a:t>
            </a:r>
            <a:r>
              <a:rPr lang="en-IN" dirty="0"/>
              <a:t>("-------------------------------\n"); </a:t>
            </a:r>
            <a:r>
              <a:rPr lang="en-US" dirty="0"/>
              <a:t>​</a:t>
            </a:r>
          </a:p>
          <a:p>
            <a:pPr fontAlgn="base"/>
            <a:r>
              <a:rPr lang="en-IN" dirty="0"/>
              <a:t>found++; } </a:t>
            </a:r>
            <a:r>
              <a:rPr lang="en-US" dirty="0"/>
              <a:t>​</a:t>
            </a:r>
          </a:p>
          <a:p>
            <a:pPr fontAlgn="base"/>
            <a:r>
              <a:rPr lang="en-IN" dirty="0"/>
              <a:t>}</a:t>
            </a:r>
            <a:r>
              <a:rPr lang="en-US" dirty="0"/>
              <a:t>​</a:t>
            </a:r>
          </a:p>
          <a:p>
            <a:pPr fontAlgn="base"/>
            <a:r>
              <a:rPr lang="en-US" dirty="0"/>
              <a:t>if(found == 0) { ​</a:t>
            </a:r>
          </a:p>
          <a:p>
            <a:pPr fontAlgn="base"/>
            <a:r>
              <a:rPr lang="en-US" dirty="0" err="1"/>
              <a:t>printf</a:t>
            </a:r>
            <a:r>
              <a:rPr lang="en-US" dirty="0"/>
              <a:t>("No download history found!\n"); } ​</a:t>
            </a:r>
          </a:p>
          <a:p>
            <a:pPr fontAlgn="base"/>
            <a:r>
              <a:rPr lang="en-US" dirty="0"/>
              <a:t>else { ​</a:t>
            </a:r>
          </a:p>
          <a:p>
            <a:pPr fontAlgn="base"/>
            <a:r>
              <a:rPr lang="en-US" dirty="0" err="1"/>
              <a:t>printf</a:t>
            </a:r>
            <a:r>
              <a:rPr lang="en-US" dirty="0"/>
              <a:t>("\n Total downloads: %d\n", found); }​</a:t>
            </a:r>
          </a:p>
          <a:p>
            <a:pPr fontAlgn="base"/>
            <a:r>
              <a:rPr lang="en-US" dirty="0"/>
              <a:t>}​</a:t>
            </a:r>
          </a:p>
          <a:p>
            <a:pPr fontAlgn="base"/>
            <a:r>
              <a:rPr lang="en-IN" dirty="0"/>
              <a:t>void download Question Paper(char *roll Number) { </a:t>
            </a:r>
            <a:r>
              <a:rPr lang="en-US" dirty="0"/>
              <a:t>​</a:t>
            </a:r>
          </a:p>
          <a:p>
            <a:pPr fontAlgn="base"/>
            <a:r>
              <a:rPr lang="en-IN" dirty="0"/>
              <a:t>char paper ID[20]; </a:t>
            </a:r>
            <a:r>
              <a:rPr lang="en-US" dirty="0"/>
              <a:t>​</a:t>
            </a:r>
          </a:p>
          <a:p>
            <a:pPr fontAlgn="base"/>
            <a:r>
              <a:rPr lang="en-IN" dirty="0"/>
              <a:t>int found = -1; </a:t>
            </a:r>
            <a:r>
              <a:rPr lang="en-US" dirty="0"/>
              <a:t>​</a:t>
            </a:r>
          </a:p>
          <a:p>
            <a:pPr fontAlgn="base"/>
            <a:r>
              <a:rPr lang="en-IN" dirty="0" err="1"/>
              <a:t>printf</a:t>
            </a:r>
            <a:r>
              <a:rPr lang="en-IN" dirty="0"/>
              <a:t>("\n--- DOWNLOAD QUESTION PAPER ---\n");</a:t>
            </a:r>
            <a:r>
              <a:rPr lang="en-US" dirty="0"/>
              <a:t>​</a:t>
            </a:r>
          </a:p>
          <a:p>
            <a:endParaRPr lang="en-IN" dirty="0"/>
          </a:p>
        </p:txBody>
      </p:sp>
    </p:spTree>
    <p:extLst>
      <p:ext uri="{BB962C8B-B14F-4D97-AF65-F5344CB8AC3E}">
        <p14:creationId xmlns:p14="http://schemas.microsoft.com/office/powerpoint/2010/main" val="35468472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86F7CC-755B-188C-4CED-CED584E1B296}"/>
              </a:ext>
            </a:extLst>
          </p:cNvPr>
          <p:cNvSpPr txBox="1"/>
          <p:nvPr/>
        </p:nvSpPr>
        <p:spPr>
          <a:xfrm>
            <a:off x="69574" y="208722"/>
            <a:ext cx="11787809" cy="5355312"/>
          </a:xfrm>
          <a:prstGeom prst="rect">
            <a:avLst/>
          </a:prstGeom>
          <a:noFill/>
        </p:spPr>
        <p:txBody>
          <a:bodyPr wrap="square" rtlCol="0">
            <a:spAutoFit/>
          </a:bodyPr>
          <a:lstStyle/>
          <a:p>
            <a:pPr fontAlgn="base"/>
            <a:r>
              <a:rPr lang="en-IN" dirty="0"/>
              <a:t>View All Question Papers(); </a:t>
            </a:r>
            <a:r>
              <a:rPr lang="en-US" dirty="0"/>
              <a:t>​</a:t>
            </a:r>
          </a:p>
          <a:p>
            <a:pPr fontAlgn="base"/>
            <a:r>
              <a:rPr lang="en-IN" dirty="0" err="1"/>
              <a:t>printf</a:t>
            </a:r>
            <a:r>
              <a:rPr lang="en-IN" dirty="0"/>
              <a:t>("\n Enter Paper ID to download: "); </a:t>
            </a:r>
            <a:r>
              <a:rPr lang="en-US" dirty="0"/>
              <a:t>​</a:t>
            </a:r>
          </a:p>
          <a:p>
            <a:pPr fontAlgn="base"/>
            <a:r>
              <a:rPr lang="en-IN" dirty="0" err="1"/>
              <a:t>fgets</a:t>
            </a:r>
            <a:r>
              <a:rPr lang="en-IN" dirty="0"/>
              <a:t>(paper ID, size of(paper ID), stdin); </a:t>
            </a:r>
            <a:r>
              <a:rPr lang="en-US" dirty="0"/>
              <a:t>​</a:t>
            </a:r>
          </a:p>
          <a:p>
            <a:pPr fontAlgn="base"/>
            <a:r>
              <a:rPr lang="en-IN" dirty="0"/>
              <a:t>Paper ID[</a:t>
            </a:r>
            <a:r>
              <a:rPr lang="en-IN" dirty="0" err="1"/>
              <a:t>strcspn</a:t>
            </a:r>
            <a:r>
              <a:rPr lang="en-IN" dirty="0"/>
              <a:t>(paper ID, "\n")] = 0; </a:t>
            </a:r>
            <a:r>
              <a:rPr lang="en-US" dirty="0"/>
              <a:t>​</a:t>
            </a:r>
          </a:p>
          <a:p>
            <a:pPr fontAlgn="base"/>
            <a:r>
              <a:rPr lang="en-IN" dirty="0"/>
              <a:t>for(int </a:t>
            </a:r>
            <a:r>
              <a:rPr lang="en-IN" dirty="0" err="1"/>
              <a:t>i</a:t>
            </a:r>
            <a:r>
              <a:rPr lang="en-IN" dirty="0"/>
              <a:t> = 0; </a:t>
            </a:r>
            <a:r>
              <a:rPr lang="en-IN" dirty="0" err="1"/>
              <a:t>i</a:t>
            </a:r>
            <a:r>
              <a:rPr lang="en-IN" dirty="0"/>
              <a:t> &lt; paper Count; </a:t>
            </a:r>
            <a:r>
              <a:rPr lang="en-IN" dirty="0" err="1"/>
              <a:t>i</a:t>
            </a:r>
            <a:r>
              <a:rPr lang="en-IN" dirty="0"/>
              <a:t>++) { </a:t>
            </a:r>
            <a:r>
              <a:rPr lang="en-US" dirty="0"/>
              <a:t>​</a:t>
            </a:r>
          </a:p>
          <a:p>
            <a:pPr fontAlgn="base"/>
            <a:r>
              <a:rPr lang="en-IN" dirty="0"/>
              <a:t>if(</a:t>
            </a:r>
            <a:r>
              <a:rPr lang="en-IN" dirty="0" err="1"/>
              <a:t>strcmp</a:t>
            </a:r>
            <a:r>
              <a:rPr lang="en-IN" dirty="0"/>
              <a:t>(papers[</a:t>
            </a:r>
            <a:r>
              <a:rPr lang="en-IN" dirty="0" err="1"/>
              <a:t>i</a:t>
            </a:r>
            <a:r>
              <a:rPr lang="en-IN" dirty="0"/>
              <a:t>].paper ID, paper ID) == 0) { </a:t>
            </a:r>
            <a:r>
              <a:rPr lang="en-US" dirty="0"/>
              <a:t>​</a:t>
            </a:r>
          </a:p>
          <a:p>
            <a:pPr fontAlgn="base"/>
            <a:r>
              <a:rPr lang="en-IN" dirty="0"/>
              <a:t>found = </a:t>
            </a:r>
            <a:r>
              <a:rPr lang="en-IN" dirty="0" err="1"/>
              <a:t>i</a:t>
            </a:r>
            <a:r>
              <a:rPr lang="en-IN" dirty="0"/>
              <a:t>; </a:t>
            </a:r>
            <a:r>
              <a:rPr lang="en-US" dirty="0"/>
              <a:t>​</a:t>
            </a:r>
          </a:p>
          <a:p>
            <a:pPr fontAlgn="base"/>
            <a:r>
              <a:rPr lang="en-IN" dirty="0"/>
              <a:t>break; } </a:t>
            </a:r>
            <a:r>
              <a:rPr lang="en-US" dirty="0"/>
              <a:t>​</a:t>
            </a:r>
          </a:p>
          <a:p>
            <a:pPr fontAlgn="base"/>
            <a:r>
              <a:rPr lang="en-IN" dirty="0"/>
              <a:t>} </a:t>
            </a:r>
            <a:r>
              <a:rPr lang="en-US" dirty="0"/>
              <a:t>​</a:t>
            </a:r>
          </a:p>
          <a:p>
            <a:pPr fontAlgn="base"/>
            <a:r>
              <a:rPr lang="en-IN" dirty="0"/>
              <a:t>if(found == -1) { </a:t>
            </a:r>
            <a:r>
              <a:rPr lang="en-US" dirty="0"/>
              <a:t>​</a:t>
            </a:r>
          </a:p>
          <a:p>
            <a:pPr fontAlgn="base"/>
            <a:r>
              <a:rPr lang="en-IN" dirty="0" err="1"/>
              <a:t>printf</a:t>
            </a:r>
            <a:r>
              <a:rPr lang="en-IN" dirty="0"/>
              <a:t>("\n✗ Paper ID not found!\n"); </a:t>
            </a:r>
            <a:r>
              <a:rPr lang="en-US" dirty="0"/>
              <a:t>​</a:t>
            </a:r>
          </a:p>
          <a:p>
            <a:pPr fontAlgn="base"/>
            <a:r>
              <a:rPr lang="en-IN" dirty="0"/>
              <a:t>return; }</a:t>
            </a:r>
            <a:r>
              <a:rPr lang="en-US" dirty="0"/>
              <a:t>​</a:t>
            </a:r>
          </a:p>
          <a:p>
            <a:pPr fontAlgn="base"/>
            <a:r>
              <a:rPr lang="en-IN" dirty="0"/>
              <a:t>​</a:t>
            </a:r>
          </a:p>
          <a:p>
            <a:pPr fontAlgn="base"/>
            <a:r>
              <a:rPr lang="en-IN" dirty="0"/>
              <a:t>// Increment download counter</a:t>
            </a:r>
            <a:r>
              <a:rPr lang="en-US" dirty="0"/>
              <a:t>​</a:t>
            </a:r>
          </a:p>
          <a:p>
            <a:pPr fontAlgn="base"/>
            <a:r>
              <a:rPr lang="en-IN" dirty="0"/>
              <a:t>papers[found].download Count++; </a:t>
            </a:r>
            <a:r>
              <a:rPr lang="en-US" dirty="0"/>
              <a:t>​</a:t>
            </a:r>
          </a:p>
          <a:p>
            <a:pPr fontAlgn="base"/>
            <a:r>
              <a:rPr lang="en-US" dirty="0"/>
              <a:t>​</a:t>
            </a:r>
          </a:p>
          <a:p>
            <a:pPr fontAlgn="base"/>
            <a:r>
              <a:rPr lang="en-IN" dirty="0"/>
              <a:t>// Record download in student history </a:t>
            </a:r>
            <a:r>
              <a:rPr lang="en-US" dirty="0"/>
              <a:t>​</a:t>
            </a:r>
          </a:p>
          <a:p>
            <a:pPr fontAlgn="base"/>
            <a:r>
              <a:rPr lang="en-IN" dirty="0" err="1"/>
              <a:t>strcpy</a:t>
            </a:r>
            <a:r>
              <a:rPr lang="en-IN" dirty="0"/>
              <a:t>(downloads[download Count].roll Number, roll Number); </a:t>
            </a:r>
            <a:r>
              <a:rPr lang="en-IN" dirty="0" err="1"/>
              <a:t>strcpy</a:t>
            </a:r>
            <a:r>
              <a:rPr lang="en-IN" dirty="0"/>
              <a:t>(downloads[download Count].paper ID, paper ID); </a:t>
            </a:r>
            <a:r>
              <a:rPr lang="en-US" dirty="0"/>
              <a:t>​</a:t>
            </a:r>
          </a:p>
          <a:p>
            <a:endParaRPr lang="en-IN" dirty="0"/>
          </a:p>
        </p:txBody>
      </p:sp>
    </p:spTree>
    <p:extLst>
      <p:ext uri="{BB962C8B-B14F-4D97-AF65-F5344CB8AC3E}">
        <p14:creationId xmlns:p14="http://schemas.microsoft.com/office/powerpoint/2010/main" val="26738175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1EC26D-04CE-940C-6B67-99EBD1284AB6}"/>
              </a:ext>
            </a:extLst>
          </p:cNvPr>
          <p:cNvSpPr txBox="1"/>
          <p:nvPr/>
        </p:nvSpPr>
        <p:spPr>
          <a:xfrm>
            <a:off x="0" y="119270"/>
            <a:ext cx="12056165" cy="5632311"/>
          </a:xfrm>
          <a:prstGeom prst="rect">
            <a:avLst/>
          </a:prstGeom>
          <a:noFill/>
        </p:spPr>
        <p:txBody>
          <a:bodyPr wrap="square" rtlCol="0">
            <a:spAutoFit/>
          </a:bodyPr>
          <a:lstStyle/>
          <a:p>
            <a:pPr fontAlgn="base"/>
            <a:r>
              <a:rPr lang="en-IN" dirty="0"/>
              <a:t>Get Current Date(downloads[download Count].download Date); </a:t>
            </a:r>
            <a:r>
              <a:rPr lang="en-US" dirty="0"/>
              <a:t>​</a:t>
            </a:r>
          </a:p>
          <a:p>
            <a:pPr fontAlgn="base"/>
            <a:r>
              <a:rPr lang="en-IN" dirty="0"/>
              <a:t>Download Count++; </a:t>
            </a:r>
            <a:r>
              <a:rPr lang="en-US" dirty="0"/>
              <a:t>​</a:t>
            </a:r>
          </a:p>
          <a:p>
            <a:pPr fontAlgn="base"/>
            <a:r>
              <a:rPr lang="en-IN" dirty="0" err="1"/>
              <a:t>printf</a:t>
            </a:r>
            <a:r>
              <a:rPr lang="en-IN" dirty="0"/>
              <a:t>("\n✓ Download Successful!\n"); </a:t>
            </a:r>
            <a:r>
              <a:rPr lang="en-US" dirty="0"/>
              <a:t>​</a:t>
            </a:r>
          </a:p>
          <a:p>
            <a:pPr fontAlgn="base"/>
            <a:r>
              <a:rPr lang="en-IN" dirty="0" err="1"/>
              <a:t>printf</a:t>
            </a:r>
            <a:r>
              <a:rPr lang="en-IN" dirty="0"/>
              <a:t>("File: %s\n", papers[found].filename); </a:t>
            </a:r>
            <a:r>
              <a:rPr lang="en-US" dirty="0"/>
              <a:t>​</a:t>
            </a:r>
          </a:p>
          <a:p>
            <a:pPr fontAlgn="base"/>
            <a:r>
              <a:rPr lang="en-IN" dirty="0"/>
              <a:t>Save Data();}</a:t>
            </a:r>
            <a:r>
              <a:rPr lang="en-US" dirty="0"/>
              <a:t>​</a:t>
            </a:r>
          </a:p>
          <a:p>
            <a:pPr fontAlgn="base"/>
            <a:r>
              <a:rPr lang="en-IN" dirty="0"/>
              <a:t>void register New Student() { </a:t>
            </a:r>
            <a:r>
              <a:rPr lang="en-US" dirty="0"/>
              <a:t>​</a:t>
            </a:r>
          </a:p>
          <a:p>
            <a:pPr fontAlgn="base"/>
            <a:r>
              <a:rPr lang="en-IN" dirty="0"/>
              <a:t>Student new student; </a:t>
            </a:r>
            <a:r>
              <a:rPr lang="en-US" dirty="0"/>
              <a:t>​</a:t>
            </a:r>
          </a:p>
          <a:p>
            <a:pPr fontAlgn="base"/>
            <a:r>
              <a:rPr lang="en-IN" dirty="0" err="1"/>
              <a:t>printf</a:t>
            </a:r>
            <a:r>
              <a:rPr lang="en-IN" dirty="0"/>
              <a:t>("\n--- REGISTER NEW STUDENT ---\n"); </a:t>
            </a:r>
            <a:r>
              <a:rPr lang="en-US" dirty="0"/>
              <a:t>​</a:t>
            </a:r>
          </a:p>
          <a:p>
            <a:pPr fontAlgn="base"/>
            <a:r>
              <a:rPr lang="en-IN" dirty="0" err="1"/>
              <a:t>printf</a:t>
            </a:r>
            <a:r>
              <a:rPr lang="en-IN" dirty="0"/>
              <a:t>("Enter Name: "); </a:t>
            </a:r>
            <a:r>
              <a:rPr lang="en-US" dirty="0"/>
              <a:t>​</a:t>
            </a:r>
          </a:p>
          <a:p>
            <a:pPr fontAlgn="base"/>
            <a:r>
              <a:rPr lang="en-IN" dirty="0" err="1"/>
              <a:t>fgets</a:t>
            </a:r>
            <a:r>
              <a:rPr lang="en-IN" dirty="0"/>
              <a:t>(newStudent.name, size of(newStudent.name), stdin); </a:t>
            </a:r>
            <a:r>
              <a:rPr lang="en-US" dirty="0"/>
              <a:t>​</a:t>
            </a:r>
          </a:p>
          <a:p>
            <a:pPr fontAlgn="base"/>
            <a:r>
              <a:rPr lang="en-IN" dirty="0"/>
              <a:t>newStudent.name[</a:t>
            </a:r>
            <a:r>
              <a:rPr lang="en-IN" dirty="0" err="1"/>
              <a:t>strcspn</a:t>
            </a:r>
            <a:r>
              <a:rPr lang="en-IN" dirty="0"/>
              <a:t>(newStudent.name, "\n")] = 0;</a:t>
            </a:r>
            <a:r>
              <a:rPr lang="en-US" dirty="0"/>
              <a:t>​</a:t>
            </a:r>
          </a:p>
          <a:p>
            <a:pPr fontAlgn="base"/>
            <a:r>
              <a:rPr lang="en-IN" dirty="0" err="1"/>
              <a:t>printf</a:t>
            </a:r>
            <a:r>
              <a:rPr lang="en-IN" dirty="0"/>
              <a:t>("Enter Roll Number: "); </a:t>
            </a:r>
            <a:r>
              <a:rPr lang="en-US" dirty="0"/>
              <a:t>​</a:t>
            </a:r>
          </a:p>
          <a:p>
            <a:pPr fontAlgn="base"/>
            <a:r>
              <a:rPr lang="en-IN" dirty="0" err="1"/>
              <a:t>fgets</a:t>
            </a:r>
            <a:r>
              <a:rPr lang="en-IN" dirty="0"/>
              <a:t>(new Student . </a:t>
            </a:r>
            <a:r>
              <a:rPr lang="en-IN" dirty="0" err="1"/>
              <a:t>rollNumber</a:t>
            </a:r>
            <a:r>
              <a:rPr lang="en-IN" dirty="0"/>
              <a:t>, size of(new </a:t>
            </a:r>
            <a:r>
              <a:rPr lang="en-IN" dirty="0" err="1"/>
              <a:t>Student.roll</a:t>
            </a:r>
            <a:r>
              <a:rPr lang="en-IN" dirty="0"/>
              <a:t> Number), stdin); </a:t>
            </a:r>
          </a:p>
          <a:p>
            <a:pPr fontAlgn="base"/>
            <a:r>
              <a:rPr lang="en-IN" dirty="0" err="1"/>
              <a:t>newStudent</a:t>
            </a:r>
            <a:r>
              <a:rPr lang="en-IN" dirty="0"/>
              <a:t>. Roll Number[</a:t>
            </a:r>
            <a:r>
              <a:rPr lang="en-IN" dirty="0" err="1"/>
              <a:t>strcspn</a:t>
            </a:r>
            <a:r>
              <a:rPr lang="en-IN" dirty="0"/>
              <a:t>(new </a:t>
            </a:r>
            <a:r>
              <a:rPr lang="en-IN" dirty="0" err="1"/>
              <a:t>Student.roll</a:t>
            </a:r>
            <a:r>
              <a:rPr lang="en-IN" dirty="0"/>
              <a:t> Number, "\n")] = 0;</a:t>
            </a:r>
            <a:r>
              <a:rPr lang="en-US" dirty="0"/>
              <a:t>​</a:t>
            </a:r>
          </a:p>
          <a:p>
            <a:pPr fontAlgn="base"/>
            <a:r>
              <a:rPr lang="en-IN" dirty="0"/>
              <a:t>​</a:t>
            </a:r>
          </a:p>
          <a:p>
            <a:pPr fontAlgn="base"/>
            <a:r>
              <a:rPr lang="en-US" dirty="0"/>
              <a:t>// Check if roll number already exists ​</a:t>
            </a:r>
          </a:p>
          <a:p>
            <a:pPr fontAlgn="base"/>
            <a:r>
              <a:rPr lang="en-US" dirty="0"/>
              <a:t>for(int </a:t>
            </a:r>
            <a:r>
              <a:rPr lang="en-US" dirty="0" err="1"/>
              <a:t>i</a:t>
            </a:r>
            <a:r>
              <a:rPr lang="en-US" dirty="0"/>
              <a:t> = 0; </a:t>
            </a:r>
            <a:r>
              <a:rPr lang="en-US" dirty="0" err="1"/>
              <a:t>i</a:t>
            </a:r>
            <a:r>
              <a:rPr lang="en-US" dirty="0"/>
              <a:t> &lt; student Count; </a:t>
            </a:r>
            <a:r>
              <a:rPr lang="en-US" dirty="0" err="1"/>
              <a:t>i</a:t>
            </a:r>
            <a:r>
              <a:rPr lang="en-US" dirty="0"/>
              <a:t>++) { ​</a:t>
            </a:r>
          </a:p>
          <a:p>
            <a:pPr fontAlgn="base"/>
            <a:r>
              <a:rPr lang="en-US" dirty="0"/>
              <a:t>if(</a:t>
            </a:r>
            <a:r>
              <a:rPr lang="en-US" dirty="0" err="1"/>
              <a:t>strcmp</a:t>
            </a:r>
            <a:r>
              <a:rPr lang="en-US" dirty="0"/>
              <a:t>(students[</a:t>
            </a:r>
            <a:r>
              <a:rPr lang="en-US" dirty="0" err="1"/>
              <a:t>i</a:t>
            </a:r>
            <a:r>
              <a:rPr lang="en-US" dirty="0"/>
              <a:t>].</a:t>
            </a:r>
            <a:r>
              <a:rPr lang="en-US" dirty="0" err="1"/>
              <a:t>rollNumber</a:t>
            </a:r>
            <a:r>
              <a:rPr lang="en-US" dirty="0"/>
              <a:t>, </a:t>
            </a:r>
            <a:r>
              <a:rPr lang="en-US" dirty="0" err="1"/>
              <a:t>newStudent.rollNumber</a:t>
            </a:r>
            <a:r>
              <a:rPr lang="en-US" dirty="0"/>
              <a:t>) == 0) {</a:t>
            </a:r>
            <a:r>
              <a:rPr lang="en-IN" dirty="0"/>
              <a:t> </a:t>
            </a:r>
            <a:r>
              <a:rPr lang="en-US" dirty="0"/>
              <a:t>​</a:t>
            </a:r>
          </a:p>
          <a:p>
            <a:pPr fontAlgn="base"/>
            <a:r>
              <a:rPr lang="en-US" dirty="0" err="1"/>
              <a:t>printf</a:t>
            </a:r>
            <a:r>
              <a:rPr lang="en-US" dirty="0"/>
              <a:t>("\n✗ Already Registered!\n");</a:t>
            </a:r>
            <a:r>
              <a:rPr lang="en-IN" dirty="0"/>
              <a:t>​</a:t>
            </a:r>
          </a:p>
          <a:p>
            <a:endParaRPr lang="en-IN" dirty="0"/>
          </a:p>
        </p:txBody>
      </p:sp>
    </p:spTree>
    <p:extLst>
      <p:ext uri="{BB962C8B-B14F-4D97-AF65-F5344CB8AC3E}">
        <p14:creationId xmlns:p14="http://schemas.microsoft.com/office/powerpoint/2010/main" val="21499645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2697C9-757E-2601-3010-49C29A91F2A7}"/>
              </a:ext>
            </a:extLst>
          </p:cNvPr>
          <p:cNvSpPr txBox="1"/>
          <p:nvPr/>
        </p:nvSpPr>
        <p:spPr>
          <a:xfrm>
            <a:off x="238539" y="159026"/>
            <a:ext cx="11569148" cy="5909310"/>
          </a:xfrm>
          <a:prstGeom prst="rect">
            <a:avLst/>
          </a:prstGeom>
          <a:noFill/>
        </p:spPr>
        <p:txBody>
          <a:bodyPr wrap="square" rtlCol="0">
            <a:spAutoFit/>
          </a:bodyPr>
          <a:lstStyle/>
          <a:p>
            <a:pPr fontAlgn="base"/>
            <a:r>
              <a:rPr lang="en-IN" dirty="0" err="1"/>
              <a:t>printf</a:t>
            </a:r>
            <a:r>
              <a:rPr lang="en-IN" dirty="0"/>
              <a:t>("This roll number is already in the system.\n"); </a:t>
            </a:r>
            <a:r>
              <a:rPr lang="en-US" dirty="0"/>
              <a:t>​</a:t>
            </a:r>
          </a:p>
          <a:p>
            <a:pPr fontAlgn="base"/>
            <a:r>
              <a:rPr lang="en-IN" dirty="0"/>
              <a:t>return; } </a:t>
            </a:r>
            <a:r>
              <a:rPr lang="en-US" dirty="0"/>
              <a:t>​</a:t>
            </a:r>
          </a:p>
          <a:p>
            <a:pPr fontAlgn="base"/>
            <a:r>
              <a:rPr lang="en-IN" dirty="0"/>
              <a:t>} </a:t>
            </a:r>
            <a:r>
              <a:rPr lang="en-US" dirty="0"/>
              <a:t>​</a:t>
            </a:r>
          </a:p>
          <a:p>
            <a:pPr fontAlgn="base"/>
            <a:r>
              <a:rPr lang="en-IN" dirty="0" err="1"/>
              <a:t>printf</a:t>
            </a:r>
            <a:r>
              <a:rPr lang="en-IN" dirty="0"/>
              <a:t>("Enter Department: "); </a:t>
            </a:r>
            <a:r>
              <a:rPr lang="en-US" dirty="0"/>
              <a:t>​</a:t>
            </a:r>
          </a:p>
          <a:p>
            <a:pPr fontAlgn="base"/>
            <a:r>
              <a:rPr lang="en-IN" dirty="0" err="1"/>
              <a:t>fgets</a:t>
            </a:r>
            <a:r>
              <a:rPr lang="en-IN" dirty="0"/>
              <a:t>(</a:t>
            </a:r>
            <a:r>
              <a:rPr lang="en-IN" dirty="0" err="1"/>
              <a:t>newStudent.department</a:t>
            </a:r>
            <a:r>
              <a:rPr lang="en-IN" dirty="0"/>
              <a:t>, </a:t>
            </a:r>
            <a:r>
              <a:rPr lang="en-IN" dirty="0" err="1"/>
              <a:t>sizeof</a:t>
            </a:r>
            <a:r>
              <a:rPr lang="en-IN" dirty="0"/>
              <a:t>(</a:t>
            </a:r>
            <a:r>
              <a:rPr lang="en-IN" dirty="0" err="1"/>
              <a:t>newStudent.department</a:t>
            </a:r>
            <a:r>
              <a:rPr lang="en-IN" dirty="0"/>
              <a:t>), stdin); </a:t>
            </a:r>
            <a:r>
              <a:rPr lang="en-IN" dirty="0" err="1"/>
              <a:t>newStudent.department</a:t>
            </a:r>
            <a:r>
              <a:rPr lang="en-IN" dirty="0"/>
              <a:t>[</a:t>
            </a:r>
            <a:r>
              <a:rPr lang="en-IN" dirty="0" err="1"/>
              <a:t>strcspn</a:t>
            </a:r>
            <a:r>
              <a:rPr lang="en-IN" dirty="0"/>
              <a:t>(</a:t>
            </a:r>
            <a:r>
              <a:rPr lang="en-IN" dirty="0" err="1"/>
              <a:t>newStudent.department</a:t>
            </a:r>
            <a:r>
              <a:rPr lang="en-IN" dirty="0"/>
              <a:t>, "\n")] = 0;</a:t>
            </a:r>
            <a:r>
              <a:rPr lang="en-US" dirty="0"/>
              <a:t>​</a:t>
            </a:r>
          </a:p>
          <a:p>
            <a:pPr fontAlgn="base"/>
            <a:r>
              <a:rPr lang="en-IN" dirty="0" err="1"/>
              <a:t>printf</a:t>
            </a:r>
            <a:r>
              <a:rPr lang="en-IN" dirty="0"/>
              <a:t>("Enter Semester: "); </a:t>
            </a:r>
            <a:r>
              <a:rPr lang="en-US" dirty="0"/>
              <a:t>​</a:t>
            </a:r>
          </a:p>
          <a:p>
            <a:pPr fontAlgn="base"/>
            <a:r>
              <a:rPr lang="en-IN" dirty="0" err="1"/>
              <a:t>fgets</a:t>
            </a:r>
            <a:r>
              <a:rPr lang="en-IN" dirty="0"/>
              <a:t>(</a:t>
            </a:r>
            <a:r>
              <a:rPr lang="en-IN" dirty="0" err="1"/>
              <a:t>newStudent.semester</a:t>
            </a:r>
            <a:r>
              <a:rPr lang="en-IN" dirty="0"/>
              <a:t>, </a:t>
            </a:r>
            <a:r>
              <a:rPr lang="en-IN" dirty="0" err="1"/>
              <a:t>sizeof</a:t>
            </a:r>
            <a:r>
              <a:rPr lang="en-IN" dirty="0"/>
              <a:t>(</a:t>
            </a:r>
            <a:r>
              <a:rPr lang="en-IN" dirty="0" err="1"/>
              <a:t>newStudent.semester</a:t>
            </a:r>
            <a:r>
              <a:rPr lang="en-IN" dirty="0"/>
              <a:t>), stdin); </a:t>
            </a:r>
            <a:r>
              <a:rPr lang="en-IN" dirty="0" err="1"/>
              <a:t>newStudent.semester</a:t>
            </a:r>
            <a:r>
              <a:rPr lang="en-IN" dirty="0"/>
              <a:t>[</a:t>
            </a:r>
            <a:r>
              <a:rPr lang="en-IN" dirty="0" err="1"/>
              <a:t>strcspn</a:t>
            </a:r>
            <a:r>
              <a:rPr lang="en-IN" dirty="0"/>
              <a:t>(</a:t>
            </a:r>
            <a:r>
              <a:rPr lang="en-IN" dirty="0" err="1"/>
              <a:t>newStudent.semester</a:t>
            </a:r>
            <a:r>
              <a:rPr lang="en-IN" dirty="0"/>
              <a:t>, "\n")] = 0; </a:t>
            </a:r>
            <a:r>
              <a:rPr lang="en-US" dirty="0"/>
              <a:t>​</a:t>
            </a:r>
          </a:p>
          <a:p>
            <a:pPr fontAlgn="base"/>
            <a:r>
              <a:rPr lang="en-IN" dirty="0" err="1"/>
              <a:t>printf</a:t>
            </a:r>
            <a:r>
              <a:rPr lang="en-IN" dirty="0"/>
              <a:t>("Enter Email: "); </a:t>
            </a:r>
            <a:r>
              <a:rPr lang="en-US" dirty="0"/>
              <a:t>​</a:t>
            </a:r>
          </a:p>
          <a:p>
            <a:pPr fontAlgn="base"/>
            <a:r>
              <a:rPr lang="en-IN" dirty="0" err="1"/>
              <a:t>fgets</a:t>
            </a:r>
            <a:r>
              <a:rPr lang="en-IN" dirty="0"/>
              <a:t>(</a:t>
            </a:r>
            <a:r>
              <a:rPr lang="en-IN" dirty="0" err="1"/>
              <a:t>newStudent.email</a:t>
            </a:r>
            <a:r>
              <a:rPr lang="en-IN" dirty="0"/>
              <a:t>, </a:t>
            </a:r>
            <a:r>
              <a:rPr lang="en-IN" dirty="0" err="1"/>
              <a:t>sizeof</a:t>
            </a:r>
            <a:r>
              <a:rPr lang="en-IN" dirty="0"/>
              <a:t>(</a:t>
            </a:r>
            <a:r>
              <a:rPr lang="en-IN" dirty="0" err="1"/>
              <a:t>newStudent.email</a:t>
            </a:r>
            <a:r>
              <a:rPr lang="en-IN" dirty="0"/>
              <a:t>), stdin); </a:t>
            </a:r>
            <a:r>
              <a:rPr lang="en-US" dirty="0"/>
              <a:t>​</a:t>
            </a:r>
          </a:p>
          <a:p>
            <a:pPr fontAlgn="base"/>
            <a:r>
              <a:rPr lang="en-IN" dirty="0" err="1"/>
              <a:t>newStudent.email</a:t>
            </a:r>
            <a:r>
              <a:rPr lang="en-IN" dirty="0"/>
              <a:t>[</a:t>
            </a:r>
            <a:r>
              <a:rPr lang="en-IN" dirty="0" err="1"/>
              <a:t>strcspn</a:t>
            </a:r>
            <a:r>
              <a:rPr lang="en-IN" dirty="0"/>
              <a:t>(</a:t>
            </a:r>
            <a:r>
              <a:rPr lang="en-IN" dirty="0" err="1"/>
              <a:t>newStudent.email</a:t>
            </a:r>
            <a:r>
              <a:rPr lang="en-IN" dirty="0"/>
              <a:t>, "\n")] = 0;</a:t>
            </a:r>
            <a:r>
              <a:rPr lang="en-US" dirty="0"/>
              <a:t>​</a:t>
            </a:r>
          </a:p>
          <a:p>
            <a:pPr fontAlgn="base"/>
            <a:r>
              <a:rPr lang="en-IN" dirty="0"/>
              <a:t>​</a:t>
            </a:r>
          </a:p>
          <a:p>
            <a:pPr fontAlgn="base"/>
            <a:r>
              <a:rPr lang="en-IN" dirty="0" err="1"/>
              <a:t>printf</a:t>
            </a:r>
            <a:r>
              <a:rPr lang="en-IN" dirty="0"/>
              <a:t>("Enter Password: "); </a:t>
            </a:r>
            <a:r>
              <a:rPr lang="en-US" dirty="0"/>
              <a:t>​</a:t>
            </a:r>
          </a:p>
          <a:p>
            <a:pPr fontAlgn="base"/>
            <a:r>
              <a:rPr lang="en-IN" dirty="0" err="1"/>
              <a:t>fgets</a:t>
            </a:r>
            <a:r>
              <a:rPr lang="en-IN" dirty="0"/>
              <a:t>(</a:t>
            </a:r>
            <a:r>
              <a:rPr lang="en-IN" dirty="0" err="1"/>
              <a:t>newStudent.password</a:t>
            </a:r>
            <a:r>
              <a:rPr lang="en-IN" dirty="0"/>
              <a:t>, </a:t>
            </a:r>
            <a:r>
              <a:rPr lang="en-IN" dirty="0" err="1"/>
              <a:t>sizeof</a:t>
            </a:r>
            <a:r>
              <a:rPr lang="en-IN" dirty="0"/>
              <a:t>(</a:t>
            </a:r>
            <a:r>
              <a:rPr lang="en-IN" dirty="0" err="1"/>
              <a:t>newStudent.password</a:t>
            </a:r>
            <a:r>
              <a:rPr lang="en-IN" dirty="0"/>
              <a:t>), stdin); </a:t>
            </a:r>
            <a:r>
              <a:rPr lang="en-IN" dirty="0" err="1"/>
              <a:t>newStudent.password</a:t>
            </a:r>
            <a:r>
              <a:rPr lang="en-IN" dirty="0"/>
              <a:t>[</a:t>
            </a:r>
            <a:r>
              <a:rPr lang="en-IN" dirty="0" err="1"/>
              <a:t>strcspn</a:t>
            </a:r>
            <a:r>
              <a:rPr lang="en-IN" dirty="0"/>
              <a:t>(</a:t>
            </a:r>
            <a:r>
              <a:rPr lang="en-IN" dirty="0" err="1"/>
              <a:t>newStudent.password</a:t>
            </a:r>
            <a:r>
              <a:rPr lang="en-IN" dirty="0"/>
              <a:t>, "\n")] = 0; </a:t>
            </a:r>
            <a:r>
              <a:rPr lang="en-US" dirty="0"/>
              <a:t>​</a:t>
            </a:r>
          </a:p>
          <a:p>
            <a:pPr fontAlgn="base"/>
            <a:r>
              <a:rPr lang="en-IN" dirty="0"/>
              <a:t>​</a:t>
            </a:r>
          </a:p>
          <a:p>
            <a:pPr fontAlgn="base"/>
            <a:r>
              <a:rPr lang="en-IN" dirty="0"/>
              <a:t>// Validate all fields </a:t>
            </a:r>
            <a:r>
              <a:rPr lang="en-US" dirty="0"/>
              <a:t>​</a:t>
            </a:r>
          </a:p>
          <a:p>
            <a:pPr fontAlgn="base"/>
            <a:r>
              <a:rPr lang="en-IN" dirty="0"/>
              <a:t>if(</a:t>
            </a:r>
            <a:r>
              <a:rPr lang="en-IN" dirty="0" err="1"/>
              <a:t>strlen</a:t>
            </a:r>
            <a:r>
              <a:rPr lang="en-IN" dirty="0"/>
              <a:t>(newStudent.name) == 0 || </a:t>
            </a:r>
            <a:r>
              <a:rPr lang="en-US" dirty="0"/>
              <a:t>​</a:t>
            </a:r>
          </a:p>
          <a:p>
            <a:pPr fontAlgn="base"/>
            <a:r>
              <a:rPr lang="en-IN" dirty="0" err="1"/>
              <a:t>strlen</a:t>
            </a:r>
            <a:r>
              <a:rPr lang="en-IN" dirty="0"/>
              <a:t>(</a:t>
            </a:r>
            <a:r>
              <a:rPr lang="en-IN" dirty="0" err="1"/>
              <a:t>newStudent.rollNumber</a:t>
            </a:r>
            <a:r>
              <a:rPr lang="en-IN" dirty="0"/>
              <a:t>) == 0 || </a:t>
            </a:r>
            <a:r>
              <a:rPr lang="en-US" dirty="0"/>
              <a:t>​</a:t>
            </a:r>
          </a:p>
          <a:p>
            <a:endParaRPr lang="en-IN" dirty="0"/>
          </a:p>
        </p:txBody>
      </p:sp>
    </p:spTree>
    <p:extLst>
      <p:ext uri="{BB962C8B-B14F-4D97-AF65-F5344CB8AC3E}">
        <p14:creationId xmlns:p14="http://schemas.microsoft.com/office/powerpoint/2010/main" val="5651122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111F77-BED6-8886-93A1-1E32203117EC}"/>
              </a:ext>
            </a:extLst>
          </p:cNvPr>
          <p:cNvSpPr txBox="1"/>
          <p:nvPr/>
        </p:nvSpPr>
        <p:spPr>
          <a:xfrm>
            <a:off x="159026" y="178904"/>
            <a:ext cx="11857383" cy="5909310"/>
          </a:xfrm>
          <a:prstGeom prst="rect">
            <a:avLst/>
          </a:prstGeom>
          <a:noFill/>
        </p:spPr>
        <p:txBody>
          <a:bodyPr wrap="square" rtlCol="0">
            <a:spAutoFit/>
          </a:bodyPr>
          <a:lstStyle/>
          <a:p>
            <a:pPr fontAlgn="base"/>
            <a:r>
              <a:rPr lang="en-IN" dirty="0" err="1"/>
              <a:t>strlen</a:t>
            </a:r>
            <a:r>
              <a:rPr lang="en-IN" dirty="0"/>
              <a:t>(</a:t>
            </a:r>
            <a:r>
              <a:rPr lang="en-IN" dirty="0" err="1"/>
              <a:t>newStudent.password</a:t>
            </a:r>
            <a:r>
              <a:rPr lang="en-IN" dirty="0"/>
              <a:t>) == 0) { </a:t>
            </a:r>
            <a:r>
              <a:rPr lang="en-US" dirty="0"/>
              <a:t>​</a:t>
            </a:r>
          </a:p>
          <a:p>
            <a:pPr fontAlgn="base"/>
            <a:r>
              <a:rPr lang="en-IN" dirty="0" err="1"/>
              <a:t>printf</a:t>
            </a:r>
            <a:r>
              <a:rPr lang="en-IN" dirty="0"/>
              <a:t>("\n✗ All fields are required!\n"); </a:t>
            </a:r>
            <a:r>
              <a:rPr lang="en-US" dirty="0"/>
              <a:t>​</a:t>
            </a:r>
          </a:p>
          <a:p>
            <a:pPr fontAlgn="base"/>
            <a:r>
              <a:rPr lang="en-IN" dirty="0"/>
              <a:t>return; }</a:t>
            </a:r>
            <a:r>
              <a:rPr lang="en-US" dirty="0"/>
              <a:t>​</a:t>
            </a:r>
          </a:p>
          <a:p>
            <a:pPr fontAlgn="base"/>
            <a:r>
              <a:rPr lang="en-IN" dirty="0"/>
              <a:t>​</a:t>
            </a:r>
          </a:p>
          <a:p>
            <a:pPr fontAlgn="base"/>
            <a:r>
              <a:rPr lang="en-US" dirty="0"/>
              <a:t>// Store student details in database ​</a:t>
            </a:r>
          </a:p>
          <a:p>
            <a:pPr fontAlgn="base"/>
            <a:r>
              <a:rPr lang="en-US" dirty="0"/>
              <a:t>students[</a:t>
            </a:r>
            <a:r>
              <a:rPr lang="en-US" dirty="0" err="1"/>
              <a:t>studentCount</a:t>
            </a:r>
            <a:r>
              <a:rPr lang="en-US" dirty="0"/>
              <a:t>++] = </a:t>
            </a:r>
            <a:r>
              <a:rPr lang="en-US" dirty="0" err="1"/>
              <a:t>newStudent</a:t>
            </a:r>
            <a:r>
              <a:rPr lang="en-US" dirty="0"/>
              <a:t>; ​</a:t>
            </a:r>
          </a:p>
          <a:p>
            <a:pPr fontAlgn="base"/>
            <a:r>
              <a:rPr lang="en-US" dirty="0" err="1"/>
              <a:t>printf</a:t>
            </a:r>
            <a:r>
              <a:rPr lang="en-US" dirty="0"/>
              <a:t>("\n✓ Registration Successful!\n"); ​</a:t>
            </a:r>
          </a:p>
          <a:p>
            <a:pPr fontAlgn="base"/>
            <a:r>
              <a:rPr lang="en-US" dirty="0" err="1"/>
              <a:t>printf</a:t>
            </a:r>
            <a:r>
              <a:rPr lang="en-US" dirty="0"/>
              <a:t>("You can now login with your roll number and password.\n"); ​</a:t>
            </a:r>
          </a:p>
          <a:p>
            <a:pPr fontAlgn="base"/>
            <a:r>
              <a:rPr lang="en-US" dirty="0" err="1"/>
              <a:t>saveData</a:t>
            </a:r>
            <a:r>
              <a:rPr lang="en-US" dirty="0"/>
              <a:t>(); }​</a:t>
            </a:r>
          </a:p>
          <a:p>
            <a:pPr fontAlgn="base"/>
            <a:r>
              <a:rPr lang="en-US" dirty="0"/>
              <a:t>​</a:t>
            </a:r>
          </a:p>
          <a:p>
            <a:pPr fontAlgn="base"/>
            <a:r>
              <a:rPr lang="en-IN" dirty="0"/>
              <a:t>void </a:t>
            </a:r>
            <a:r>
              <a:rPr lang="en-IN" dirty="0" err="1"/>
              <a:t>generatePaperID</a:t>
            </a:r>
            <a:r>
              <a:rPr lang="en-IN" dirty="0"/>
              <a:t>(char *id) { </a:t>
            </a:r>
            <a:r>
              <a:rPr lang="en-US" dirty="0"/>
              <a:t>​</a:t>
            </a:r>
          </a:p>
          <a:p>
            <a:pPr fontAlgn="base"/>
            <a:r>
              <a:rPr lang="en-IN" dirty="0" err="1"/>
              <a:t>sprintf</a:t>
            </a:r>
            <a:r>
              <a:rPr lang="en-IN" dirty="0"/>
              <a:t>(id, "</a:t>
            </a:r>
            <a:r>
              <a:rPr lang="en-IN" dirty="0" err="1"/>
              <a:t>QP%d</a:t>
            </a:r>
            <a:r>
              <a:rPr lang="en-IN" dirty="0"/>
              <a:t>", </a:t>
            </a:r>
            <a:r>
              <a:rPr lang="en-IN" dirty="0" err="1"/>
              <a:t>paperCount</a:t>
            </a:r>
            <a:r>
              <a:rPr lang="en-IN" dirty="0"/>
              <a:t> + 1001);}</a:t>
            </a:r>
            <a:r>
              <a:rPr lang="en-US" dirty="0"/>
              <a:t>​</a:t>
            </a:r>
          </a:p>
          <a:p>
            <a:pPr fontAlgn="base"/>
            <a:r>
              <a:rPr lang="en-IN" dirty="0"/>
              <a:t>void </a:t>
            </a:r>
            <a:r>
              <a:rPr lang="en-IN" dirty="0" err="1"/>
              <a:t>getCurrentDate</a:t>
            </a:r>
            <a:r>
              <a:rPr lang="en-IN" dirty="0"/>
              <a:t>(char *date) { </a:t>
            </a:r>
            <a:r>
              <a:rPr lang="en-US" dirty="0"/>
              <a:t>​</a:t>
            </a:r>
          </a:p>
          <a:p>
            <a:pPr fontAlgn="base"/>
            <a:r>
              <a:rPr lang="en-IN" dirty="0" err="1"/>
              <a:t>sprintf</a:t>
            </a:r>
            <a:r>
              <a:rPr lang="en-IN" dirty="0"/>
              <a:t>(date, "05-12-2025"); </a:t>
            </a:r>
            <a:r>
              <a:rPr lang="en-US" dirty="0"/>
              <a:t>​</a:t>
            </a:r>
          </a:p>
          <a:p>
            <a:pPr fontAlgn="base"/>
            <a:r>
              <a:rPr lang="en-IN" dirty="0"/>
              <a:t>// Simplified date</a:t>
            </a:r>
            <a:r>
              <a:rPr lang="en-US" dirty="0"/>
              <a:t>​</a:t>
            </a:r>
          </a:p>
          <a:p>
            <a:pPr fontAlgn="base"/>
            <a:r>
              <a:rPr lang="en-IN" dirty="0"/>
              <a:t>}</a:t>
            </a:r>
            <a:r>
              <a:rPr lang="en-US" dirty="0"/>
              <a:t>​</a:t>
            </a:r>
          </a:p>
          <a:p>
            <a:pPr fontAlgn="base"/>
            <a:r>
              <a:rPr lang="en-IN" dirty="0"/>
              <a:t>​</a:t>
            </a:r>
          </a:p>
          <a:p>
            <a:pPr fontAlgn="base"/>
            <a:r>
              <a:rPr lang="en-IN" dirty="0"/>
              <a:t>void </a:t>
            </a:r>
            <a:r>
              <a:rPr lang="en-IN" dirty="0" err="1"/>
              <a:t>clearInputBuffer</a:t>
            </a:r>
            <a:r>
              <a:rPr lang="en-IN" dirty="0"/>
              <a:t>() { </a:t>
            </a:r>
            <a:r>
              <a:rPr lang="en-US" dirty="0"/>
              <a:t>​</a:t>
            </a:r>
          </a:p>
          <a:p>
            <a:pPr fontAlgn="base"/>
            <a:r>
              <a:rPr lang="en-IN" dirty="0"/>
              <a:t>int c; </a:t>
            </a:r>
            <a:r>
              <a:rPr lang="en-US" dirty="0"/>
              <a:t>​</a:t>
            </a:r>
          </a:p>
          <a:p>
            <a:pPr fontAlgn="base"/>
            <a:r>
              <a:rPr lang="en-IN" dirty="0"/>
              <a:t>while ((c = </a:t>
            </a:r>
            <a:r>
              <a:rPr lang="en-IN" dirty="0" err="1"/>
              <a:t>getchar</a:t>
            </a:r>
            <a:r>
              <a:rPr lang="en-IN" dirty="0"/>
              <a:t>()) != '\n' &amp;&amp; c != EOF);</a:t>
            </a:r>
            <a:r>
              <a:rPr lang="en-US" dirty="0"/>
              <a:t>​</a:t>
            </a:r>
          </a:p>
          <a:p>
            <a:endParaRPr lang="en-IN" dirty="0"/>
          </a:p>
        </p:txBody>
      </p:sp>
    </p:spTree>
    <p:extLst>
      <p:ext uri="{BB962C8B-B14F-4D97-AF65-F5344CB8AC3E}">
        <p14:creationId xmlns:p14="http://schemas.microsoft.com/office/powerpoint/2010/main" val="12399936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9E66E2-454F-2B4B-AD1B-E54A47740C25}"/>
              </a:ext>
            </a:extLst>
          </p:cNvPr>
          <p:cNvSpPr txBox="1"/>
          <p:nvPr/>
        </p:nvSpPr>
        <p:spPr>
          <a:xfrm>
            <a:off x="69574" y="149087"/>
            <a:ext cx="11857383" cy="5909310"/>
          </a:xfrm>
          <a:prstGeom prst="rect">
            <a:avLst/>
          </a:prstGeom>
          <a:noFill/>
        </p:spPr>
        <p:txBody>
          <a:bodyPr wrap="square" rtlCol="0">
            <a:spAutoFit/>
          </a:bodyPr>
          <a:lstStyle/>
          <a:p>
            <a:pPr fontAlgn="base"/>
            <a:r>
              <a:rPr lang="en-IN" dirty="0" err="1"/>
              <a:t>strlen</a:t>
            </a:r>
            <a:r>
              <a:rPr lang="en-IN" dirty="0"/>
              <a:t>(</a:t>
            </a:r>
            <a:r>
              <a:rPr lang="en-IN" dirty="0" err="1"/>
              <a:t>newStudent.password</a:t>
            </a:r>
            <a:r>
              <a:rPr lang="en-IN" dirty="0"/>
              <a:t>) == 0) { </a:t>
            </a:r>
            <a:r>
              <a:rPr lang="en-US" dirty="0"/>
              <a:t>​</a:t>
            </a:r>
          </a:p>
          <a:p>
            <a:pPr fontAlgn="base"/>
            <a:r>
              <a:rPr lang="en-IN" dirty="0" err="1"/>
              <a:t>printf</a:t>
            </a:r>
            <a:r>
              <a:rPr lang="en-IN" dirty="0"/>
              <a:t>("\n✗ All fields are required!\n"); </a:t>
            </a:r>
            <a:r>
              <a:rPr lang="en-US" dirty="0"/>
              <a:t>​</a:t>
            </a:r>
          </a:p>
          <a:p>
            <a:pPr fontAlgn="base"/>
            <a:r>
              <a:rPr lang="en-IN" dirty="0"/>
              <a:t>return; }</a:t>
            </a:r>
            <a:r>
              <a:rPr lang="en-US" dirty="0"/>
              <a:t>​</a:t>
            </a:r>
          </a:p>
          <a:p>
            <a:pPr fontAlgn="base"/>
            <a:r>
              <a:rPr lang="en-IN" dirty="0"/>
              <a:t>​</a:t>
            </a:r>
          </a:p>
          <a:p>
            <a:pPr fontAlgn="base"/>
            <a:r>
              <a:rPr lang="en-US" dirty="0"/>
              <a:t>// Store student details in database ​</a:t>
            </a:r>
          </a:p>
          <a:p>
            <a:pPr fontAlgn="base"/>
            <a:r>
              <a:rPr lang="en-US" dirty="0"/>
              <a:t>students[</a:t>
            </a:r>
            <a:r>
              <a:rPr lang="en-US" dirty="0" err="1"/>
              <a:t>studentCount</a:t>
            </a:r>
            <a:r>
              <a:rPr lang="en-US" dirty="0"/>
              <a:t>++] = </a:t>
            </a:r>
            <a:r>
              <a:rPr lang="en-US" dirty="0" err="1"/>
              <a:t>newStudent</a:t>
            </a:r>
            <a:r>
              <a:rPr lang="en-US" dirty="0"/>
              <a:t>; ​</a:t>
            </a:r>
          </a:p>
          <a:p>
            <a:pPr fontAlgn="base"/>
            <a:r>
              <a:rPr lang="en-US" dirty="0" err="1"/>
              <a:t>printf</a:t>
            </a:r>
            <a:r>
              <a:rPr lang="en-US" dirty="0"/>
              <a:t>("\n✓ Registration Successful!\n"); ​</a:t>
            </a:r>
          </a:p>
          <a:p>
            <a:pPr fontAlgn="base"/>
            <a:r>
              <a:rPr lang="en-US" dirty="0" err="1"/>
              <a:t>printf</a:t>
            </a:r>
            <a:r>
              <a:rPr lang="en-US" dirty="0"/>
              <a:t>("You can now login with your roll number and password.\n"); ​</a:t>
            </a:r>
          </a:p>
          <a:p>
            <a:pPr fontAlgn="base"/>
            <a:r>
              <a:rPr lang="en-US" dirty="0" err="1"/>
              <a:t>saveData</a:t>
            </a:r>
            <a:r>
              <a:rPr lang="en-US" dirty="0"/>
              <a:t>(); }​</a:t>
            </a:r>
          </a:p>
          <a:p>
            <a:pPr fontAlgn="base"/>
            <a:r>
              <a:rPr lang="en-US" dirty="0"/>
              <a:t>​</a:t>
            </a:r>
          </a:p>
          <a:p>
            <a:pPr fontAlgn="base"/>
            <a:r>
              <a:rPr lang="en-IN" dirty="0"/>
              <a:t>void </a:t>
            </a:r>
            <a:r>
              <a:rPr lang="en-IN" dirty="0" err="1"/>
              <a:t>generatePaperID</a:t>
            </a:r>
            <a:r>
              <a:rPr lang="en-IN" dirty="0"/>
              <a:t>(char *id) { </a:t>
            </a:r>
            <a:r>
              <a:rPr lang="en-US" dirty="0"/>
              <a:t>​</a:t>
            </a:r>
          </a:p>
          <a:p>
            <a:pPr fontAlgn="base"/>
            <a:r>
              <a:rPr lang="en-IN" dirty="0" err="1"/>
              <a:t>sprintf</a:t>
            </a:r>
            <a:r>
              <a:rPr lang="en-IN" dirty="0"/>
              <a:t>(id, "</a:t>
            </a:r>
            <a:r>
              <a:rPr lang="en-IN" dirty="0" err="1"/>
              <a:t>QP%d</a:t>
            </a:r>
            <a:r>
              <a:rPr lang="en-IN" dirty="0"/>
              <a:t>", </a:t>
            </a:r>
            <a:r>
              <a:rPr lang="en-IN" dirty="0" err="1"/>
              <a:t>paperCount</a:t>
            </a:r>
            <a:r>
              <a:rPr lang="en-IN" dirty="0"/>
              <a:t> + 1001);}</a:t>
            </a:r>
            <a:r>
              <a:rPr lang="en-US" dirty="0"/>
              <a:t>​</a:t>
            </a:r>
          </a:p>
          <a:p>
            <a:pPr fontAlgn="base"/>
            <a:r>
              <a:rPr lang="en-IN" dirty="0"/>
              <a:t>void </a:t>
            </a:r>
            <a:r>
              <a:rPr lang="en-IN" dirty="0" err="1"/>
              <a:t>getCurrentDate</a:t>
            </a:r>
            <a:r>
              <a:rPr lang="en-IN" dirty="0"/>
              <a:t>(char *date) { </a:t>
            </a:r>
            <a:r>
              <a:rPr lang="en-US" dirty="0"/>
              <a:t>​</a:t>
            </a:r>
          </a:p>
          <a:p>
            <a:pPr fontAlgn="base"/>
            <a:r>
              <a:rPr lang="en-IN" dirty="0" err="1"/>
              <a:t>sprintf</a:t>
            </a:r>
            <a:r>
              <a:rPr lang="en-IN" dirty="0"/>
              <a:t>(date, "05-12-2025"); </a:t>
            </a:r>
            <a:r>
              <a:rPr lang="en-US" dirty="0"/>
              <a:t>​</a:t>
            </a:r>
          </a:p>
          <a:p>
            <a:pPr fontAlgn="base"/>
            <a:r>
              <a:rPr lang="en-IN" dirty="0"/>
              <a:t>// Simplified date</a:t>
            </a:r>
            <a:r>
              <a:rPr lang="en-US" dirty="0"/>
              <a:t>​</a:t>
            </a:r>
          </a:p>
          <a:p>
            <a:pPr fontAlgn="base"/>
            <a:r>
              <a:rPr lang="en-IN" dirty="0"/>
              <a:t>}</a:t>
            </a:r>
            <a:r>
              <a:rPr lang="en-US" dirty="0"/>
              <a:t>​</a:t>
            </a:r>
          </a:p>
          <a:p>
            <a:pPr fontAlgn="base"/>
            <a:r>
              <a:rPr lang="en-IN" dirty="0"/>
              <a:t>​</a:t>
            </a:r>
          </a:p>
          <a:p>
            <a:pPr fontAlgn="base"/>
            <a:r>
              <a:rPr lang="en-IN" dirty="0"/>
              <a:t>void </a:t>
            </a:r>
            <a:r>
              <a:rPr lang="en-IN" dirty="0" err="1"/>
              <a:t>clearInputBuffer</a:t>
            </a:r>
            <a:r>
              <a:rPr lang="en-IN" dirty="0"/>
              <a:t>() { </a:t>
            </a:r>
            <a:r>
              <a:rPr lang="en-US" dirty="0"/>
              <a:t>​</a:t>
            </a:r>
          </a:p>
          <a:p>
            <a:pPr fontAlgn="base"/>
            <a:r>
              <a:rPr lang="en-IN" dirty="0"/>
              <a:t>int c; </a:t>
            </a:r>
            <a:r>
              <a:rPr lang="en-US" dirty="0"/>
              <a:t>​</a:t>
            </a:r>
          </a:p>
          <a:p>
            <a:pPr fontAlgn="base"/>
            <a:r>
              <a:rPr lang="en-IN" dirty="0"/>
              <a:t>while ((c = </a:t>
            </a:r>
            <a:r>
              <a:rPr lang="en-IN" dirty="0" err="1"/>
              <a:t>getchar</a:t>
            </a:r>
            <a:r>
              <a:rPr lang="en-IN" dirty="0"/>
              <a:t>()) != '\n' &amp;&amp; c != EOF);</a:t>
            </a:r>
            <a:r>
              <a:rPr lang="en-US" dirty="0"/>
              <a:t>​</a:t>
            </a:r>
          </a:p>
          <a:p>
            <a:endParaRPr lang="en-IN" dirty="0"/>
          </a:p>
        </p:txBody>
      </p:sp>
    </p:spTree>
    <p:extLst>
      <p:ext uri="{BB962C8B-B14F-4D97-AF65-F5344CB8AC3E}">
        <p14:creationId xmlns:p14="http://schemas.microsoft.com/office/powerpoint/2010/main" val="40985212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2605DD-5445-B705-7994-2772428FECAE}"/>
              </a:ext>
            </a:extLst>
          </p:cNvPr>
          <p:cNvSpPr txBox="1"/>
          <p:nvPr/>
        </p:nvSpPr>
        <p:spPr>
          <a:xfrm>
            <a:off x="139148" y="208722"/>
            <a:ext cx="11777869" cy="6186309"/>
          </a:xfrm>
          <a:prstGeom prst="rect">
            <a:avLst/>
          </a:prstGeom>
          <a:noFill/>
        </p:spPr>
        <p:txBody>
          <a:bodyPr wrap="square" rtlCol="0">
            <a:spAutoFit/>
          </a:bodyPr>
          <a:lstStyle/>
          <a:p>
            <a:pPr fontAlgn="base"/>
            <a:r>
              <a:rPr lang="en-IN" dirty="0"/>
              <a:t>void </a:t>
            </a:r>
            <a:r>
              <a:rPr lang="en-IN" dirty="0" err="1"/>
              <a:t>loadData</a:t>
            </a:r>
            <a:r>
              <a:rPr lang="en-IN" dirty="0"/>
              <a:t>() { </a:t>
            </a:r>
            <a:r>
              <a:rPr lang="en-US" dirty="0"/>
              <a:t>​</a:t>
            </a:r>
          </a:p>
          <a:p>
            <a:pPr fontAlgn="base"/>
            <a:r>
              <a:rPr lang="en-IN" dirty="0"/>
              <a:t>FILE *</a:t>
            </a:r>
            <a:r>
              <a:rPr lang="en-IN" dirty="0" err="1"/>
              <a:t>fp</a:t>
            </a:r>
            <a:r>
              <a:rPr lang="en-IN" dirty="0"/>
              <a:t>; </a:t>
            </a:r>
            <a:r>
              <a:rPr lang="en-US" dirty="0"/>
              <a:t>​</a:t>
            </a:r>
          </a:p>
          <a:p>
            <a:pPr fontAlgn="base"/>
            <a:r>
              <a:rPr lang="en-IN" dirty="0"/>
              <a:t>​</a:t>
            </a:r>
          </a:p>
          <a:p>
            <a:pPr fontAlgn="base"/>
            <a:r>
              <a:rPr lang="en-IN" dirty="0"/>
              <a:t>// Load papers </a:t>
            </a:r>
            <a:r>
              <a:rPr lang="en-IN" dirty="0" err="1"/>
              <a:t>fp</a:t>
            </a:r>
            <a:r>
              <a:rPr lang="en-IN" dirty="0"/>
              <a:t> = </a:t>
            </a:r>
            <a:r>
              <a:rPr lang="en-IN" dirty="0" err="1"/>
              <a:t>fopen</a:t>
            </a:r>
            <a:r>
              <a:rPr lang="en-IN" dirty="0"/>
              <a:t>("papers.dat", "</a:t>
            </a:r>
            <a:r>
              <a:rPr lang="en-IN" dirty="0" err="1"/>
              <a:t>rb</a:t>
            </a:r>
            <a:r>
              <a:rPr lang="en-IN" dirty="0"/>
              <a:t>"); </a:t>
            </a:r>
            <a:r>
              <a:rPr lang="en-US" dirty="0"/>
              <a:t>​</a:t>
            </a:r>
          </a:p>
          <a:p>
            <a:pPr fontAlgn="base"/>
            <a:r>
              <a:rPr lang="en-IN" dirty="0"/>
              <a:t>if(</a:t>
            </a:r>
            <a:r>
              <a:rPr lang="en-IN" dirty="0" err="1"/>
              <a:t>fp</a:t>
            </a:r>
            <a:r>
              <a:rPr lang="en-IN" dirty="0"/>
              <a:t> != NULL) { </a:t>
            </a:r>
            <a:r>
              <a:rPr lang="en-US" dirty="0"/>
              <a:t>​</a:t>
            </a:r>
          </a:p>
          <a:p>
            <a:pPr fontAlgn="base"/>
            <a:r>
              <a:rPr lang="en-IN" dirty="0" err="1"/>
              <a:t>fread</a:t>
            </a:r>
            <a:r>
              <a:rPr lang="en-IN" dirty="0"/>
              <a:t>(&amp;</a:t>
            </a:r>
            <a:r>
              <a:rPr lang="en-IN" dirty="0" err="1"/>
              <a:t>paperCount</a:t>
            </a:r>
            <a:r>
              <a:rPr lang="en-IN" dirty="0"/>
              <a:t>, </a:t>
            </a:r>
            <a:r>
              <a:rPr lang="en-IN" dirty="0" err="1"/>
              <a:t>sizeof</a:t>
            </a:r>
            <a:r>
              <a:rPr lang="en-IN" dirty="0"/>
              <a:t>(int), 1, </a:t>
            </a:r>
            <a:r>
              <a:rPr lang="en-IN" dirty="0" err="1"/>
              <a:t>fp</a:t>
            </a:r>
            <a:r>
              <a:rPr lang="en-IN" dirty="0"/>
              <a:t>); </a:t>
            </a:r>
            <a:r>
              <a:rPr lang="en-US" dirty="0"/>
              <a:t>​</a:t>
            </a:r>
          </a:p>
          <a:p>
            <a:pPr fontAlgn="base"/>
            <a:r>
              <a:rPr lang="en-IN" dirty="0" err="1"/>
              <a:t>fread</a:t>
            </a:r>
            <a:r>
              <a:rPr lang="en-IN" dirty="0"/>
              <a:t>(papers, </a:t>
            </a:r>
            <a:r>
              <a:rPr lang="en-IN" dirty="0" err="1"/>
              <a:t>sizeof</a:t>
            </a:r>
            <a:r>
              <a:rPr lang="en-IN" dirty="0"/>
              <a:t>(</a:t>
            </a:r>
            <a:r>
              <a:rPr lang="en-IN" dirty="0" err="1"/>
              <a:t>QuestionPaper</a:t>
            </a:r>
            <a:r>
              <a:rPr lang="en-IN" dirty="0"/>
              <a:t>), </a:t>
            </a:r>
            <a:r>
              <a:rPr lang="en-IN" dirty="0" err="1"/>
              <a:t>paperCount</a:t>
            </a:r>
            <a:r>
              <a:rPr lang="en-IN" dirty="0"/>
              <a:t>, </a:t>
            </a:r>
            <a:r>
              <a:rPr lang="en-IN" dirty="0" err="1"/>
              <a:t>fp</a:t>
            </a:r>
            <a:r>
              <a:rPr lang="en-IN" dirty="0"/>
              <a:t>); </a:t>
            </a:r>
            <a:r>
              <a:rPr lang="en-US" dirty="0"/>
              <a:t>​</a:t>
            </a:r>
          </a:p>
          <a:p>
            <a:pPr fontAlgn="base"/>
            <a:r>
              <a:rPr lang="en-IN" dirty="0" err="1"/>
              <a:t>fclose</a:t>
            </a:r>
            <a:r>
              <a:rPr lang="en-IN" dirty="0"/>
              <a:t>(</a:t>
            </a:r>
            <a:r>
              <a:rPr lang="en-IN" dirty="0" err="1"/>
              <a:t>fp</a:t>
            </a:r>
            <a:r>
              <a:rPr lang="en-IN" dirty="0"/>
              <a:t>); } </a:t>
            </a:r>
            <a:r>
              <a:rPr lang="en-US" dirty="0"/>
              <a:t>​</a:t>
            </a:r>
          </a:p>
          <a:p>
            <a:pPr fontAlgn="base"/>
            <a:r>
              <a:rPr lang="en-IN" dirty="0"/>
              <a:t>​</a:t>
            </a:r>
          </a:p>
          <a:p>
            <a:pPr fontAlgn="base"/>
            <a:r>
              <a:rPr lang="en-IN" dirty="0"/>
              <a:t>// Load students </a:t>
            </a:r>
            <a:r>
              <a:rPr lang="en-IN" dirty="0" err="1"/>
              <a:t>fp</a:t>
            </a:r>
            <a:r>
              <a:rPr lang="en-IN" dirty="0"/>
              <a:t> = </a:t>
            </a:r>
            <a:r>
              <a:rPr lang="en-IN" dirty="0" err="1"/>
              <a:t>fopen</a:t>
            </a:r>
            <a:r>
              <a:rPr lang="en-IN" dirty="0"/>
              <a:t>("students.dat", "</a:t>
            </a:r>
            <a:r>
              <a:rPr lang="en-IN" dirty="0" err="1"/>
              <a:t>rb</a:t>
            </a:r>
            <a:r>
              <a:rPr lang="en-IN" dirty="0"/>
              <a:t>"); </a:t>
            </a:r>
            <a:r>
              <a:rPr lang="en-US" dirty="0"/>
              <a:t>​</a:t>
            </a:r>
          </a:p>
          <a:p>
            <a:pPr fontAlgn="base"/>
            <a:r>
              <a:rPr lang="en-IN" dirty="0"/>
              <a:t>if(</a:t>
            </a:r>
            <a:r>
              <a:rPr lang="en-IN" dirty="0" err="1"/>
              <a:t>fp</a:t>
            </a:r>
            <a:r>
              <a:rPr lang="en-IN" dirty="0"/>
              <a:t> != NULL) { </a:t>
            </a:r>
            <a:r>
              <a:rPr lang="en-US" dirty="0"/>
              <a:t>​</a:t>
            </a:r>
          </a:p>
          <a:p>
            <a:pPr fontAlgn="base"/>
            <a:r>
              <a:rPr lang="en-IN" dirty="0" err="1"/>
              <a:t>fread</a:t>
            </a:r>
            <a:r>
              <a:rPr lang="en-IN" dirty="0"/>
              <a:t>(&amp;</a:t>
            </a:r>
            <a:r>
              <a:rPr lang="en-IN" dirty="0" err="1"/>
              <a:t>studentCount</a:t>
            </a:r>
            <a:r>
              <a:rPr lang="en-IN" dirty="0"/>
              <a:t>, </a:t>
            </a:r>
            <a:r>
              <a:rPr lang="en-IN" dirty="0" err="1"/>
              <a:t>sizeof</a:t>
            </a:r>
            <a:r>
              <a:rPr lang="en-IN" dirty="0"/>
              <a:t>(int), 1, </a:t>
            </a:r>
            <a:r>
              <a:rPr lang="en-IN" dirty="0" err="1"/>
              <a:t>fp</a:t>
            </a:r>
            <a:r>
              <a:rPr lang="en-IN" dirty="0"/>
              <a:t>); </a:t>
            </a:r>
            <a:r>
              <a:rPr lang="en-US" dirty="0"/>
              <a:t>​</a:t>
            </a:r>
          </a:p>
          <a:p>
            <a:pPr fontAlgn="base"/>
            <a:r>
              <a:rPr lang="en-IN" dirty="0" err="1"/>
              <a:t>fread</a:t>
            </a:r>
            <a:r>
              <a:rPr lang="en-IN" dirty="0"/>
              <a:t>(students, </a:t>
            </a:r>
            <a:r>
              <a:rPr lang="en-IN" dirty="0" err="1"/>
              <a:t>sizeof</a:t>
            </a:r>
            <a:r>
              <a:rPr lang="en-IN" dirty="0"/>
              <a:t>(Student), </a:t>
            </a:r>
            <a:r>
              <a:rPr lang="en-IN" dirty="0" err="1"/>
              <a:t>studentCount</a:t>
            </a:r>
            <a:r>
              <a:rPr lang="en-IN" dirty="0"/>
              <a:t>, </a:t>
            </a:r>
            <a:r>
              <a:rPr lang="en-IN" dirty="0" err="1"/>
              <a:t>fp</a:t>
            </a:r>
            <a:r>
              <a:rPr lang="en-IN" dirty="0"/>
              <a:t>); </a:t>
            </a:r>
            <a:r>
              <a:rPr lang="en-US" dirty="0"/>
              <a:t>​</a:t>
            </a:r>
          </a:p>
          <a:p>
            <a:pPr fontAlgn="base"/>
            <a:r>
              <a:rPr lang="en-IN" dirty="0" err="1"/>
              <a:t>fclose</a:t>
            </a:r>
            <a:r>
              <a:rPr lang="en-IN" dirty="0"/>
              <a:t>(</a:t>
            </a:r>
            <a:r>
              <a:rPr lang="en-IN" dirty="0" err="1"/>
              <a:t>fp</a:t>
            </a:r>
            <a:r>
              <a:rPr lang="en-IN" dirty="0"/>
              <a:t>); }</a:t>
            </a:r>
            <a:r>
              <a:rPr lang="en-US" dirty="0"/>
              <a:t>​</a:t>
            </a:r>
          </a:p>
          <a:p>
            <a:pPr fontAlgn="base"/>
            <a:r>
              <a:rPr lang="en-IN" dirty="0"/>
              <a:t>​</a:t>
            </a:r>
          </a:p>
          <a:p>
            <a:pPr fontAlgn="base"/>
            <a:r>
              <a:rPr lang="en-IN" dirty="0"/>
              <a:t>// Load downloads </a:t>
            </a:r>
            <a:r>
              <a:rPr lang="en-US" dirty="0"/>
              <a:t>​</a:t>
            </a:r>
          </a:p>
          <a:p>
            <a:pPr fontAlgn="base"/>
            <a:r>
              <a:rPr lang="en-IN" dirty="0" err="1"/>
              <a:t>fp</a:t>
            </a:r>
            <a:r>
              <a:rPr lang="en-IN" dirty="0"/>
              <a:t> = </a:t>
            </a:r>
            <a:r>
              <a:rPr lang="en-IN" dirty="0" err="1"/>
              <a:t>fopen</a:t>
            </a:r>
            <a:r>
              <a:rPr lang="en-IN" dirty="0"/>
              <a:t>("downloads.dat", "</a:t>
            </a:r>
            <a:r>
              <a:rPr lang="en-IN" dirty="0" err="1"/>
              <a:t>rb</a:t>
            </a:r>
            <a:r>
              <a:rPr lang="en-IN" dirty="0"/>
              <a:t>"); </a:t>
            </a:r>
            <a:r>
              <a:rPr lang="en-US" dirty="0"/>
              <a:t>​</a:t>
            </a:r>
          </a:p>
          <a:p>
            <a:pPr fontAlgn="base"/>
            <a:r>
              <a:rPr lang="en-IN" dirty="0"/>
              <a:t>if(</a:t>
            </a:r>
            <a:r>
              <a:rPr lang="en-IN" dirty="0" err="1"/>
              <a:t>fp</a:t>
            </a:r>
            <a:r>
              <a:rPr lang="en-IN" dirty="0"/>
              <a:t> != NULL) { </a:t>
            </a:r>
            <a:r>
              <a:rPr lang="en-US" dirty="0"/>
              <a:t>​</a:t>
            </a:r>
          </a:p>
          <a:p>
            <a:pPr fontAlgn="base"/>
            <a:r>
              <a:rPr lang="en-IN" dirty="0" err="1"/>
              <a:t>fread</a:t>
            </a:r>
            <a:r>
              <a:rPr lang="en-IN" dirty="0"/>
              <a:t>(&amp;</a:t>
            </a:r>
            <a:r>
              <a:rPr lang="en-IN" dirty="0" err="1"/>
              <a:t>downloadCount</a:t>
            </a:r>
            <a:r>
              <a:rPr lang="en-IN" dirty="0"/>
              <a:t>, </a:t>
            </a:r>
            <a:r>
              <a:rPr lang="en-IN" dirty="0" err="1"/>
              <a:t>sizeof</a:t>
            </a:r>
            <a:r>
              <a:rPr lang="en-IN" dirty="0"/>
              <a:t>(int), 1, </a:t>
            </a:r>
            <a:r>
              <a:rPr lang="en-IN" dirty="0" err="1"/>
              <a:t>fp</a:t>
            </a:r>
            <a:r>
              <a:rPr lang="en-IN" dirty="0"/>
              <a:t>); </a:t>
            </a:r>
            <a:r>
              <a:rPr lang="en-US" dirty="0"/>
              <a:t>​</a:t>
            </a:r>
          </a:p>
          <a:p>
            <a:pPr fontAlgn="base"/>
            <a:r>
              <a:rPr lang="en-IN" dirty="0" err="1"/>
              <a:t>fread</a:t>
            </a:r>
            <a:r>
              <a:rPr lang="en-IN" dirty="0"/>
              <a:t>(downloads, </a:t>
            </a:r>
            <a:r>
              <a:rPr lang="en-IN" dirty="0" err="1"/>
              <a:t>sizeof</a:t>
            </a:r>
            <a:r>
              <a:rPr lang="en-IN" dirty="0"/>
              <a:t>(</a:t>
            </a:r>
            <a:r>
              <a:rPr lang="en-IN" dirty="0" err="1"/>
              <a:t>DownloadHistory</a:t>
            </a:r>
            <a:r>
              <a:rPr lang="en-IN" dirty="0"/>
              <a:t>), </a:t>
            </a:r>
            <a:r>
              <a:rPr lang="en-IN" dirty="0" err="1"/>
              <a:t>downloadCount</a:t>
            </a:r>
            <a:r>
              <a:rPr lang="en-IN" dirty="0"/>
              <a:t>, </a:t>
            </a:r>
            <a:r>
              <a:rPr lang="en-IN" dirty="0" err="1"/>
              <a:t>fp</a:t>
            </a:r>
            <a:r>
              <a:rPr lang="en-IN" dirty="0"/>
              <a:t>); </a:t>
            </a:r>
            <a:r>
              <a:rPr lang="en-US" dirty="0"/>
              <a:t>​</a:t>
            </a:r>
          </a:p>
          <a:p>
            <a:pPr fontAlgn="base"/>
            <a:r>
              <a:rPr lang="en-IN" dirty="0" err="1"/>
              <a:t>fclose</a:t>
            </a:r>
            <a:r>
              <a:rPr lang="en-IN" dirty="0"/>
              <a:t>(</a:t>
            </a:r>
            <a:r>
              <a:rPr lang="en-IN" dirty="0" err="1"/>
              <a:t>fp</a:t>
            </a:r>
            <a:r>
              <a:rPr lang="en-IN" dirty="0"/>
              <a:t>); }</a:t>
            </a:r>
            <a:r>
              <a:rPr lang="en-US" dirty="0"/>
              <a:t>​</a:t>
            </a:r>
          </a:p>
          <a:p>
            <a:endParaRPr lang="en-IN" dirty="0"/>
          </a:p>
        </p:txBody>
      </p:sp>
    </p:spTree>
    <p:extLst>
      <p:ext uri="{BB962C8B-B14F-4D97-AF65-F5344CB8AC3E}">
        <p14:creationId xmlns:p14="http://schemas.microsoft.com/office/powerpoint/2010/main" val="30506558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30E6BA-63AD-1068-E866-6C23BB765A39}"/>
              </a:ext>
            </a:extLst>
          </p:cNvPr>
          <p:cNvSpPr txBox="1"/>
          <p:nvPr/>
        </p:nvSpPr>
        <p:spPr>
          <a:xfrm>
            <a:off x="0" y="268357"/>
            <a:ext cx="11698357" cy="5675243"/>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58797BA4-1359-D1D3-3E4D-157CE1987404}"/>
              </a:ext>
            </a:extLst>
          </p:cNvPr>
          <p:cNvSpPr txBox="1"/>
          <p:nvPr/>
        </p:nvSpPr>
        <p:spPr>
          <a:xfrm>
            <a:off x="89452" y="188843"/>
            <a:ext cx="11897139" cy="6463308"/>
          </a:xfrm>
          <a:prstGeom prst="rect">
            <a:avLst/>
          </a:prstGeom>
          <a:noFill/>
        </p:spPr>
        <p:txBody>
          <a:bodyPr wrap="square" rtlCol="0">
            <a:spAutoFit/>
          </a:bodyPr>
          <a:lstStyle/>
          <a:p>
            <a:pPr fontAlgn="base"/>
            <a:r>
              <a:rPr lang="en-IN" dirty="0"/>
              <a:t>void </a:t>
            </a:r>
            <a:r>
              <a:rPr lang="en-IN" dirty="0" err="1"/>
              <a:t>saveData</a:t>
            </a:r>
            <a:r>
              <a:rPr lang="en-IN" dirty="0"/>
              <a:t>() { </a:t>
            </a:r>
            <a:r>
              <a:rPr lang="en-US" dirty="0"/>
              <a:t>​</a:t>
            </a:r>
          </a:p>
          <a:p>
            <a:pPr fontAlgn="base"/>
            <a:r>
              <a:rPr lang="en-IN" dirty="0"/>
              <a:t>FILE *</a:t>
            </a:r>
            <a:r>
              <a:rPr lang="en-IN" dirty="0" err="1"/>
              <a:t>fp</a:t>
            </a:r>
            <a:r>
              <a:rPr lang="en-IN" dirty="0"/>
              <a:t>; </a:t>
            </a:r>
            <a:r>
              <a:rPr lang="en-US" dirty="0"/>
              <a:t>​</a:t>
            </a:r>
          </a:p>
          <a:p>
            <a:pPr fontAlgn="base"/>
            <a:r>
              <a:rPr lang="en-IN" dirty="0"/>
              <a:t>​</a:t>
            </a:r>
          </a:p>
          <a:p>
            <a:pPr fontAlgn="base"/>
            <a:r>
              <a:rPr lang="en-IN" dirty="0"/>
              <a:t>// Save papers </a:t>
            </a:r>
            <a:r>
              <a:rPr lang="en-US" dirty="0"/>
              <a:t>​</a:t>
            </a:r>
          </a:p>
          <a:p>
            <a:pPr fontAlgn="base"/>
            <a:r>
              <a:rPr lang="en-IN" dirty="0" err="1"/>
              <a:t>fp</a:t>
            </a:r>
            <a:r>
              <a:rPr lang="en-IN" dirty="0"/>
              <a:t> = </a:t>
            </a:r>
            <a:r>
              <a:rPr lang="en-IN" dirty="0" err="1"/>
              <a:t>fopen</a:t>
            </a:r>
            <a:r>
              <a:rPr lang="en-IN" dirty="0"/>
              <a:t>("papers.dat", "</a:t>
            </a:r>
            <a:r>
              <a:rPr lang="en-IN" dirty="0" err="1"/>
              <a:t>wb</a:t>
            </a:r>
            <a:r>
              <a:rPr lang="en-IN" dirty="0"/>
              <a:t>"); </a:t>
            </a:r>
            <a:r>
              <a:rPr lang="en-US" dirty="0"/>
              <a:t>​</a:t>
            </a:r>
          </a:p>
          <a:p>
            <a:pPr fontAlgn="base"/>
            <a:r>
              <a:rPr lang="en-IN" dirty="0"/>
              <a:t>if(</a:t>
            </a:r>
            <a:r>
              <a:rPr lang="en-IN" dirty="0" err="1"/>
              <a:t>fp</a:t>
            </a:r>
            <a:r>
              <a:rPr lang="en-IN" dirty="0"/>
              <a:t> != NULL) { </a:t>
            </a:r>
            <a:r>
              <a:rPr lang="en-US" dirty="0"/>
              <a:t>​</a:t>
            </a:r>
          </a:p>
          <a:p>
            <a:pPr fontAlgn="base"/>
            <a:r>
              <a:rPr lang="en-IN" dirty="0" err="1"/>
              <a:t>fwrite</a:t>
            </a:r>
            <a:r>
              <a:rPr lang="en-IN" dirty="0"/>
              <a:t>(&amp;</a:t>
            </a:r>
            <a:r>
              <a:rPr lang="en-IN" dirty="0" err="1"/>
              <a:t>paperCount</a:t>
            </a:r>
            <a:r>
              <a:rPr lang="en-IN" dirty="0"/>
              <a:t>, </a:t>
            </a:r>
            <a:r>
              <a:rPr lang="en-IN" dirty="0" err="1"/>
              <a:t>sizeof</a:t>
            </a:r>
            <a:r>
              <a:rPr lang="en-IN" dirty="0"/>
              <a:t>(int), 1, </a:t>
            </a:r>
            <a:r>
              <a:rPr lang="en-IN" dirty="0" err="1"/>
              <a:t>fp</a:t>
            </a:r>
            <a:r>
              <a:rPr lang="en-IN" dirty="0"/>
              <a:t>); </a:t>
            </a:r>
            <a:r>
              <a:rPr lang="en-US" dirty="0"/>
              <a:t>​</a:t>
            </a:r>
          </a:p>
          <a:p>
            <a:pPr fontAlgn="base"/>
            <a:r>
              <a:rPr lang="en-IN" dirty="0" err="1"/>
              <a:t>fwrite</a:t>
            </a:r>
            <a:r>
              <a:rPr lang="en-IN" dirty="0"/>
              <a:t>(papers, </a:t>
            </a:r>
            <a:r>
              <a:rPr lang="en-IN" dirty="0" err="1"/>
              <a:t>sizeof</a:t>
            </a:r>
            <a:r>
              <a:rPr lang="en-IN" dirty="0"/>
              <a:t>(</a:t>
            </a:r>
            <a:r>
              <a:rPr lang="en-IN" dirty="0" err="1"/>
              <a:t>QuestionPaper</a:t>
            </a:r>
            <a:r>
              <a:rPr lang="en-IN" dirty="0"/>
              <a:t>), </a:t>
            </a:r>
            <a:r>
              <a:rPr lang="en-IN" dirty="0" err="1"/>
              <a:t>paperCount</a:t>
            </a:r>
            <a:r>
              <a:rPr lang="en-IN" dirty="0"/>
              <a:t>, </a:t>
            </a:r>
            <a:r>
              <a:rPr lang="en-IN" dirty="0" err="1"/>
              <a:t>fp</a:t>
            </a:r>
            <a:r>
              <a:rPr lang="en-IN" dirty="0"/>
              <a:t>); </a:t>
            </a:r>
            <a:r>
              <a:rPr lang="en-US" dirty="0"/>
              <a:t>​</a:t>
            </a:r>
          </a:p>
          <a:p>
            <a:pPr fontAlgn="base"/>
            <a:r>
              <a:rPr lang="en-IN" dirty="0" err="1"/>
              <a:t>fclose</a:t>
            </a:r>
            <a:r>
              <a:rPr lang="en-IN" dirty="0"/>
              <a:t>(</a:t>
            </a:r>
            <a:r>
              <a:rPr lang="en-IN" dirty="0" err="1"/>
              <a:t>fp</a:t>
            </a:r>
            <a:r>
              <a:rPr lang="en-IN" dirty="0"/>
              <a:t>); } </a:t>
            </a:r>
            <a:r>
              <a:rPr lang="en-US" dirty="0"/>
              <a:t>​</a:t>
            </a:r>
          </a:p>
          <a:p>
            <a:pPr fontAlgn="base"/>
            <a:r>
              <a:rPr lang="en-IN" dirty="0"/>
              <a:t>​</a:t>
            </a:r>
          </a:p>
          <a:p>
            <a:pPr fontAlgn="base"/>
            <a:r>
              <a:rPr lang="en-IN" dirty="0"/>
              <a:t>// Save students </a:t>
            </a:r>
            <a:r>
              <a:rPr lang="en-IN" dirty="0" err="1"/>
              <a:t>fp</a:t>
            </a:r>
            <a:r>
              <a:rPr lang="en-IN" dirty="0"/>
              <a:t> = </a:t>
            </a:r>
            <a:r>
              <a:rPr lang="en-IN" dirty="0" err="1"/>
              <a:t>fopen</a:t>
            </a:r>
            <a:r>
              <a:rPr lang="en-IN" dirty="0"/>
              <a:t>("students.dat", "</a:t>
            </a:r>
            <a:r>
              <a:rPr lang="en-IN" dirty="0" err="1"/>
              <a:t>wb</a:t>
            </a:r>
            <a:r>
              <a:rPr lang="en-IN" dirty="0"/>
              <a:t>"); </a:t>
            </a:r>
            <a:r>
              <a:rPr lang="en-US" dirty="0"/>
              <a:t>​</a:t>
            </a:r>
          </a:p>
          <a:p>
            <a:pPr fontAlgn="base"/>
            <a:r>
              <a:rPr lang="en-IN" dirty="0"/>
              <a:t>if(</a:t>
            </a:r>
            <a:r>
              <a:rPr lang="en-IN" dirty="0" err="1"/>
              <a:t>fp</a:t>
            </a:r>
            <a:r>
              <a:rPr lang="en-IN" dirty="0"/>
              <a:t> != NULL) { </a:t>
            </a:r>
            <a:r>
              <a:rPr lang="en-US" dirty="0"/>
              <a:t>​</a:t>
            </a:r>
          </a:p>
          <a:p>
            <a:pPr fontAlgn="base"/>
            <a:r>
              <a:rPr lang="en-IN" dirty="0" err="1"/>
              <a:t>fwrite</a:t>
            </a:r>
            <a:r>
              <a:rPr lang="en-IN" dirty="0"/>
              <a:t>(&amp;</a:t>
            </a:r>
            <a:r>
              <a:rPr lang="en-IN" dirty="0" err="1"/>
              <a:t>studentCount</a:t>
            </a:r>
            <a:r>
              <a:rPr lang="en-IN" dirty="0"/>
              <a:t>, </a:t>
            </a:r>
            <a:r>
              <a:rPr lang="en-IN" dirty="0" err="1"/>
              <a:t>sizeof</a:t>
            </a:r>
            <a:r>
              <a:rPr lang="en-IN" dirty="0"/>
              <a:t>(int), 1, </a:t>
            </a:r>
            <a:r>
              <a:rPr lang="en-IN" dirty="0" err="1"/>
              <a:t>fp</a:t>
            </a:r>
            <a:r>
              <a:rPr lang="en-IN" dirty="0"/>
              <a:t>); </a:t>
            </a:r>
            <a:r>
              <a:rPr lang="en-US" dirty="0"/>
              <a:t>​</a:t>
            </a:r>
          </a:p>
          <a:p>
            <a:pPr fontAlgn="base"/>
            <a:r>
              <a:rPr lang="en-IN" dirty="0" err="1"/>
              <a:t>fwrite</a:t>
            </a:r>
            <a:r>
              <a:rPr lang="en-IN" dirty="0"/>
              <a:t>(students, </a:t>
            </a:r>
            <a:r>
              <a:rPr lang="en-IN" dirty="0" err="1"/>
              <a:t>sizeof</a:t>
            </a:r>
            <a:r>
              <a:rPr lang="en-IN" dirty="0"/>
              <a:t>(Student), </a:t>
            </a:r>
            <a:r>
              <a:rPr lang="en-IN" dirty="0" err="1"/>
              <a:t>studentCount</a:t>
            </a:r>
            <a:r>
              <a:rPr lang="en-IN" dirty="0"/>
              <a:t>, </a:t>
            </a:r>
            <a:r>
              <a:rPr lang="en-IN" dirty="0" err="1"/>
              <a:t>fp</a:t>
            </a:r>
            <a:r>
              <a:rPr lang="en-IN" dirty="0"/>
              <a:t>); </a:t>
            </a:r>
            <a:r>
              <a:rPr lang="en-US" dirty="0"/>
              <a:t>​</a:t>
            </a:r>
          </a:p>
          <a:p>
            <a:pPr fontAlgn="base"/>
            <a:r>
              <a:rPr lang="en-IN" dirty="0" err="1"/>
              <a:t>fclose</a:t>
            </a:r>
            <a:r>
              <a:rPr lang="en-IN" dirty="0"/>
              <a:t>(</a:t>
            </a:r>
            <a:r>
              <a:rPr lang="en-IN" dirty="0" err="1"/>
              <a:t>fp</a:t>
            </a:r>
            <a:r>
              <a:rPr lang="en-IN" dirty="0"/>
              <a:t>); }</a:t>
            </a:r>
            <a:r>
              <a:rPr lang="en-US" dirty="0"/>
              <a:t>​</a:t>
            </a:r>
          </a:p>
          <a:p>
            <a:pPr fontAlgn="base"/>
            <a:r>
              <a:rPr lang="en-IN" dirty="0"/>
              <a:t>​</a:t>
            </a:r>
          </a:p>
          <a:p>
            <a:pPr fontAlgn="base"/>
            <a:r>
              <a:rPr lang="en-IN" dirty="0"/>
              <a:t>// Save downloads </a:t>
            </a:r>
            <a:r>
              <a:rPr lang="en-IN" dirty="0" err="1"/>
              <a:t>fp</a:t>
            </a:r>
            <a:r>
              <a:rPr lang="en-IN" dirty="0"/>
              <a:t> = </a:t>
            </a:r>
            <a:r>
              <a:rPr lang="en-IN" dirty="0" err="1"/>
              <a:t>fopen</a:t>
            </a:r>
            <a:r>
              <a:rPr lang="en-IN" dirty="0"/>
              <a:t>("downloads.dat", "</a:t>
            </a:r>
            <a:r>
              <a:rPr lang="en-IN" dirty="0" err="1"/>
              <a:t>wb</a:t>
            </a:r>
            <a:r>
              <a:rPr lang="en-IN" dirty="0"/>
              <a:t>"); </a:t>
            </a:r>
            <a:r>
              <a:rPr lang="en-US" dirty="0"/>
              <a:t>​</a:t>
            </a:r>
          </a:p>
          <a:p>
            <a:pPr fontAlgn="base"/>
            <a:r>
              <a:rPr lang="en-IN" dirty="0"/>
              <a:t>if(</a:t>
            </a:r>
            <a:r>
              <a:rPr lang="en-IN" dirty="0" err="1"/>
              <a:t>fp</a:t>
            </a:r>
            <a:r>
              <a:rPr lang="en-IN" dirty="0"/>
              <a:t> != NULL) { </a:t>
            </a:r>
            <a:r>
              <a:rPr lang="en-US" dirty="0"/>
              <a:t>​</a:t>
            </a:r>
          </a:p>
          <a:p>
            <a:pPr fontAlgn="base"/>
            <a:r>
              <a:rPr lang="en-IN" dirty="0" err="1"/>
              <a:t>fwrite</a:t>
            </a:r>
            <a:r>
              <a:rPr lang="en-IN" dirty="0"/>
              <a:t>(&amp;</a:t>
            </a:r>
            <a:r>
              <a:rPr lang="en-IN" dirty="0" err="1"/>
              <a:t>downloadCount</a:t>
            </a:r>
            <a:r>
              <a:rPr lang="en-IN" dirty="0"/>
              <a:t>, </a:t>
            </a:r>
            <a:r>
              <a:rPr lang="en-IN" dirty="0" err="1"/>
              <a:t>sizeof</a:t>
            </a:r>
            <a:r>
              <a:rPr lang="en-IN" dirty="0"/>
              <a:t>(int), 1, </a:t>
            </a:r>
            <a:r>
              <a:rPr lang="en-IN" dirty="0" err="1"/>
              <a:t>fp</a:t>
            </a:r>
            <a:r>
              <a:rPr lang="en-IN" dirty="0"/>
              <a:t>); </a:t>
            </a:r>
            <a:r>
              <a:rPr lang="en-US" dirty="0"/>
              <a:t>​</a:t>
            </a:r>
          </a:p>
          <a:p>
            <a:pPr fontAlgn="base"/>
            <a:r>
              <a:rPr lang="en-IN" dirty="0" err="1"/>
              <a:t>fwrite</a:t>
            </a:r>
            <a:r>
              <a:rPr lang="en-IN" dirty="0"/>
              <a:t>(downloads, </a:t>
            </a:r>
            <a:r>
              <a:rPr lang="en-IN" dirty="0" err="1"/>
              <a:t>sizeof</a:t>
            </a:r>
            <a:r>
              <a:rPr lang="en-IN" dirty="0"/>
              <a:t>(</a:t>
            </a:r>
            <a:r>
              <a:rPr lang="en-IN" dirty="0" err="1"/>
              <a:t>DownloadHistory</a:t>
            </a:r>
            <a:r>
              <a:rPr lang="en-IN" dirty="0"/>
              <a:t>), </a:t>
            </a:r>
            <a:r>
              <a:rPr lang="en-IN" dirty="0" err="1"/>
              <a:t>downloadCount</a:t>
            </a:r>
            <a:r>
              <a:rPr lang="en-IN" dirty="0"/>
              <a:t>, </a:t>
            </a:r>
            <a:r>
              <a:rPr lang="en-IN" dirty="0" err="1"/>
              <a:t>fp</a:t>
            </a:r>
            <a:r>
              <a:rPr lang="en-IN" dirty="0"/>
              <a:t>); </a:t>
            </a:r>
            <a:r>
              <a:rPr lang="en-US" dirty="0"/>
              <a:t>​</a:t>
            </a:r>
          </a:p>
          <a:p>
            <a:pPr fontAlgn="base"/>
            <a:r>
              <a:rPr lang="en-IN" dirty="0" err="1"/>
              <a:t>fclose</a:t>
            </a:r>
            <a:r>
              <a:rPr lang="en-IN" dirty="0"/>
              <a:t>(</a:t>
            </a:r>
            <a:r>
              <a:rPr lang="en-IN" dirty="0" err="1"/>
              <a:t>fp</a:t>
            </a:r>
            <a:r>
              <a:rPr lang="en-IN" dirty="0"/>
              <a:t>);    }</a:t>
            </a:r>
            <a:r>
              <a:rPr lang="en-US" dirty="0"/>
              <a:t>​</a:t>
            </a:r>
          </a:p>
          <a:p>
            <a:pPr fontAlgn="base"/>
            <a:r>
              <a:rPr lang="en-IN" dirty="0"/>
              <a:t>}</a:t>
            </a:r>
            <a:r>
              <a:rPr lang="en-US" dirty="0"/>
              <a:t>​</a:t>
            </a:r>
          </a:p>
          <a:p>
            <a:endParaRPr lang="en-IN" dirty="0"/>
          </a:p>
        </p:txBody>
      </p:sp>
    </p:spTree>
    <p:extLst>
      <p:ext uri="{BB962C8B-B14F-4D97-AF65-F5344CB8AC3E}">
        <p14:creationId xmlns:p14="http://schemas.microsoft.com/office/powerpoint/2010/main" val="15944727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68DC5-3B9D-C3F0-FF71-0CEE0A3186A0}"/>
              </a:ext>
            </a:extLst>
          </p:cNvPr>
          <p:cNvSpPr>
            <a:spLocks noGrp="1"/>
          </p:cNvSpPr>
          <p:nvPr>
            <p:ph type="title"/>
          </p:nvPr>
        </p:nvSpPr>
        <p:spPr/>
        <p:txBody>
          <a:bodyPr/>
          <a:lstStyle/>
          <a:p>
            <a:r>
              <a:rPr lang="en-IN" dirty="0">
                <a:latin typeface="Algerian" panose="04020705040A02060702" pitchFamily="82" charset="0"/>
              </a:rPr>
              <a:t>OUTPUT </a:t>
            </a:r>
            <a:r>
              <a:rPr lang="en-IN" dirty="0"/>
              <a:t>:</a:t>
            </a:r>
          </a:p>
        </p:txBody>
      </p:sp>
      <p:sp>
        <p:nvSpPr>
          <p:cNvPr id="3" name="Content Placeholder 2">
            <a:extLst>
              <a:ext uri="{FF2B5EF4-FFF2-40B4-BE49-F238E27FC236}">
                <a16:creationId xmlns:a16="http://schemas.microsoft.com/office/drawing/2014/main" id="{691120AF-9547-5601-33BF-21FA9D8144FD}"/>
              </a:ext>
            </a:extLst>
          </p:cNvPr>
          <p:cNvSpPr>
            <a:spLocks noGrp="1"/>
          </p:cNvSpPr>
          <p:nvPr>
            <p:ph idx="1"/>
          </p:nvPr>
        </p:nvSpPr>
        <p:spPr/>
        <p:txBody>
          <a:bodyPr>
            <a:normAutofit fontScale="85000" lnSpcReduction="20000"/>
          </a:bodyPr>
          <a:lstStyle/>
          <a:p>
            <a:endParaRPr lang="en-IN" dirty="0"/>
          </a:p>
          <a:p>
            <a:r>
              <a:rPr lang="en-IN" dirty="0"/>
              <a:t>========================================</a:t>
            </a:r>
          </a:p>
          <a:p>
            <a:r>
              <a:rPr lang="en-IN" dirty="0"/>
              <a:t>  QUESTION PAPERS MANAGEMENT SYSTEM</a:t>
            </a:r>
          </a:p>
          <a:p>
            <a:r>
              <a:rPr lang="en-IN" dirty="0"/>
              <a:t>========================================</a:t>
            </a:r>
          </a:p>
          <a:p>
            <a:r>
              <a:rPr lang="en-IN" dirty="0"/>
              <a:t>1. Admin Login</a:t>
            </a:r>
          </a:p>
          <a:p>
            <a:r>
              <a:rPr lang="en-IN" dirty="0"/>
              <a:t>2. Student Login</a:t>
            </a:r>
          </a:p>
          <a:p>
            <a:r>
              <a:rPr lang="en-IN" dirty="0"/>
              <a:t>3. Register New Student</a:t>
            </a:r>
          </a:p>
          <a:p>
            <a:r>
              <a:rPr lang="en-IN" dirty="0"/>
              <a:t>4. Exit</a:t>
            </a:r>
          </a:p>
          <a:p>
            <a:r>
              <a:rPr lang="en-IN" dirty="0"/>
              <a:t>========================================</a:t>
            </a:r>
          </a:p>
          <a:p>
            <a:endParaRPr lang="en-IN" dirty="0"/>
          </a:p>
          <a:p>
            <a:r>
              <a:rPr lang="en-IN" dirty="0"/>
              <a:t>Enter your choice:1</a:t>
            </a:r>
          </a:p>
          <a:p>
            <a:endParaRPr lang="en-IN" dirty="0"/>
          </a:p>
        </p:txBody>
      </p:sp>
    </p:spTree>
    <p:extLst>
      <p:ext uri="{BB962C8B-B14F-4D97-AF65-F5344CB8AC3E}">
        <p14:creationId xmlns:p14="http://schemas.microsoft.com/office/powerpoint/2010/main" val="3804747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1D7DD-EAE5-825E-DC7C-F7E670B2C094}"/>
              </a:ext>
            </a:extLst>
          </p:cNvPr>
          <p:cNvSpPr txBox="1"/>
          <p:nvPr/>
        </p:nvSpPr>
        <p:spPr>
          <a:xfrm>
            <a:off x="79513" y="139148"/>
            <a:ext cx="11678478" cy="5632311"/>
          </a:xfrm>
          <a:prstGeom prst="rect">
            <a:avLst/>
          </a:prstGeom>
          <a:noFill/>
        </p:spPr>
        <p:txBody>
          <a:bodyPr wrap="square" rtlCol="0">
            <a:spAutoFit/>
          </a:bodyPr>
          <a:lstStyle/>
          <a:p>
            <a:r>
              <a:rPr lang="en-IN" dirty="0"/>
              <a:t>--- ADMIN LOGIN ---</a:t>
            </a:r>
          </a:p>
          <a:p>
            <a:r>
              <a:rPr lang="en-IN" dirty="0"/>
              <a:t>Enter username: admin</a:t>
            </a:r>
          </a:p>
          <a:p>
            <a:r>
              <a:rPr lang="en-IN" dirty="0"/>
              <a:t>Enter password: admin123</a:t>
            </a:r>
          </a:p>
          <a:p>
            <a:endParaRPr lang="en-IN" dirty="0"/>
          </a:p>
          <a:p>
            <a:r>
              <a:rPr lang="en-IN" dirty="0"/>
              <a:t>? Login Successful!</a:t>
            </a:r>
          </a:p>
          <a:p>
            <a:endParaRPr lang="en-IN" dirty="0"/>
          </a:p>
          <a:p>
            <a:r>
              <a:rPr lang="en-IN" dirty="0"/>
              <a:t>========================================</a:t>
            </a:r>
          </a:p>
          <a:p>
            <a:r>
              <a:rPr lang="en-IN" dirty="0"/>
              <a:t>  ADMIN MENU (Logged in as: admin)</a:t>
            </a:r>
          </a:p>
          <a:p>
            <a:r>
              <a:rPr lang="en-IN" dirty="0"/>
              <a:t>========================================</a:t>
            </a:r>
          </a:p>
          <a:p>
            <a:r>
              <a:rPr lang="en-IN" dirty="0"/>
              <a:t>1. Upload Question Paper</a:t>
            </a:r>
          </a:p>
          <a:p>
            <a:r>
              <a:rPr lang="en-IN" dirty="0"/>
              <a:t>2. Delete Question Paper</a:t>
            </a:r>
          </a:p>
          <a:p>
            <a:r>
              <a:rPr lang="en-IN" dirty="0"/>
              <a:t>3. Update Question Paper</a:t>
            </a:r>
          </a:p>
          <a:p>
            <a:r>
              <a:rPr lang="en-IN" dirty="0"/>
              <a:t>4. View All Question Papers</a:t>
            </a:r>
          </a:p>
          <a:p>
            <a:r>
              <a:rPr lang="en-IN" dirty="0"/>
              <a:t>5. Manage Categories/Subjects</a:t>
            </a:r>
          </a:p>
          <a:p>
            <a:r>
              <a:rPr lang="en-IN" dirty="0"/>
              <a:t>6. View Download Statistics</a:t>
            </a:r>
          </a:p>
          <a:p>
            <a:r>
              <a:rPr lang="en-IN" dirty="0"/>
              <a:t>7. Logout</a:t>
            </a:r>
          </a:p>
          <a:p>
            <a:r>
              <a:rPr lang="en-IN" dirty="0"/>
              <a:t>========================================</a:t>
            </a:r>
          </a:p>
          <a:p>
            <a:endParaRPr lang="en-IN" dirty="0"/>
          </a:p>
          <a:p>
            <a:r>
              <a:rPr lang="en-IN" dirty="0"/>
              <a:t>Enter your choice:1</a:t>
            </a:r>
          </a:p>
          <a:p>
            <a:endParaRPr lang="en-IN" dirty="0"/>
          </a:p>
        </p:txBody>
      </p:sp>
    </p:spTree>
    <p:extLst>
      <p:ext uri="{BB962C8B-B14F-4D97-AF65-F5344CB8AC3E}">
        <p14:creationId xmlns:p14="http://schemas.microsoft.com/office/powerpoint/2010/main" val="15927294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CCC3D8-D0FD-432F-5453-54F2F57DADE3}"/>
              </a:ext>
            </a:extLst>
          </p:cNvPr>
          <p:cNvSpPr txBox="1"/>
          <p:nvPr/>
        </p:nvSpPr>
        <p:spPr>
          <a:xfrm>
            <a:off x="182217" y="-218153"/>
            <a:ext cx="11827565" cy="6463308"/>
          </a:xfrm>
          <a:prstGeom prst="rect">
            <a:avLst/>
          </a:prstGeom>
          <a:noFill/>
        </p:spPr>
        <p:txBody>
          <a:bodyPr wrap="square" rtlCol="0">
            <a:spAutoFit/>
          </a:bodyPr>
          <a:lstStyle/>
          <a:p>
            <a:endParaRPr lang="en-IN" dirty="0"/>
          </a:p>
          <a:p>
            <a:r>
              <a:rPr lang="en-IN" dirty="0"/>
              <a:t>--- UPLOAD QUESTION PAPER ---</a:t>
            </a:r>
          </a:p>
          <a:p>
            <a:r>
              <a:rPr lang="en-IN" dirty="0"/>
              <a:t>Enter Subject Name: maths</a:t>
            </a:r>
          </a:p>
          <a:p>
            <a:r>
              <a:rPr lang="en-IN" dirty="0"/>
              <a:t>Enter Year: 2025</a:t>
            </a:r>
          </a:p>
          <a:p>
            <a:r>
              <a:rPr lang="en-IN" dirty="0"/>
              <a:t>Enter Semester: 1</a:t>
            </a:r>
          </a:p>
          <a:p>
            <a:r>
              <a:rPr lang="en-IN" dirty="0"/>
              <a:t>Enter Exam Type (Mid/Final/Model): mid</a:t>
            </a:r>
          </a:p>
          <a:p>
            <a:r>
              <a:rPr lang="en-IN" dirty="0"/>
              <a:t>Enter Department: civil</a:t>
            </a:r>
          </a:p>
          <a:p>
            <a:r>
              <a:rPr lang="en-IN" dirty="0"/>
              <a:t>Enter Regulation: 1</a:t>
            </a:r>
          </a:p>
          <a:p>
            <a:r>
              <a:rPr lang="en-IN" dirty="0"/>
              <a:t>Enter PDF filename: maths.pdf</a:t>
            </a:r>
          </a:p>
          <a:p>
            <a:endParaRPr lang="en-IN" dirty="0"/>
          </a:p>
          <a:p>
            <a:r>
              <a:rPr lang="en-IN" dirty="0"/>
              <a:t>? Upload Successful!</a:t>
            </a:r>
          </a:p>
          <a:p>
            <a:r>
              <a:rPr lang="en-IN" dirty="0"/>
              <a:t>Paper ID: QP1002</a:t>
            </a:r>
          </a:p>
          <a:p>
            <a:endParaRPr lang="en-IN" dirty="0"/>
          </a:p>
          <a:p>
            <a:r>
              <a:rPr lang="en-IN" dirty="0"/>
              <a:t>========================================</a:t>
            </a:r>
          </a:p>
          <a:p>
            <a:r>
              <a:rPr lang="en-IN" dirty="0"/>
              <a:t>  ADMIN MENU (Logged in as: admin)</a:t>
            </a:r>
          </a:p>
          <a:p>
            <a:r>
              <a:rPr lang="en-IN" dirty="0"/>
              <a:t>========================================</a:t>
            </a:r>
          </a:p>
          <a:p>
            <a:r>
              <a:rPr lang="en-IN" dirty="0"/>
              <a:t>1. Upload Question Paper</a:t>
            </a:r>
          </a:p>
          <a:p>
            <a:r>
              <a:rPr lang="en-IN" dirty="0"/>
              <a:t>2. Delete Question Paper</a:t>
            </a:r>
          </a:p>
          <a:p>
            <a:r>
              <a:rPr lang="en-IN" dirty="0"/>
              <a:t>3. Update Question Paper</a:t>
            </a:r>
          </a:p>
          <a:p>
            <a:r>
              <a:rPr lang="en-IN" dirty="0"/>
              <a:t>4. View All Question Papers</a:t>
            </a:r>
          </a:p>
          <a:p>
            <a:r>
              <a:rPr lang="en-IN" dirty="0"/>
              <a:t>5. Manage Categories/Subjects</a:t>
            </a:r>
          </a:p>
          <a:p>
            <a:r>
              <a:rPr lang="en-IN" dirty="0"/>
              <a:t>6. View Download Statistics</a:t>
            </a:r>
          </a:p>
          <a:p>
            <a:r>
              <a:rPr lang="en-IN" dirty="0"/>
              <a:t>7. Logout</a:t>
            </a:r>
          </a:p>
        </p:txBody>
      </p:sp>
    </p:spTree>
    <p:extLst>
      <p:ext uri="{BB962C8B-B14F-4D97-AF65-F5344CB8AC3E}">
        <p14:creationId xmlns:p14="http://schemas.microsoft.com/office/powerpoint/2010/main" val="15574328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6AFABE-8FAA-AAC8-0429-0B0F3F08453A}"/>
              </a:ext>
            </a:extLst>
          </p:cNvPr>
          <p:cNvSpPr txBox="1"/>
          <p:nvPr/>
        </p:nvSpPr>
        <p:spPr>
          <a:xfrm>
            <a:off x="168965" y="238539"/>
            <a:ext cx="11618844" cy="6186309"/>
          </a:xfrm>
          <a:prstGeom prst="rect">
            <a:avLst/>
          </a:prstGeom>
          <a:noFill/>
        </p:spPr>
        <p:txBody>
          <a:bodyPr wrap="square" rtlCol="0">
            <a:spAutoFit/>
          </a:bodyPr>
          <a:lstStyle/>
          <a:p>
            <a:r>
              <a:rPr lang="en-IN" dirty="0"/>
              <a:t>========================================</a:t>
            </a:r>
          </a:p>
          <a:p>
            <a:endParaRPr lang="en-IN" dirty="0"/>
          </a:p>
          <a:p>
            <a:r>
              <a:rPr lang="en-IN" dirty="0"/>
              <a:t>Enter your choice: 2</a:t>
            </a:r>
          </a:p>
          <a:p>
            <a:endParaRPr lang="en-IN" dirty="0"/>
          </a:p>
          <a:p>
            <a:r>
              <a:rPr lang="en-IN" dirty="0"/>
              <a:t>--- DELETE QUESTION PAPER ---</a:t>
            </a:r>
          </a:p>
          <a:p>
            <a:endParaRPr lang="en-IN" dirty="0"/>
          </a:p>
          <a:p>
            <a:r>
              <a:rPr lang="en-IN" dirty="0"/>
              <a:t>========================================</a:t>
            </a:r>
          </a:p>
          <a:p>
            <a:r>
              <a:rPr lang="en-IN" dirty="0"/>
              <a:t>  ALL QUESTION PAPERS</a:t>
            </a:r>
          </a:p>
          <a:p>
            <a:r>
              <a:rPr lang="en-IN" dirty="0"/>
              <a:t>========================================</a:t>
            </a:r>
          </a:p>
          <a:p>
            <a:r>
              <a:rPr lang="en-IN" dirty="0"/>
              <a:t>Paper ID   Subject              Year     Semester     Department</a:t>
            </a:r>
          </a:p>
          <a:p>
            <a:r>
              <a:rPr lang="en-IN" dirty="0"/>
              <a:t>------------------------------------------------------------------------</a:t>
            </a:r>
          </a:p>
          <a:p>
            <a:r>
              <a:rPr lang="en-IN" dirty="0"/>
              <a:t>QP1001     MATHS                2024     1            CIVIL</a:t>
            </a:r>
          </a:p>
          <a:p>
            <a:r>
              <a:rPr lang="en-IN" dirty="0"/>
              <a:t>QP1002     maths                2025     1            civil</a:t>
            </a:r>
          </a:p>
          <a:p>
            <a:endParaRPr lang="en-IN" dirty="0"/>
          </a:p>
          <a:p>
            <a:r>
              <a:rPr lang="en-IN" dirty="0"/>
              <a:t>Enter Paper ID to delete: QP1001</a:t>
            </a:r>
          </a:p>
          <a:p>
            <a:endParaRPr lang="en-IN" dirty="0"/>
          </a:p>
          <a:p>
            <a:r>
              <a:rPr lang="en-IN" dirty="0"/>
              <a:t>Are you sure you want to delete this paper? (y/n): Y</a:t>
            </a:r>
          </a:p>
          <a:p>
            <a:endParaRPr lang="en-IN" dirty="0"/>
          </a:p>
          <a:p>
            <a:r>
              <a:rPr lang="en-IN" dirty="0"/>
              <a:t>? Deletion Success</a:t>
            </a:r>
            <a:endParaRPr lang="en-US" dirty="0"/>
          </a:p>
          <a:p>
            <a:r>
              <a:rPr lang="en-US" dirty="0"/>
              <a:t>========================================</a:t>
            </a:r>
          </a:p>
          <a:p>
            <a:r>
              <a:rPr lang="en-US" dirty="0"/>
              <a:t>  ADMIN MENU (Logged in as: admin)</a:t>
            </a:r>
          </a:p>
          <a:p>
            <a:r>
              <a:rPr lang="en-US" dirty="0"/>
              <a:t>========================================</a:t>
            </a:r>
            <a:endParaRPr lang="en-IN" dirty="0"/>
          </a:p>
        </p:txBody>
      </p:sp>
    </p:spTree>
    <p:extLst>
      <p:ext uri="{BB962C8B-B14F-4D97-AF65-F5344CB8AC3E}">
        <p14:creationId xmlns:p14="http://schemas.microsoft.com/office/powerpoint/2010/main" val="31462575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73BC88-C551-BAE7-3B23-065471814913}"/>
              </a:ext>
            </a:extLst>
          </p:cNvPr>
          <p:cNvSpPr txBox="1"/>
          <p:nvPr/>
        </p:nvSpPr>
        <p:spPr>
          <a:xfrm>
            <a:off x="149087" y="178904"/>
            <a:ext cx="11529391" cy="6186309"/>
          </a:xfrm>
          <a:prstGeom prst="rect">
            <a:avLst/>
          </a:prstGeom>
          <a:noFill/>
        </p:spPr>
        <p:txBody>
          <a:bodyPr wrap="square" rtlCol="0">
            <a:spAutoFit/>
          </a:bodyPr>
          <a:lstStyle/>
          <a:p>
            <a:r>
              <a:rPr lang="en-IN" dirty="0"/>
              <a:t>1. Upload Question Paper</a:t>
            </a:r>
          </a:p>
          <a:p>
            <a:r>
              <a:rPr lang="en-IN" dirty="0"/>
              <a:t>2. Delete Question Paper</a:t>
            </a:r>
          </a:p>
          <a:p>
            <a:r>
              <a:rPr lang="en-IN" dirty="0"/>
              <a:t>3. Update Question Paper</a:t>
            </a:r>
          </a:p>
          <a:p>
            <a:r>
              <a:rPr lang="en-IN" dirty="0"/>
              <a:t>4. View All Question Papers</a:t>
            </a:r>
          </a:p>
          <a:p>
            <a:r>
              <a:rPr lang="en-IN" dirty="0"/>
              <a:t>5. Manage Categories/Subjects</a:t>
            </a:r>
          </a:p>
          <a:p>
            <a:r>
              <a:rPr lang="en-IN" dirty="0"/>
              <a:t>6. View Download Statistics</a:t>
            </a:r>
          </a:p>
          <a:p>
            <a:r>
              <a:rPr lang="en-IN" dirty="0"/>
              <a:t>7. Logout</a:t>
            </a:r>
          </a:p>
          <a:p>
            <a:r>
              <a:rPr lang="en-IN" dirty="0"/>
              <a:t>========================================</a:t>
            </a:r>
          </a:p>
          <a:p>
            <a:endParaRPr lang="en-IN" dirty="0"/>
          </a:p>
          <a:p>
            <a:r>
              <a:rPr lang="en-IN" dirty="0"/>
              <a:t>Enter your choice: 3</a:t>
            </a:r>
          </a:p>
          <a:p>
            <a:endParaRPr lang="en-IN" dirty="0"/>
          </a:p>
          <a:p>
            <a:r>
              <a:rPr lang="en-IN" dirty="0"/>
              <a:t>--- UPDATE QUESTION PAPER ---</a:t>
            </a:r>
          </a:p>
          <a:p>
            <a:endParaRPr lang="en-IN" dirty="0"/>
          </a:p>
          <a:p>
            <a:r>
              <a:rPr lang="en-IN" dirty="0"/>
              <a:t>========================================</a:t>
            </a:r>
          </a:p>
          <a:p>
            <a:r>
              <a:rPr lang="en-IN" dirty="0"/>
              <a:t>  ALL QUESTION PAPERS</a:t>
            </a:r>
          </a:p>
          <a:p>
            <a:r>
              <a:rPr lang="en-IN" dirty="0"/>
              <a:t>========================================</a:t>
            </a:r>
          </a:p>
          <a:p>
            <a:r>
              <a:rPr lang="en-IN" dirty="0"/>
              <a:t>Paper ID   Subject              Year     Semester     Department</a:t>
            </a:r>
          </a:p>
          <a:p>
            <a:r>
              <a:rPr lang="en-IN" dirty="0"/>
              <a:t>------------------------------------------------------------------------</a:t>
            </a:r>
          </a:p>
          <a:p>
            <a:r>
              <a:rPr lang="en-IN" dirty="0"/>
              <a:t>QP1002     maths                2025     1            civil</a:t>
            </a:r>
          </a:p>
          <a:p>
            <a:endParaRPr lang="en-IN" dirty="0"/>
          </a:p>
          <a:p>
            <a:r>
              <a:rPr lang="en-IN" dirty="0"/>
              <a:t>Enter Paper ID to update: QP1002</a:t>
            </a:r>
          </a:p>
          <a:p>
            <a:endParaRPr lang="en-IN" dirty="0"/>
          </a:p>
        </p:txBody>
      </p:sp>
    </p:spTree>
    <p:extLst>
      <p:ext uri="{BB962C8B-B14F-4D97-AF65-F5344CB8AC3E}">
        <p14:creationId xmlns:p14="http://schemas.microsoft.com/office/powerpoint/2010/main" val="21198223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92F2D3-0EB7-E1A7-2D28-45AB29661694}"/>
              </a:ext>
            </a:extLst>
          </p:cNvPr>
          <p:cNvSpPr txBox="1"/>
          <p:nvPr/>
        </p:nvSpPr>
        <p:spPr>
          <a:xfrm>
            <a:off x="159026" y="188843"/>
            <a:ext cx="11539331" cy="6463308"/>
          </a:xfrm>
          <a:prstGeom prst="rect">
            <a:avLst/>
          </a:prstGeom>
          <a:noFill/>
        </p:spPr>
        <p:txBody>
          <a:bodyPr wrap="square" rtlCol="0">
            <a:spAutoFit/>
          </a:bodyPr>
          <a:lstStyle/>
          <a:p>
            <a:endParaRPr lang="en-IN" dirty="0"/>
          </a:p>
          <a:p>
            <a:r>
              <a:rPr lang="en-IN" dirty="0"/>
              <a:t>--- Current Details ---</a:t>
            </a:r>
          </a:p>
          <a:p>
            <a:r>
              <a:rPr lang="en-IN" dirty="0"/>
              <a:t>Subject: maths</a:t>
            </a:r>
          </a:p>
          <a:p>
            <a:r>
              <a:rPr lang="en-IN" dirty="0"/>
              <a:t>Year: 2025</a:t>
            </a:r>
          </a:p>
          <a:p>
            <a:r>
              <a:rPr lang="en-IN" dirty="0"/>
              <a:t>Semester: 1</a:t>
            </a:r>
          </a:p>
          <a:p>
            <a:r>
              <a:rPr lang="en-IN" dirty="0"/>
              <a:t>Department: civil</a:t>
            </a:r>
          </a:p>
          <a:p>
            <a:endParaRPr lang="en-IN" dirty="0"/>
          </a:p>
          <a:p>
            <a:r>
              <a:rPr lang="en-IN" dirty="0"/>
              <a:t>--- Enter New Details ---</a:t>
            </a:r>
          </a:p>
          <a:p>
            <a:r>
              <a:rPr lang="en-IN" dirty="0"/>
              <a:t>Enter new Subject Name: PHYSICS</a:t>
            </a:r>
          </a:p>
          <a:p>
            <a:r>
              <a:rPr lang="en-IN" dirty="0"/>
              <a:t>Enter new Year: 2025</a:t>
            </a:r>
          </a:p>
          <a:p>
            <a:r>
              <a:rPr lang="en-IN" dirty="0"/>
              <a:t>Enter new Semester: 1</a:t>
            </a:r>
          </a:p>
          <a:p>
            <a:endParaRPr lang="en-IN" dirty="0"/>
          </a:p>
          <a:p>
            <a:r>
              <a:rPr lang="en-IN" dirty="0"/>
              <a:t>? Update Successful!</a:t>
            </a:r>
          </a:p>
          <a:p>
            <a:endParaRPr lang="en-IN" dirty="0"/>
          </a:p>
          <a:p>
            <a:r>
              <a:rPr lang="en-IN" dirty="0"/>
              <a:t>========================================</a:t>
            </a:r>
          </a:p>
          <a:p>
            <a:r>
              <a:rPr lang="en-IN" dirty="0"/>
              <a:t>  ADMIN MENU (Logged in as: admin)</a:t>
            </a:r>
          </a:p>
          <a:p>
            <a:r>
              <a:rPr lang="en-IN" dirty="0"/>
              <a:t>========================================</a:t>
            </a:r>
          </a:p>
          <a:p>
            <a:r>
              <a:rPr lang="en-IN" dirty="0"/>
              <a:t>1. Upload Question Paper</a:t>
            </a:r>
          </a:p>
          <a:p>
            <a:r>
              <a:rPr lang="en-IN" dirty="0"/>
              <a:t>2. Delete Question Paper</a:t>
            </a:r>
          </a:p>
          <a:p>
            <a:r>
              <a:rPr lang="en-IN" dirty="0"/>
              <a:t>3. Update Question Paper</a:t>
            </a:r>
          </a:p>
          <a:p>
            <a:r>
              <a:rPr lang="en-IN" dirty="0"/>
              <a:t>4. View All Question Papers</a:t>
            </a:r>
          </a:p>
          <a:p>
            <a:r>
              <a:rPr lang="en-IN" dirty="0"/>
              <a:t>5. Manage Categories/</a:t>
            </a:r>
            <a:r>
              <a:rPr lang="en-IN" dirty="0" err="1"/>
              <a:t>Subjec</a:t>
            </a:r>
            <a:endParaRPr lang="en-IN" dirty="0"/>
          </a:p>
          <a:p>
            <a:endParaRPr lang="en-IN" dirty="0"/>
          </a:p>
        </p:txBody>
      </p:sp>
    </p:spTree>
    <p:extLst>
      <p:ext uri="{BB962C8B-B14F-4D97-AF65-F5344CB8AC3E}">
        <p14:creationId xmlns:p14="http://schemas.microsoft.com/office/powerpoint/2010/main" val="32033759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1CB619-C31E-E095-A4EC-C28BF5CEDFE1}"/>
              </a:ext>
            </a:extLst>
          </p:cNvPr>
          <p:cNvSpPr txBox="1"/>
          <p:nvPr/>
        </p:nvSpPr>
        <p:spPr>
          <a:xfrm>
            <a:off x="109330" y="198783"/>
            <a:ext cx="11817627" cy="6186309"/>
          </a:xfrm>
          <a:prstGeom prst="rect">
            <a:avLst/>
          </a:prstGeom>
          <a:noFill/>
        </p:spPr>
        <p:txBody>
          <a:bodyPr wrap="square" rtlCol="0">
            <a:spAutoFit/>
          </a:bodyPr>
          <a:lstStyle/>
          <a:p>
            <a:r>
              <a:rPr lang="en-US" dirty="0"/>
              <a:t>6. View Download Statistics</a:t>
            </a:r>
          </a:p>
          <a:p>
            <a:r>
              <a:rPr lang="en-US" dirty="0"/>
              <a:t>7. Logout</a:t>
            </a:r>
          </a:p>
          <a:p>
            <a:r>
              <a:rPr lang="en-US" dirty="0"/>
              <a:t>========================================</a:t>
            </a:r>
          </a:p>
          <a:p>
            <a:endParaRPr lang="en-US" dirty="0"/>
          </a:p>
          <a:p>
            <a:r>
              <a:rPr lang="en-US" dirty="0"/>
              <a:t>Enter your choice:</a:t>
            </a:r>
          </a:p>
          <a:p>
            <a:endParaRPr lang="en-IN" dirty="0"/>
          </a:p>
          <a:p>
            <a:r>
              <a:rPr lang="en-IN" dirty="0"/>
              <a:t>========================================</a:t>
            </a:r>
          </a:p>
          <a:p>
            <a:r>
              <a:rPr lang="en-IN" dirty="0"/>
              <a:t>  ALL QUESTION PAPERS</a:t>
            </a:r>
          </a:p>
          <a:p>
            <a:r>
              <a:rPr lang="en-IN" dirty="0"/>
              <a:t>========================================</a:t>
            </a:r>
          </a:p>
          <a:p>
            <a:r>
              <a:rPr lang="en-IN" dirty="0"/>
              <a:t>Paper ID   Subject              Year     Semester     Department</a:t>
            </a:r>
          </a:p>
          <a:p>
            <a:r>
              <a:rPr lang="en-IN" dirty="0"/>
              <a:t>------------------------------------------------------------------------</a:t>
            </a:r>
          </a:p>
          <a:p>
            <a:r>
              <a:rPr lang="en-IN" dirty="0"/>
              <a:t>QP1002     PHYSICS              2025     1            civil</a:t>
            </a:r>
          </a:p>
          <a:p>
            <a:endParaRPr lang="en-IN" dirty="0"/>
          </a:p>
          <a:p>
            <a:r>
              <a:rPr lang="en-IN" dirty="0"/>
              <a:t>========================================</a:t>
            </a:r>
          </a:p>
          <a:p>
            <a:r>
              <a:rPr lang="en-IN" dirty="0"/>
              <a:t>  ADMIN MENU (Logged in as: admin)</a:t>
            </a:r>
          </a:p>
          <a:p>
            <a:r>
              <a:rPr lang="en-IN" dirty="0"/>
              <a:t>========================================</a:t>
            </a:r>
          </a:p>
          <a:p>
            <a:r>
              <a:rPr lang="en-IN" dirty="0"/>
              <a:t>1. Upload Question Paper</a:t>
            </a:r>
          </a:p>
          <a:p>
            <a:r>
              <a:rPr lang="en-IN" dirty="0"/>
              <a:t>2. Delete Question Paper</a:t>
            </a:r>
          </a:p>
          <a:p>
            <a:r>
              <a:rPr lang="en-IN" dirty="0"/>
              <a:t>3. Update Question Paper</a:t>
            </a:r>
          </a:p>
          <a:p>
            <a:r>
              <a:rPr lang="en-IN" dirty="0"/>
              <a:t>4. View All Question Papers</a:t>
            </a:r>
          </a:p>
          <a:p>
            <a:r>
              <a:rPr lang="en-US" dirty="0"/>
              <a:t>5. Manage Categories/Subjects</a:t>
            </a:r>
          </a:p>
          <a:p>
            <a:r>
              <a:rPr lang="en-US" dirty="0"/>
              <a:t>6. View Download Statistics</a:t>
            </a:r>
          </a:p>
        </p:txBody>
      </p:sp>
    </p:spTree>
    <p:extLst>
      <p:ext uri="{BB962C8B-B14F-4D97-AF65-F5344CB8AC3E}">
        <p14:creationId xmlns:p14="http://schemas.microsoft.com/office/powerpoint/2010/main" val="32363387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85201C-CB04-0835-6A4E-C59EED61BBA2}"/>
              </a:ext>
            </a:extLst>
          </p:cNvPr>
          <p:cNvSpPr txBox="1"/>
          <p:nvPr/>
        </p:nvSpPr>
        <p:spPr>
          <a:xfrm>
            <a:off x="256761" y="117693"/>
            <a:ext cx="11678478" cy="6186309"/>
          </a:xfrm>
          <a:prstGeom prst="rect">
            <a:avLst/>
          </a:prstGeom>
          <a:noFill/>
        </p:spPr>
        <p:txBody>
          <a:bodyPr wrap="square" rtlCol="0">
            <a:spAutoFit/>
          </a:bodyPr>
          <a:lstStyle/>
          <a:p>
            <a:r>
              <a:rPr lang="en-US" dirty="0"/>
              <a:t>7. Logout</a:t>
            </a:r>
          </a:p>
          <a:p>
            <a:r>
              <a:rPr lang="en-US" dirty="0"/>
              <a:t>========================================</a:t>
            </a:r>
          </a:p>
          <a:p>
            <a:r>
              <a:rPr lang="en-US" dirty="0"/>
              <a:t>Enter your choice:5</a:t>
            </a:r>
          </a:p>
          <a:p>
            <a:r>
              <a:rPr lang="en-US" dirty="0"/>
              <a:t>--- MANAGE CATEGORIES ---</a:t>
            </a:r>
          </a:p>
          <a:p>
            <a:r>
              <a:rPr lang="en-US" dirty="0"/>
              <a:t>1. Add Subject</a:t>
            </a:r>
          </a:p>
          <a:p>
            <a:r>
              <a:rPr lang="en-US" dirty="0"/>
              <a:t>2. Delete Subject</a:t>
            </a:r>
          </a:p>
          <a:p>
            <a:r>
              <a:rPr lang="en-US" dirty="0"/>
              <a:t>3. Add Department</a:t>
            </a:r>
          </a:p>
          <a:p>
            <a:r>
              <a:rPr lang="en-US" dirty="0"/>
              <a:t>4. Delete Department</a:t>
            </a:r>
          </a:p>
          <a:p>
            <a:r>
              <a:rPr lang="en-US" dirty="0"/>
              <a:t>5. Back</a:t>
            </a:r>
          </a:p>
          <a:p>
            <a:r>
              <a:rPr lang="en-US" dirty="0"/>
              <a:t>Enter your choice: 1</a:t>
            </a:r>
          </a:p>
          <a:p>
            <a:endParaRPr lang="en-US" dirty="0"/>
          </a:p>
          <a:p>
            <a:r>
              <a:rPr lang="en-US" dirty="0"/>
              <a:t>Subject management feature (to be implemented)</a:t>
            </a:r>
          </a:p>
          <a:p>
            <a:r>
              <a:rPr lang="en-IN" dirty="0"/>
              <a:t>========================================</a:t>
            </a:r>
          </a:p>
          <a:p>
            <a:r>
              <a:rPr lang="en-IN" dirty="0"/>
              <a:t>  ADMIN MENU (Logged in as: admin)</a:t>
            </a:r>
          </a:p>
          <a:p>
            <a:r>
              <a:rPr lang="en-IN" dirty="0"/>
              <a:t>========================================</a:t>
            </a:r>
          </a:p>
          <a:p>
            <a:r>
              <a:rPr lang="en-IN" dirty="0"/>
              <a:t>1. Upload Question Paper</a:t>
            </a:r>
          </a:p>
          <a:p>
            <a:r>
              <a:rPr lang="en-IN" dirty="0"/>
              <a:t>2. Delete Question Paper</a:t>
            </a:r>
          </a:p>
          <a:p>
            <a:r>
              <a:rPr lang="en-IN" dirty="0"/>
              <a:t>3. Update Question Paper</a:t>
            </a:r>
          </a:p>
          <a:p>
            <a:r>
              <a:rPr lang="en-IN" dirty="0"/>
              <a:t>4. View All Question Papers</a:t>
            </a:r>
          </a:p>
          <a:p>
            <a:r>
              <a:rPr lang="en-IN" dirty="0"/>
              <a:t>5. Manage Categories/Subjects</a:t>
            </a:r>
          </a:p>
          <a:p>
            <a:r>
              <a:rPr lang="en-IN" dirty="0"/>
              <a:t>6. View Download Statistics</a:t>
            </a:r>
          </a:p>
          <a:p>
            <a:r>
              <a:rPr lang="en-IN" dirty="0"/>
              <a:t>7. Logout</a:t>
            </a:r>
          </a:p>
        </p:txBody>
      </p:sp>
    </p:spTree>
    <p:extLst>
      <p:ext uri="{BB962C8B-B14F-4D97-AF65-F5344CB8AC3E}">
        <p14:creationId xmlns:p14="http://schemas.microsoft.com/office/powerpoint/2010/main" val="28250997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81CD29-1F80-9E47-AE8F-3046E1C164B0}"/>
              </a:ext>
            </a:extLst>
          </p:cNvPr>
          <p:cNvSpPr txBox="1"/>
          <p:nvPr/>
        </p:nvSpPr>
        <p:spPr>
          <a:xfrm>
            <a:off x="208722" y="228600"/>
            <a:ext cx="11767930" cy="6186309"/>
          </a:xfrm>
          <a:prstGeom prst="rect">
            <a:avLst/>
          </a:prstGeom>
          <a:noFill/>
        </p:spPr>
        <p:txBody>
          <a:bodyPr wrap="square" rtlCol="0">
            <a:spAutoFit/>
          </a:bodyPr>
          <a:lstStyle/>
          <a:p>
            <a:r>
              <a:rPr lang="en-IN" dirty="0"/>
              <a:t>========================================</a:t>
            </a:r>
          </a:p>
          <a:p>
            <a:endParaRPr lang="en-IN" dirty="0"/>
          </a:p>
          <a:p>
            <a:r>
              <a:rPr lang="en-IN" dirty="0"/>
              <a:t>Enter your choice: 6</a:t>
            </a:r>
          </a:p>
          <a:p>
            <a:endParaRPr lang="en-IN" dirty="0"/>
          </a:p>
          <a:p>
            <a:r>
              <a:rPr lang="en-IN" dirty="0"/>
              <a:t>========================================</a:t>
            </a:r>
          </a:p>
          <a:p>
            <a:r>
              <a:rPr lang="en-IN" dirty="0"/>
              <a:t>  DOWNLOAD STATISTICS</a:t>
            </a:r>
          </a:p>
          <a:p>
            <a:r>
              <a:rPr lang="en-IN" dirty="0"/>
              <a:t>========================================</a:t>
            </a:r>
          </a:p>
          <a:p>
            <a:endParaRPr lang="en-IN" dirty="0"/>
          </a:p>
          <a:p>
            <a:r>
              <a:rPr lang="en-IN" dirty="0"/>
              <a:t>Paper ID   Subject                   Downloads</a:t>
            </a:r>
          </a:p>
          <a:p>
            <a:r>
              <a:rPr lang="en-IN" dirty="0"/>
              <a:t>-------------------------------------------------------</a:t>
            </a:r>
          </a:p>
          <a:p>
            <a:r>
              <a:rPr lang="en-IN" dirty="0"/>
              <a:t>QP1002     PHYSICS                   0</a:t>
            </a:r>
          </a:p>
          <a:p>
            <a:endParaRPr lang="en-IN" dirty="0"/>
          </a:p>
          <a:p>
            <a:r>
              <a:rPr lang="en-IN" dirty="0"/>
              <a:t>========================================</a:t>
            </a:r>
          </a:p>
          <a:p>
            <a:r>
              <a:rPr lang="en-IN" dirty="0"/>
              <a:t>  ADMIN MENU (Logged in as: admin)</a:t>
            </a:r>
          </a:p>
          <a:p>
            <a:r>
              <a:rPr lang="en-IN" dirty="0"/>
              <a:t>========================================</a:t>
            </a:r>
          </a:p>
          <a:p>
            <a:r>
              <a:rPr lang="en-IN" dirty="0"/>
              <a:t>1. Upload Question Paper</a:t>
            </a:r>
          </a:p>
          <a:p>
            <a:r>
              <a:rPr lang="en-IN" dirty="0"/>
              <a:t>2. Delete Question Paper</a:t>
            </a:r>
          </a:p>
          <a:p>
            <a:r>
              <a:rPr lang="en-IN" dirty="0"/>
              <a:t>3. Update Question Paper</a:t>
            </a:r>
          </a:p>
          <a:p>
            <a:r>
              <a:rPr lang="en-IN" dirty="0"/>
              <a:t>4. View All Question Papers</a:t>
            </a:r>
          </a:p>
          <a:p>
            <a:r>
              <a:rPr lang="en-IN" dirty="0"/>
              <a:t>5. Manage Categories/Subjects</a:t>
            </a:r>
          </a:p>
          <a:p>
            <a:r>
              <a:rPr lang="en-IN" dirty="0"/>
              <a:t>6. View Download Statistics</a:t>
            </a:r>
          </a:p>
          <a:p>
            <a:r>
              <a:rPr lang="en-IN" dirty="0"/>
              <a:t>7. Logout</a:t>
            </a:r>
          </a:p>
        </p:txBody>
      </p:sp>
    </p:spTree>
    <p:extLst>
      <p:ext uri="{BB962C8B-B14F-4D97-AF65-F5344CB8AC3E}">
        <p14:creationId xmlns:p14="http://schemas.microsoft.com/office/powerpoint/2010/main" val="18077963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1082FF-95F4-57CC-AFE8-195B66135E1E}"/>
              </a:ext>
            </a:extLst>
          </p:cNvPr>
          <p:cNvSpPr txBox="1"/>
          <p:nvPr/>
        </p:nvSpPr>
        <p:spPr>
          <a:xfrm>
            <a:off x="197126" y="79512"/>
            <a:ext cx="11797748" cy="5078313"/>
          </a:xfrm>
          <a:prstGeom prst="rect">
            <a:avLst/>
          </a:prstGeom>
          <a:noFill/>
        </p:spPr>
        <p:txBody>
          <a:bodyPr wrap="square" rtlCol="0">
            <a:spAutoFit/>
          </a:bodyPr>
          <a:lstStyle/>
          <a:p>
            <a:r>
              <a:rPr lang="en-US" dirty="0"/>
              <a:t>========================================</a:t>
            </a:r>
          </a:p>
          <a:p>
            <a:endParaRPr lang="en-US" dirty="0"/>
          </a:p>
          <a:p>
            <a:r>
              <a:rPr lang="en-US" dirty="0"/>
              <a:t>Enter your choice: 7</a:t>
            </a:r>
          </a:p>
          <a:p>
            <a:endParaRPr lang="en-US" dirty="0"/>
          </a:p>
          <a:p>
            <a:r>
              <a:rPr lang="en-US" dirty="0"/>
              <a:t>Logging out...</a:t>
            </a:r>
          </a:p>
          <a:p>
            <a:endParaRPr lang="en-US" dirty="0"/>
          </a:p>
          <a:p>
            <a:r>
              <a:rPr lang="en-US" dirty="0"/>
              <a:t>========================================</a:t>
            </a:r>
          </a:p>
          <a:p>
            <a:r>
              <a:rPr lang="en-US" dirty="0"/>
              <a:t>  QUESTION PAPERS MANAGEMENT SYSTEM</a:t>
            </a:r>
          </a:p>
          <a:p>
            <a:r>
              <a:rPr lang="en-US" dirty="0"/>
              <a:t>========================================</a:t>
            </a:r>
          </a:p>
          <a:p>
            <a:r>
              <a:rPr lang="en-US" dirty="0"/>
              <a:t>1. Admin Login</a:t>
            </a:r>
          </a:p>
          <a:p>
            <a:r>
              <a:rPr lang="en-US" dirty="0"/>
              <a:t>2. Student Login</a:t>
            </a:r>
          </a:p>
          <a:p>
            <a:r>
              <a:rPr lang="en-US" dirty="0"/>
              <a:t>3. Register New Student</a:t>
            </a:r>
          </a:p>
          <a:p>
            <a:r>
              <a:rPr lang="en-US" dirty="0"/>
              <a:t>4. Exit</a:t>
            </a:r>
          </a:p>
          <a:p>
            <a:r>
              <a:rPr lang="en-US" dirty="0"/>
              <a:t>========================================</a:t>
            </a:r>
          </a:p>
          <a:p>
            <a:endParaRPr lang="en-US" dirty="0"/>
          </a:p>
          <a:p>
            <a:r>
              <a:rPr lang="en-US" dirty="0"/>
              <a:t>Enter your choice: 2</a:t>
            </a:r>
          </a:p>
          <a:p>
            <a:endParaRPr lang="en-US" dirty="0"/>
          </a:p>
          <a:p>
            <a:r>
              <a:rPr lang="en-US" dirty="0"/>
              <a:t>--- STUDENT LOGIN --</a:t>
            </a:r>
            <a:endParaRPr lang="en-IN" dirty="0"/>
          </a:p>
        </p:txBody>
      </p:sp>
    </p:spTree>
    <p:extLst>
      <p:ext uri="{BB962C8B-B14F-4D97-AF65-F5344CB8AC3E}">
        <p14:creationId xmlns:p14="http://schemas.microsoft.com/office/powerpoint/2010/main" val="1407373609"/>
      </p:ext>
    </p:extLst>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nvSpPr>
        <p:spPr>
          <a:xfrm flipH="1" rot="10800000">
            <a:off x="-245275" y="6857812"/>
            <a:ext cx="11961900" cy="492600"/>
          </a:xfrm>
          <a:prstGeom prst="rect">
            <a:avLst/>
          </a:prstGeom>
          <a:noFill/>
          <a:ln>
            <a:noFill/>
          </a:ln>
        </p:spPr>
        <p:txBody>
          <a:bodyPr anchorCtr="0" anchor="t" bIns="91425" lIns="91425" spcFirstLastPara="1" rIns="91425" wrap="square" tIns="91425">
            <a:sp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0" lvl="0" marL="0" rtl="0" algn="l">
              <a:spcBef>
                <a:spcPts val="0"/>
              </a:spcBef>
              <a:spcAft>
                <a:spcPts val="0"/>
              </a:spcAft>
              <a:buNone/>
            </a:pPr>
            <a:r>
              <a:t/>
            </a:r>
            <a:endParaRPr sz="2000">
              <a:solidFill>
                <a:srgbClr val="3F3F3F"/>
              </a:solidFill>
              <a:latin typeface="Calibri"/>
              <a:ea typeface="Calibri"/>
              <a:cs typeface="Calibri"/>
              <a:sym typeface="Calibri"/>
            </a:endParaRPr>
          </a:p>
        </p:txBody>
      </p:sp>
      <p:sp>
        <p:nvSpPr>
          <p:cNvPr id="141" name="Google Shape;141;p1"/>
          <p:cNvSpPr txBox="1"/>
          <p:nvPr/>
        </p:nvSpPr>
        <p:spPr>
          <a:xfrm>
            <a:off x="239175" y="168"/>
            <a:ext cx="11961900" cy="3570900"/>
          </a:xfrm>
          <a:prstGeom prst="rect">
            <a:avLst/>
          </a:prstGeom>
          <a:noFill/>
          <a:ln>
            <a:noFill/>
          </a:ln>
        </p:spPr>
        <p:txBody>
          <a:bodyPr anchorCtr="0" anchor="t" bIns="91425" lIns="91425" spcFirstLastPara="1" rIns="91425" wrap="square" tIns="91425">
            <a:spAutoFit/>
          </a:bodyPr>
          <a:ls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stStyle>
          <a:p>
            <a:pPr indent="0" lvl="0" marL="0" rtl="0" algn="l">
              <a:spcBef>
                <a:spcPts val="0"/>
              </a:spcBef>
              <a:spcAft>
                <a:spcPts val="0"/>
              </a:spcAft>
              <a:buNone/>
            </a:pPr>
            <a:r>
              <a:rPr lang="en-IN" sz="2000">
                <a:solidFill>
                  <a:srgbClr val="3F3F3F"/>
                </a:solidFill>
                <a:latin typeface="Calibri"/>
                <a:ea typeface="Calibri"/>
                <a:cs typeface="Calibri"/>
                <a:sym typeface="Calibri"/>
              </a:rPr>
              <a:t>Enter student roll number : 25A31A0125</a:t>
            </a:r>
            <a:endParaRPr sz="2000">
              <a:solidFill>
                <a:srgbClr val="3F3F3F"/>
              </a:solidFill>
              <a:latin typeface="Calibri"/>
              <a:ea typeface="Calibri"/>
              <a:cs typeface="Calibri"/>
              <a:sym typeface="Calibri"/>
            </a:endParaRPr>
          </a:p>
          <a:p>
            <a:pPr indent="0" lvl="0" marL="0" rtl="0" algn="l">
              <a:spcBef>
                <a:spcPts val="0"/>
              </a:spcBef>
              <a:spcAft>
                <a:spcPts val="0"/>
              </a:spcAft>
              <a:buNone/>
            </a:pPr>
            <a:r>
              <a:rPr lang="en-IN" sz="2000">
                <a:solidFill>
                  <a:srgbClr val="3F3F3F"/>
                </a:solidFill>
                <a:latin typeface="Calibri"/>
                <a:ea typeface="Calibri"/>
                <a:cs typeface="Calibri"/>
                <a:sym typeface="Calibri"/>
              </a:rPr>
              <a:t>Enter student password: js@@12js</a:t>
            </a:r>
            <a:endParaRPr sz="2000">
              <a:solidFill>
                <a:srgbClr val="3F3F3F"/>
              </a:solidFill>
              <a:latin typeface="Calibri"/>
              <a:ea typeface="Calibri"/>
              <a:cs typeface="Calibri"/>
              <a:sym typeface="Calibri"/>
            </a:endParaRPr>
          </a:p>
          <a:p>
            <a:pPr indent="0" lvl="0" marL="0" rtl="0" algn="l">
              <a:spcBef>
                <a:spcPts val="0"/>
              </a:spcBef>
              <a:spcAft>
                <a:spcPts val="0"/>
              </a:spcAft>
              <a:buNone/>
            </a:pPr>
            <a:r>
              <a:rPr lang="en-IN" sz="2000">
                <a:solidFill>
                  <a:srgbClr val="3F3F3F"/>
                </a:solidFill>
                <a:latin typeface="Calibri"/>
                <a:ea typeface="Calibri"/>
                <a:cs typeface="Calibri"/>
                <a:sym typeface="Calibri"/>
              </a:rPr>
              <a:t>STUDENT LOGIN SUCCESSFUL </a:t>
            </a:r>
            <a:endParaRPr sz="2000">
              <a:solidFill>
                <a:srgbClr val="3F3F3F"/>
              </a:solidFill>
              <a:latin typeface="Calibri"/>
              <a:ea typeface="Calibri"/>
              <a:cs typeface="Calibri"/>
              <a:sym typeface="Calibri"/>
            </a:endParaRPr>
          </a:p>
          <a:p>
            <a:pPr indent="0" lvl="0" marL="0" rtl="0" algn="l">
              <a:spcBef>
                <a:spcPts val="0"/>
              </a:spcBef>
              <a:spcAft>
                <a:spcPts val="0"/>
              </a:spcAft>
              <a:buNone/>
            </a:pPr>
            <a:r>
              <a:rPr lang="en-IN" sz="2000">
                <a:solidFill>
                  <a:srgbClr val="3F3F3F"/>
                </a:solidFill>
                <a:latin typeface="Calibri"/>
                <a:ea typeface="Calibri"/>
                <a:cs typeface="Calibri"/>
                <a:sym typeface="Calibri"/>
              </a:rPr>
              <a:t>=====================================</a:t>
            </a:r>
            <a:endParaRPr sz="2000">
              <a:solidFill>
                <a:srgbClr val="3F3F3F"/>
              </a:solidFill>
              <a:latin typeface="Calibri"/>
              <a:ea typeface="Calibri"/>
              <a:cs typeface="Calibri"/>
              <a:sym typeface="Calibri"/>
            </a:endParaRPr>
          </a:p>
          <a:p>
            <a:pPr indent="0" lvl="0" marL="0" rtl="0" algn="l">
              <a:spcBef>
                <a:spcPts val="0"/>
              </a:spcBef>
              <a:spcAft>
                <a:spcPts val="0"/>
              </a:spcAft>
              <a:buNone/>
            </a:pPr>
            <a:r>
              <a:rPr lang="en-IN" sz="2000">
                <a:solidFill>
                  <a:srgbClr val="3F3F3F"/>
                </a:solidFill>
                <a:latin typeface="Calibri"/>
                <a:ea typeface="Calibri"/>
                <a:cs typeface="Calibri"/>
                <a:sym typeface="Calibri"/>
              </a:rPr>
              <a:t>QUESTION PAPERS MANAGEMENT SYSTEM </a:t>
            </a:r>
            <a:endParaRPr sz="2000">
              <a:solidFill>
                <a:srgbClr val="3F3F3F"/>
              </a:solidFill>
              <a:latin typeface="Calibri"/>
              <a:ea typeface="Calibri"/>
              <a:cs typeface="Calibri"/>
              <a:sym typeface="Calibri"/>
            </a:endParaRPr>
          </a:p>
          <a:p>
            <a:pPr indent="0" lvl="0" marL="0" rtl="0" algn="l">
              <a:spcBef>
                <a:spcPts val="0"/>
              </a:spcBef>
              <a:spcAft>
                <a:spcPts val="0"/>
              </a:spcAft>
              <a:buNone/>
            </a:pPr>
            <a:r>
              <a:rPr lang="en-IN" sz="2000">
                <a:solidFill>
                  <a:srgbClr val="3F3F3F"/>
                </a:solidFill>
                <a:latin typeface="Calibri"/>
                <a:ea typeface="Calibri"/>
                <a:cs typeface="Calibri"/>
                <a:sym typeface="Calibri"/>
              </a:rPr>
              <a:t>=====================================</a:t>
            </a:r>
            <a:endParaRPr sz="2000">
              <a:solidFill>
                <a:srgbClr val="3F3F3F"/>
              </a:solidFill>
              <a:latin typeface="Calibri"/>
              <a:ea typeface="Calibri"/>
              <a:cs typeface="Calibri"/>
              <a:sym typeface="Calibri"/>
            </a:endParaRPr>
          </a:p>
          <a:p>
            <a:pPr indent="-355600" lvl="0" marL="457200" rtl="0" algn="l">
              <a:spcBef>
                <a:spcPts val="0"/>
              </a:spcBef>
              <a:spcAft>
                <a:spcPts val="0"/>
              </a:spcAft>
              <a:buClr>
                <a:srgbClr val="3F3F3F"/>
              </a:buClr>
              <a:buSzPts val="2000"/>
              <a:buFont typeface="Calibri"/>
              <a:buAutoNum type="arabicPeriod"/>
            </a:pPr>
            <a:r>
              <a:rPr lang="en-IN" sz="2000">
                <a:solidFill>
                  <a:srgbClr val="3F3F3F"/>
                </a:solidFill>
                <a:latin typeface="Calibri"/>
                <a:ea typeface="Calibri"/>
                <a:cs typeface="Calibri"/>
                <a:sym typeface="Calibri"/>
              </a:rPr>
              <a:t>Admin login</a:t>
            </a:r>
            <a:endParaRPr sz="2000">
              <a:solidFill>
                <a:srgbClr val="3F3F3F"/>
              </a:solidFill>
              <a:latin typeface="Calibri"/>
              <a:ea typeface="Calibri"/>
              <a:cs typeface="Calibri"/>
              <a:sym typeface="Calibri"/>
            </a:endParaRPr>
          </a:p>
          <a:p>
            <a:pPr indent="-355600" lvl="0" marL="457200" rtl="0" algn="l">
              <a:spcBef>
                <a:spcPts val="0"/>
              </a:spcBef>
              <a:spcAft>
                <a:spcPts val="0"/>
              </a:spcAft>
              <a:buClr>
                <a:srgbClr val="3F3F3F"/>
              </a:buClr>
              <a:buSzPts val="2000"/>
              <a:buFont typeface="Calibri"/>
              <a:buAutoNum type="arabicPeriod"/>
            </a:pPr>
            <a:r>
              <a:rPr lang="en-IN" sz="2000">
                <a:solidFill>
                  <a:srgbClr val="3F3F3F"/>
                </a:solidFill>
                <a:latin typeface="Calibri"/>
                <a:ea typeface="Calibri"/>
                <a:cs typeface="Calibri"/>
                <a:sym typeface="Calibri"/>
              </a:rPr>
              <a:t>Student login</a:t>
            </a:r>
            <a:endParaRPr sz="2000">
              <a:solidFill>
                <a:srgbClr val="3F3F3F"/>
              </a:solidFill>
              <a:latin typeface="Calibri"/>
              <a:ea typeface="Calibri"/>
              <a:cs typeface="Calibri"/>
              <a:sym typeface="Calibri"/>
            </a:endParaRPr>
          </a:p>
          <a:p>
            <a:pPr indent="-355600" lvl="0" marL="457200" rtl="0" algn="l">
              <a:spcBef>
                <a:spcPts val="0"/>
              </a:spcBef>
              <a:spcAft>
                <a:spcPts val="0"/>
              </a:spcAft>
              <a:buClr>
                <a:srgbClr val="3F3F3F"/>
              </a:buClr>
              <a:buSzPts val="2000"/>
              <a:buFont typeface="Calibri"/>
              <a:buAutoNum type="arabicPeriod"/>
            </a:pPr>
            <a:r>
              <a:rPr lang="en-IN" sz="2000">
                <a:solidFill>
                  <a:srgbClr val="3F3F3F"/>
                </a:solidFill>
                <a:latin typeface="Calibri"/>
                <a:ea typeface="Calibri"/>
                <a:cs typeface="Calibri"/>
                <a:sym typeface="Calibri"/>
              </a:rPr>
              <a:t>Register New student </a:t>
            </a:r>
            <a:endParaRPr sz="2000">
              <a:solidFill>
                <a:srgbClr val="3F3F3F"/>
              </a:solidFill>
              <a:latin typeface="Calibri"/>
              <a:ea typeface="Calibri"/>
              <a:cs typeface="Calibri"/>
              <a:sym typeface="Calibri"/>
            </a:endParaRPr>
          </a:p>
          <a:p>
            <a:pPr indent="-355600" lvl="0" marL="457200" rtl="0" algn="l">
              <a:spcBef>
                <a:spcPts val="0"/>
              </a:spcBef>
              <a:spcAft>
                <a:spcPts val="0"/>
              </a:spcAft>
              <a:buClr>
                <a:srgbClr val="3F3F3F"/>
              </a:buClr>
              <a:buSzPts val="2000"/>
              <a:buFont typeface="Calibri"/>
              <a:buAutoNum type="arabicPeriod"/>
            </a:pPr>
            <a:r>
              <a:rPr lang="en-IN" sz="2000">
                <a:solidFill>
                  <a:srgbClr val="3F3F3F"/>
                </a:solidFill>
                <a:latin typeface="Calibri"/>
                <a:ea typeface="Calibri"/>
                <a:cs typeface="Calibri"/>
                <a:sym typeface="Calibri"/>
              </a:rPr>
              <a:t>Exit</a:t>
            </a:r>
            <a:endParaRPr sz="2000">
              <a:solidFill>
                <a:srgbClr val="3F3F3F"/>
              </a:solidFill>
              <a:latin typeface="Calibri"/>
              <a:ea typeface="Calibri"/>
              <a:cs typeface="Calibri"/>
              <a:sym typeface="Calibri"/>
            </a:endParaRPr>
          </a:p>
          <a:p>
            <a:pPr indent="0" lvl="0" marL="0" rtl="0" algn="l">
              <a:spcBef>
                <a:spcPts val="0"/>
              </a:spcBef>
              <a:spcAft>
                <a:spcPts val="0"/>
              </a:spcAft>
              <a:buNone/>
            </a:pPr>
            <a:r>
              <a:rPr lang="en-IN" sz="2000">
                <a:solidFill>
                  <a:srgbClr val="3F3F3F"/>
                </a:solidFill>
                <a:latin typeface="Calibri"/>
                <a:ea typeface="Calibri"/>
                <a:cs typeface="Calibri"/>
                <a:sym typeface="Calibri"/>
              </a:rPr>
              <a:t>=====================================</a:t>
            </a:r>
            <a:endParaRPr sz="2000">
              <a:solidFill>
                <a:srgbClr val="3F3F3F"/>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DEDA06-2BFF-E6D3-7E63-268B36315F01}"/>
              </a:ext>
            </a:extLst>
          </p:cNvPr>
          <p:cNvSpPr txBox="1"/>
          <p:nvPr/>
        </p:nvSpPr>
        <p:spPr>
          <a:xfrm>
            <a:off x="149087" y="178905"/>
            <a:ext cx="11748052" cy="6186309"/>
          </a:xfrm>
          <a:prstGeom prst="rect">
            <a:avLst/>
          </a:prstGeom>
          <a:noFill/>
        </p:spPr>
        <p:txBody>
          <a:bodyPr wrap="square" lIns="91440" tIns="45720" rIns="91440" bIns="45720" rtlCol="0" anchor="t">
            <a:spAutoFit/>
          </a:bodyPr>
          <a:lstStyle/>
          <a:p>
            <a:r>
              <a:rPr lang="en-IN" dirty="0"/>
              <a:t>Enter your choice: 3</a:t>
            </a:r>
          </a:p>
          <a:p>
            <a:endParaRPr lang="en-IN" dirty="0"/>
          </a:p>
          <a:p>
            <a:r>
              <a:rPr lang="en-IN" dirty="0"/>
              <a:t>--- REGISTER NEW STUDENT ---</a:t>
            </a:r>
          </a:p>
          <a:p>
            <a:r>
              <a:rPr lang="en-IN" dirty="0"/>
              <a:t>Enter Name: </a:t>
            </a:r>
            <a:r>
              <a:rPr lang="en-IN"/>
              <a:t>jaya sri</a:t>
            </a:r>
            <a:endParaRPr lang="en-IN">
              <a:ea typeface="Calibri"/>
              <a:cs typeface="Calibri"/>
            </a:endParaRPr>
          </a:p>
          <a:p>
            <a:r>
              <a:rPr lang="en-IN" dirty="0"/>
              <a:t>Enter Roll Number: </a:t>
            </a:r>
            <a:r>
              <a:rPr lang="en-IN" dirty="0" err="1"/>
              <a:t>newstudent.rollnumber</a:t>
            </a:r>
            <a:endParaRPr lang="en-IN" dirty="0"/>
          </a:p>
          <a:p>
            <a:r>
              <a:rPr lang="en-IN" dirty="0"/>
              <a:t>Enter Department: Enter Semester: civil 1</a:t>
            </a:r>
          </a:p>
          <a:p>
            <a:r>
              <a:rPr lang="en-IN" dirty="0"/>
              <a:t>Enter Email: jayasri2259@gmail.com</a:t>
            </a:r>
          </a:p>
          <a:p>
            <a:r>
              <a:rPr lang="en-IN" dirty="0"/>
              <a:t>Enter Password: js12@@</a:t>
            </a:r>
            <a:r>
              <a:rPr lang="en-IN" dirty="0" err="1"/>
              <a:t>js</a:t>
            </a:r>
            <a:endParaRPr lang="en-IN" dirty="0"/>
          </a:p>
          <a:p>
            <a:endParaRPr lang="en-IN" dirty="0"/>
          </a:p>
          <a:p>
            <a:r>
              <a:rPr lang="en-IN" dirty="0"/>
              <a:t>? Registration Successful!</a:t>
            </a:r>
          </a:p>
          <a:p>
            <a:r>
              <a:rPr lang="en-IN" dirty="0"/>
              <a:t>You can now login with your roll number and password.</a:t>
            </a:r>
          </a:p>
          <a:p>
            <a:endParaRPr lang="en-IN" dirty="0"/>
          </a:p>
          <a:p>
            <a:r>
              <a:rPr lang="en-IN" dirty="0"/>
              <a:t>========================================</a:t>
            </a:r>
          </a:p>
          <a:p>
            <a:r>
              <a:rPr lang="en-IN" dirty="0"/>
              <a:t>  QUESTION PAPERS MANAGEMENT SYSTEM</a:t>
            </a:r>
          </a:p>
          <a:p>
            <a:r>
              <a:rPr lang="en-IN" dirty="0"/>
              <a:t>========================================</a:t>
            </a:r>
          </a:p>
          <a:p>
            <a:r>
              <a:rPr lang="en-IN" dirty="0"/>
              <a:t>1. Admin Login</a:t>
            </a:r>
          </a:p>
          <a:p>
            <a:r>
              <a:rPr lang="en-IN" dirty="0"/>
              <a:t>2. Student Login</a:t>
            </a:r>
          </a:p>
          <a:p>
            <a:r>
              <a:rPr lang="en-IN" dirty="0"/>
              <a:t>3. Register New Student</a:t>
            </a:r>
          </a:p>
          <a:p>
            <a:r>
              <a:rPr lang="en-IN" dirty="0"/>
              <a:t>4. Exit</a:t>
            </a:r>
          </a:p>
          <a:p>
            <a:r>
              <a:rPr lang="en-IN" dirty="0"/>
              <a:t>========================================</a:t>
            </a:r>
          </a:p>
          <a:p>
            <a:endParaRPr lang="en-IN" dirty="0"/>
          </a:p>
          <a:p>
            <a:r>
              <a:rPr lang="en-IN" dirty="0"/>
              <a:t>Enter your choice:</a:t>
            </a:r>
          </a:p>
        </p:txBody>
      </p:sp>
    </p:spTree>
    <p:extLst>
      <p:ext uri="{BB962C8B-B14F-4D97-AF65-F5344CB8AC3E}">
        <p14:creationId xmlns:p14="http://schemas.microsoft.com/office/powerpoint/2010/main" val="21433177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88E3B3-CFA7-B796-B569-6D09D7997C0B}"/>
              </a:ext>
            </a:extLst>
          </p:cNvPr>
          <p:cNvSpPr txBox="1"/>
          <p:nvPr/>
        </p:nvSpPr>
        <p:spPr>
          <a:xfrm>
            <a:off x="139148" y="268357"/>
            <a:ext cx="11748052" cy="2031325"/>
          </a:xfrm>
          <a:prstGeom prst="rect">
            <a:avLst/>
          </a:prstGeom>
          <a:noFill/>
        </p:spPr>
        <p:txBody>
          <a:bodyPr wrap="square" rtlCol="0">
            <a:spAutoFit/>
          </a:bodyPr>
          <a:lstStyle/>
          <a:p>
            <a:r>
              <a:rPr lang="en-US" dirty="0"/>
              <a:t>Enter your choice: 4</a:t>
            </a:r>
          </a:p>
          <a:p>
            <a:endParaRPr lang="en-US" dirty="0"/>
          </a:p>
          <a:p>
            <a:r>
              <a:rPr lang="en-US" dirty="0"/>
              <a:t>Thank you for using Question Papers Management System!</a:t>
            </a:r>
          </a:p>
          <a:p>
            <a:endParaRPr lang="en-US" dirty="0"/>
          </a:p>
          <a:p>
            <a:r>
              <a:rPr lang="en-US" dirty="0"/>
              <a:t>--------------------------------</a:t>
            </a:r>
          </a:p>
          <a:p>
            <a:r>
              <a:rPr lang="en-US" dirty="0"/>
              <a:t>Process exited after 2708 seconds with return value 0</a:t>
            </a:r>
          </a:p>
          <a:p>
            <a:r>
              <a:rPr lang="en-US" dirty="0"/>
              <a:t>Press any key to continue . . .</a:t>
            </a:r>
            <a:endParaRPr lang="en-IN" dirty="0"/>
          </a:p>
        </p:txBody>
      </p:sp>
    </p:spTree>
    <p:extLst>
      <p:ext uri="{BB962C8B-B14F-4D97-AF65-F5344CB8AC3E}">
        <p14:creationId xmlns:p14="http://schemas.microsoft.com/office/powerpoint/2010/main" val="32845435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E203A-ED13-2F0E-573C-03B6EE30B3C0}"/>
              </a:ext>
            </a:extLst>
          </p:cNvPr>
          <p:cNvSpPr>
            <a:spLocks noGrp="1"/>
          </p:cNvSpPr>
          <p:nvPr>
            <p:ph type="title"/>
          </p:nvPr>
        </p:nvSpPr>
        <p:spPr/>
        <p:txBody>
          <a:bodyPr/>
          <a:lstStyle/>
          <a:p>
            <a:r>
              <a:rPr lang="en-IN" dirty="0">
                <a:latin typeface="Algerian" panose="04020705040A02060702" pitchFamily="82" charset="0"/>
              </a:rPr>
              <a:t>CONCLUSION</a:t>
            </a:r>
            <a:r>
              <a:rPr lang="en-IN" dirty="0"/>
              <a:t> :</a:t>
            </a:r>
          </a:p>
        </p:txBody>
      </p:sp>
      <p:sp>
        <p:nvSpPr>
          <p:cNvPr id="3" name="Content Placeholder 2">
            <a:extLst>
              <a:ext uri="{FF2B5EF4-FFF2-40B4-BE49-F238E27FC236}">
                <a16:creationId xmlns:a16="http://schemas.microsoft.com/office/drawing/2014/main" id="{C9959941-A165-EA24-CA46-D018D3B9981A}"/>
              </a:ext>
            </a:extLst>
          </p:cNvPr>
          <p:cNvSpPr>
            <a:spLocks noGrp="1"/>
          </p:cNvSpPr>
          <p:nvPr>
            <p:ph idx="1"/>
          </p:nvPr>
        </p:nvSpPr>
        <p:spPr/>
        <p:txBody>
          <a:bodyPr/>
          <a:lstStyle/>
          <a:p>
            <a:r>
              <a:rPr lang="en-IN" dirty="0"/>
              <a:t>                        </a:t>
            </a:r>
            <a:r>
              <a:rPr lang="en-US" dirty="0"/>
              <a:t>The Previous Year Question Papers Management System successfully provides a simple, fast, and efficient way to store, manage, and retrieve question papers using basic C programming concepts. By integrating modules such as data input, file reading, storage, and searching, the system ensures that users can easily upload question papers and access them whenever required . This project demonstrates the practical use of arrays, strings, functions, file handling, and menu-driven programming. It reduces manual effort, eliminates the risk of misplaced papers, and saves time by providing quick search results based on date, subject, and exam type.</a:t>
            </a:r>
          </a:p>
          <a:p>
            <a:r>
              <a:rPr lang="en-US" dirty="0"/>
              <a:t>                 Overall, the system achieves its goal of creating an organized digital repository for previous year question papers and can be further improved by adding features like editing, deleting, or storing data in external databases.</a:t>
            </a:r>
            <a:endParaRPr lang="en-IN" dirty="0"/>
          </a:p>
        </p:txBody>
      </p:sp>
    </p:spTree>
    <p:extLst>
      <p:ext uri="{BB962C8B-B14F-4D97-AF65-F5344CB8AC3E}">
        <p14:creationId xmlns:p14="http://schemas.microsoft.com/office/powerpoint/2010/main" val="24218430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3CC440-5AC9-452D-D758-2EF1016E1791}"/>
              </a:ext>
            </a:extLst>
          </p:cNvPr>
          <p:cNvSpPr txBox="1"/>
          <p:nvPr/>
        </p:nvSpPr>
        <p:spPr>
          <a:xfrm>
            <a:off x="0" y="2246244"/>
            <a:ext cx="11449879" cy="1015663"/>
          </a:xfrm>
          <a:prstGeom prst="rect">
            <a:avLst/>
          </a:prstGeom>
          <a:noFill/>
        </p:spPr>
        <p:txBody>
          <a:bodyPr wrap="square" rtlCol="0">
            <a:spAutoFit/>
          </a:bodyPr>
          <a:lstStyle/>
          <a:p>
            <a:pPr algn="ctr"/>
            <a:r>
              <a:rPr lang="en-IN" sz="6000" dirty="0">
                <a:latin typeface="Bodoni MT" panose="02070603080606020203" pitchFamily="18" charset="0"/>
              </a:rPr>
              <a:t>THANK YOU</a:t>
            </a:r>
          </a:p>
        </p:txBody>
      </p:sp>
    </p:spTree>
    <p:extLst>
      <p:ext uri="{BB962C8B-B14F-4D97-AF65-F5344CB8AC3E}">
        <p14:creationId xmlns:p14="http://schemas.microsoft.com/office/powerpoint/2010/main" val="11411097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